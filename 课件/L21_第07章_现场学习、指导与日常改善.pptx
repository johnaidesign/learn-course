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ce3d9e0aff413a" /><Relationship Type="http://schemas.openxmlformats.org/officeDocument/2006/relationships/extended-properties" Target="/docProps/app.xml" Id="Rc6e9570b48754b87" /><Relationship Type="http://schemas.openxmlformats.org/officeDocument/2006/relationships/officeDocument" Target="/ppt/presentation.xml" Id="R9b19bc837f3f4e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69e2c16fb044fd"/>
  </p:sldMasterIdLst>
  <p:notesMasterIdLst>
    <p:notesMasterId xmlns:r="http://schemas.openxmlformats.org/officeDocument/2006/relationships" r:id="R397b3052f04847cd"/>
  </p:notesMasterIdLst>
  <p:sldIdLst>
    <p:sldId xmlns:r="http://schemas.openxmlformats.org/officeDocument/2006/relationships" id="256" r:id="Ra8d500f2c9b24cf6"/>
    <p:sldId xmlns:r="http://schemas.openxmlformats.org/officeDocument/2006/relationships" id="257" r:id="Rec34fc4ecb504461"/>
    <p:sldId xmlns:r="http://schemas.openxmlformats.org/officeDocument/2006/relationships" id="258" r:id="R9666abdfa60241af"/>
    <p:sldId xmlns:r="http://schemas.openxmlformats.org/officeDocument/2006/relationships" id="259" r:id="Rfb1d41b72c064079"/>
    <p:sldId xmlns:r="http://schemas.openxmlformats.org/officeDocument/2006/relationships" id="260" r:id="R8e3a37dfc22a42ab"/>
    <p:sldId xmlns:r="http://schemas.openxmlformats.org/officeDocument/2006/relationships" id="261" r:id="R39c14c1d3391482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6a180c6fa34fad" /><Relationship Type="http://schemas.openxmlformats.org/officeDocument/2006/relationships/slideMaster" Target="/ppt/slideMasters/slideMaster1.xml" Id="Ra969e2c16fb044fd" /><Relationship Type="http://schemas.openxmlformats.org/officeDocument/2006/relationships/notesMaster" Target="/ppt/notesMasters/notesMaster1.xml" Id="R397b3052f04847cd" /><Relationship Type="http://schemas.openxmlformats.org/officeDocument/2006/relationships/presProps" Target="/ppt/presProps.xml" Id="Rac3785e3fe264fb4" /><Relationship Type="http://schemas.openxmlformats.org/officeDocument/2006/relationships/tableStyles" Target="/ppt/tableStyles.xml" Id="R982c5986118d4b29" /><Relationship Type="http://schemas.openxmlformats.org/officeDocument/2006/relationships/slide" Target="/ppt/slides/slide1.xml" Id="Ra8d500f2c9b24cf6" /><Relationship Type="http://schemas.openxmlformats.org/officeDocument/2006/relationships/slide" Target="/ppt/slides/slide2.xml" Id="Rec34fc4ecb504461" /><Relationship Type="http://schemas.openxmlformats.org/officeDocument/2006/relationships/slide" Target="/ppt/slides/slide3.xml" Id="R9666abdfa60241af" /><Relationship Type="http://schemas.openxmlformats.org/officeDocument/2006/relationships/slide" Target="/ppt/slides/slide4.xml" Id="Rfb1d41b72c064079" /><Relationship Type="http://schemas.openxmlformats.org/officeDocument/2006/relationships/slide" Target="/ppt/slides/slide5.xml" Id="R8e3a37dfc22a42ab" /><Relationship Type="http://schemas.openxmlformats.org/officeDocument/2006/relationships/slide" Target="/ppt/slides/slide6.xml" Id="R39c14c1d339148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00254ea0bd4f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b6d71c1b0d4da0" /><Relationship Type="http://schemas.openxmlformats.org/officeDocument/2006/relationships/notesMaster" Target="/ppt/notesMasters/notesMaster1.xml" Id="Rd20345a6ba3041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6483d7b3c54b31" /><Relationship Type="http://schemas.openxmlformats.org/officeDocument/2006/relationships/notesMaster" Target="/ppt/notesMasters/notesMaster1.xml" Id="R9783317174684a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fe8fcf2e834919" /><Relationship Type="http://schemas.openxmlformats.org/officeDocument/2006/relationships/notesMaster" Target="/ppt/notesMasters/notesMaster1.xml" Id="Redd60c00bd5840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ded39000704093" /><Relationship Type="http://schemas.openxmlformats.org/officeDocument/2006/relationships/notesMaster" Target="/ppt/notesMasters/notesMaster1.xml" Id="Re9f16383d4cb4b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3a7201d60a47bf" /><Relationship Type="http://schemas.openxmlformats.org/officeDocument/2006/relationships/notesMaster" Target="/ppt/notesMasters/notesMaster1.xml" Id="R19f678f89cab44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97826fba6e4a8e" /><Relationship Type="http://schemas.openxmlformats.org/officeDocument/2006/relationships/notesMaster" Target="/ppt/notesMasters/notesMaster1.xml" Id="R1d22cbd89d544b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。现场观察帮助理解真实问题。上一讲已经练习描述问题，这一讲进一步了解它实际怎样发生。原书用现地现物说明，到真实工作地点观察真实事物，避免只根据远离现场的报告和会议作判断。练习时可以看一次完整交接，听参与者说明，并把看到的事实与自己的猜测分开记录。这是本课的简化观察方法。现场也可以是实际处理资料的位置，不要求为了形式安排一次与问题无关的参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10_书籍/企业精益转型的领导之道/01_章节/CH07-S08 走、看、听和学习（现地现物）.md#^llet-ch07-s08-p001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。指导的结果体现在人的成长。作者描述丰田把人才培养放在重要位置，重视指导能力，并以团队成员的成长和发展说明指导的结果。由此理解，指导不是只替别人给答案，也需要让参与者获得实践经验。课程练习可以安排一次共同观察，请对方解释发现的问题，再商量下一步需要核对什么。这个练习形式由整理者设计。学习之后要回看对方能否更清楚地观察和说明问题，而不只是统计参加了几次培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10_书籍/企业精益转型的领导之道/01_章节/CH07-S10 做一个指导者和榜样.md#^llet-ch07-s10-p001</a:t>
            </a:r>
          </a:p>
          <a:p xmlns:a="http://schemas.openxmlformats.org/drawingml/2006/main">
            <a:r>
              <a:t>10_书籍/企业精益转型的领导之道/01_章节/CH07-S10 做一个指导者和榜样.md#^llet-ch07-s10-p002</a:t>
            </a:r>
          </a:p>
          <a:p xmlns:a="http://schemas.openxmlformats.org/drawingml/2006/main">
            <a:r>
              <a:t>10_书籍/企业精益转型的领导之道/01_章节/CH07-S12 为团队提供个人经验的指导.md#^llet-ch07-s12-p001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。原书案例：ThedaCare扩大参与。原书叙述，ThedaCare在持续开展改善活动后，已有一些干部获得解决问题的能力，但还需要让更多人参与。其安排包括一天的教育方案、突出问题的可视化管理板、各领域的5S，以及根据看板问题建立制度化的每日改进过程。这个案例的重点是多项安排共同支持参与，不能只摘出一天培训就认为足够。书中的时长和做法是历史案例，本讲不将其规定为所有团队的统一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10_书籍/企业精益转型的领导之道/01_章节/CH07-S13 每日改进.md#^llet-ch07-s13-p003</a:t>
            </a:r>
          </a:p>
          <a:p xmlns:a="http://schemas.openxmlformats.org/drawingml/2006/main">
            <a:r>
              <a:t>10_书籍/企业精益转型的领导之道/01_章节/CH07-S13 每日改进.md#^llet-ch07-s13-p005-list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。每日改进需要能力和持续支持。作者特别提醒，每日改进不是实现精益效果的捷径，不能只做一点培训，再要求大家自己完成。他强调先积累基本学习和实践经验，再逐步扩大参与。课程据此提醒，问题看板需要与处理、指导和回看结合起来。对初学者，可以先选择一个适合自己职责的问题，在有支持的条件下学习处理。书中提及的推广年数是作者经验，本课不把它当作必须等待的期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10_书籍/企业精益转型的领导之道/01_章节/CH07-S13 每日改进.md#^llet-ch07-s13-p001</a:t>
            </a:r>
          </a:p>
          <a:p xmlns:a="http://schemas.openxmlformats.org/drawingml/2006/main">
            <a:r>
              <a:t>10_书籍/企业精益转型的领导之道/01_章节/CH07-S13 每日改进.md#^llet-ch07-s13-p002</a:t>
            </a:r>
          </a:p>
          <a:p xmlns:a="http://schemas.openxmlformats.org/drawingml/2006/main">
            <a:r>
              <a:t>10_书籍/企业精益转型的领导之道/01_章节/CH07-S13 每日改进.md#^llet-ch07-s13-p005-list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。工作练习：共同观察与指导。请暂停音频，继续填写学习单。与一位实际参与者共同观察前面的问题，分别写出事实和疑问。再商量下一步由谁核对什么，需要谁指导，以及何时回看。回看时除了询问问题是否改善，也问自己和同事现在能解释什么、还缺什么经验。这是整理者设计的练习，不替代完整问题解决方法。涉及跨岗位改变时，先按组织职责讨论安排，再实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10_书籍/企业精益转型的领导之道/01_章节/CH07-S08 走、看、听和学习（现地现物）.md#^llet-ch07-s08-p001</a:t>
            </a:r>
          </a:p>
          <a:p xmlns:a="http://schemas.openxmlformats.org/drawingml/2006/main">
            <a:r>
              <a:t>10_书籍/企业精益转型的领导之道/01_章节/CH07-S10 做一个指导者和榜样.md#^llet-ch07-s10-p002</a:t>
            </a:r>
          </a:p>
          <a:p xmlns:a="http://schemas.openxmlformats.org/drawingml/2006/main">
            <a:r>
              <a:t>10_书籍/企业精益转型的领导之道/01_章节/CH07-S12 为团队提供个人经验的指导.md#^llet-ch07-s12-p001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。小结：现场学习与日常改进相连。本讲的三个要点是，到实际工作中了解问题，提供学习与指导支持，用持续回看来推动日常改进。自测一下，已经挂出问题看板，是否就证明每日改进建立了？还要看问题有没有被处理，参与者有没有学会方法，后续结果如何。请安排一次共同观察，并记录下一步。最后一讲将把这些具体行为连接到长期的人员培养和组织习惯，完成领导与文化单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10_书籍/企业精益转型的领导之道/01_章节/CH07-S08 走、看、听和学习（现地现物）.md#^llet-ch07-s08-p001</a:t>
            </a:r>
          </a:p>
          <a:p xmlns:a="http://schemas.openxmlformats.org/drawingml/2006/main">
            <a:r>
              <a:t>10_书籍/企业精益转型的领导之道/01_章节/CH07-S10 做一个指导者和榜样.md#^llet-ch07-s10-p002</a:t>
            </a:r>
          </a:p>
          <a:p xmlns:a="http://schemas.openxmlformats.org/drawingml/2006/main">
            <a:r>
              <a:t>10_书籍/企业精益转型的领导之道/01_章节/CH07-S13 每日改进.md#^llet-ch07-s13-p005-list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2530ed2b804a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14b030ee2243dc" /><Relationship Type="http://schemas.openxmlformats.org/officeDocument/2006/relationships/slideLayout" Target="/ppt/slideLayouts/slideLayout1.xml" Id="Rda5f380d269443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5f380d269443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3f9ea82224689" /><Relationship Type="http://schemas.openxmlformats.org/officeDocument/2006/relationships/notesSlide" Target="/ppt/notesSlides/notesSlide1.xml" Id="R2841f0deef334b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9cf0e68e14c7f" /><Relationship Type="http://schemas.openxmlformats.org/officeDocument/2006/relationships/notesSlide" Target="/ppt/notesSlides/notesSlide2.xml" Id="Rf18420888a4147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9e3462c47484b" /><Relationship Type="http://schemas.openxmlformats.org/officeDocument/2006/relationships/notesSlide" Target="/ppt/notesSlides/notesSlide3.xml" Id="R4dec93e201b74c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04d9eeffb4596" /><Relationship Type="http://schemas.openxmlformats.org/officeDocument/2006/relationships/notesSlide" Target="/ppt/notesSlides/notesSlide4.xml" Id="R5ca163ef3c604e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fd4f235c143d6" /><Relationship Type="http://schemas.openxmlformats.org/officeDocument/2006/relationships/notesSlide" Target="/ppt/notesSlides/notesSlide5.xml" Id="R7643b8290f0d4b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6e1c77e344b79" /><Relationship Type="http://schemas.openxmlformats.org/officeDocument/2006/relationships/notesSlide" Target="/ppt/notesSlides/notesSlide6.xml" Id="R7150defe678642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D2CD4-DF3D-437B-9AEC-4DBBAE90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现场观察帮助理解真实问题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A316B-52B7-4BBB-B62E-BC717680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到实际工作地点看过程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F09C6-4D4D-4541-A319-10465215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听取参与者的说明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013459-3FCD-4F8F-9951-895ECA32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把观察与假设分开记录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EDE27-557F-456B-A916-37BBAB31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L21    1/6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16516064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7FEAA-7303-45B6-8A00-E037B699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指导的结果体现在人的成长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075A2-6CB4-4CFA-89F9-0F3FAA55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培养人才是管理者的重要工作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7BC83-E970-43C8-BE19-C13A304E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指导需要实践机会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6719A-201D-4334-AA7C-613434E7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关注成员学会了什么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4AC51-0CA0-4DC4-B20A-19417354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L21    2/6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1073109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3AAB9-902C-4E91-97C7-53AA3F63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原书案例：ThedaCare扩大参与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56F98-96C0-49FF-BF4A-AE6012E5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已有部分人员积累了改善经验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99E52-CA98-4C3C-B948-AF6FEA89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仍需让更多人参与日常问题解决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734B24-94B7-4B81-97A9-33E6EEF3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培训、看板、5S与制度化过程配合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7CE94-852F-447D-8E50-CDAF2850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L21    3/6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6404171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566A8-DD83-43B5-B9A8-84B33FF1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每日改进需要能力和持续支持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FA1A9C-ED4E-4ED0-8F5C-1F81A501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围绕日常工作问题追查原因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1B8C0-111E-4DA5-BCC8-ECB814FD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让问题可见，并安排处理与回看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94482-2B21-4105-B950-0551363A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不能只讲解一次就期待人人会做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BD30B-521F-4223-B209-5DE2389C3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L21    4/6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7260388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0F9A3-B798-472A-8D11-9992A99F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工作练习：共同观察与指导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FFB12-6C64-4EB9-A86D-CFA9AE23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与一位参与者观察实际过程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071D7-C2F7-484C-9F21-95514AD6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写下事实、疑问和需要的支持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A39FD-648B-4EF6-8ED5-73CB7F53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约定一次跟进，看学到了什么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F8164-9F7D-4E1D-98F5-957C030A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L21    5/6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858349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BA066-315E-4E36-A97C-B062FA3F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小结：现场学习与日常改进相连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CB321-FDAE-4E46-AF77-FF7620BD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要点：看实际、给指导、持续回看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A79E4-A6EA-4C3E-87E6-328A6A31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自测：有看板是否等于有每日改进？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A8D0B-B8A5-4E13-A6C9-60735526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行动：安排一次共同观察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CA83E-C56F-43D6-8037-34043295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领导与文化 · L21    6/6    原书第七章</a:t>
            </a:r>
          </a:p>
        </p:txBody>
      </p:sp>
    </p:spTree>
    <p:extLst>
      <p:ext uri="{BB962C8B-B14F-4D97-AF65-F5344CB8AC3E}">
        <p14:creationId xmlns:p14="http://schemas.microsoft.com/office/powerpoint/2010/main" val="15191294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2026-09-20T10:49:19.1290000Z</dcterms:created>
  <dcterms:modified xsi:type="dcterms:W3CDTF">2026-09-20T10:49:19.1290000Z</dcterms:modified>
</coreProperties>
</file>