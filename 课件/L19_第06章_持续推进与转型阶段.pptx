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264392610a42ca" /><Relationship Type="http://schemas.openxmlformats.org/officeDocument/2006/relationships/extended-properties" Target="/docProps/app.xml" Id="R6d4ace43f3524ba4" /><Relationship Type="http://schemas.openxmlformats.org/officeDocument/2006/relationships/officeDocument" Target="/ppt/presentation.xml" Id="Rb8a8c700a19f47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745905f2994fb5"/>
  </p:sldMasterIdLst>
  <p:notesMasterIdLst>
    <p:notesMasterId xmlns:r="http://schemas.openxmlformats.org/officeDocument/2006/relationships" r:id="R6c2e108e54bb439a"/>
  </p:notesMasterIdLst>
  <p:sldIdLst>
    <p:sldId xmlns:r="http://schemas.openxmlformats.org/officeDocument/2006/relationships" id="256" r:id="Re27b21a629a6444f"/>
    <p:sldId xmlns:r="http://schemas.openxmlformats.org/officeDocument/2006/relationships" id="257" r:id="R2e8839fd89d54d6f"/>
    <p:sldId xmlns:r="http://schemas.openxmlformats.org/officeDocument/2006/relationships" id="258" r:id="Rd175e2caee034ea9"/>
    <p:sldId xmlns:r="http://schemas.openxmlformats.org/officeDocument/2006/relationships" id="259" r:id="Ra0677f023f024729"/>
    <p:sldId xmlns:r="http://schemas.openxmlformats.org/officeDocument/2006/relationships" id="260" r:id="R6da5b28dfd5d480b"/>
    <p:sldId xmlns:r="http://schemas.openxmlformats.org/officeDocument/2006/relationships" id="261" r:id="R14967126554449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5e24846fc546f6" /><Relationship Type="http://schemas.openxmlformats.org/officeDocument/2006/relationships/slideMaster" Target="/ppt/slideMasters/slideMaster1.xml" Id="Rc0745905f2994fb5" /><Relationship Type="http://schemas.openxmlformats.org/officeDocument/2006/relationships/notesMaster" Target="/ppt/notesMasters/notesMaster1.xml" Id="R6c2e108e54bb439a" /><Relationship Type="http://schemas.openxmlformats.org/officeDocument/2006/relationships/presProps" Target="/ppt/presProps.xml" Id="R2f030594dc064edd" /><Relationship Type="http://schemas.openxmlformats.org/officeDocument/2006/relationships/tableStyles" Target="/ppt/tableStyles.xml" Id="Rb056f92e31f24fa6" /><Relationship Type="http://schemas.openxmlformats.org/officeDocument/2006/relationships/slide" Target="/ppt/slides/slide1.xml" Id="Re27b21a629a6444f" /><Relationship Type="http://schemas.openxmlformats.org/officeDocument/2006/relationships/slide" Target="/ppt/slides/slide2.xml" Id="R2e8839fd89d54d6f" /><Relationship Type="http://schemas.openxmlformats.org/officeDocument/2006/relationships/slide" Target="/ppt/slides/slide3.xml" Id="Rd175e2caee034ea9" /><Relationship Type="http://schemas.openxmlformats.org/officeDocument/2006/relationships/slide" Target="/ppt/slides/slide4.xml" Id="Ra0677f023f024729" /><Relationship Type="http://schemas.openxmlformats.org/officeDocument/2006/relationships/slide" Target="/ppt/slides/slide5.xml" Id="R6da5b28dfd5d480b" /><Relationship Type="http://schemas.openxmlformats.org/officeDocument/2006/relationships/slide" Target="/ppt/slides/slide6.xml" Id="R14967126554449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8fd30691c4e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4cb0ef9ef496f" /><Relationship Type="http://schemas.openxmlformats.org/officeDocument/2006/relationships/notesMaster" Target="/ppt/notesMasters/notesMaster1.xml" Id="Rc832cd8ba99349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27872b7bca47cf" /><Relationship Type="http://schemas.openxmlformats.org/officeDocument/2006/relationships/notesMaster" Target="/ppt/notesMasters/notesMaster1.xml" Id="Rbafc389b093449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6a4156e30b4ae7" /><Relationship Type="http://schemas.openxmlformats.org/officeDocument/2006/relationships/notesMaster" Target="/ppt/notesMasters/notesMaster1.xml" Id="R329a85e12e4c44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4617c399fb4256" /><Relationship Type="http://schemas.openxmlformats.org/officeDocument/2006/relationships/notesMaster" Target="/ppt/notesMasters/notesMaster1.xml" Id="Rb12c0e0a49684f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cfc437624a4b67" /><Relationship Type="http://schemas.openxmlformats.org/officeDocument/2006/relationships/notesMaster" Target="/ppt/notesMasters/notesMaster1.xml" Id="Rf03c730ec9e747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b97fba842f48b2" /><Relationship Type="http://schemas.openxmlformats.org/officeDocument/2006/relationships/notesMaster" Target="/ppt/notesMasters/notesMaster1.xml" Id="Rf2662e0a229444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持续推进需要时间与经验。原书把精益转型描述为需要持续努力的学习过程。早期可能已经出现局部成果，但组织的整体表现和工作习惯未必同步改变。作者用四年的阶段描述帮助读者理解这个过程。本课把它作为作者的经验概括，不作为每个组织的固定工期或收益承诺。学习重点是观察参与者的经验、行动的持续性以及工作方式是否改变，不能仅按经过了几年判断已经完成转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10_书籍/企业精益转型的领导之道/01_章节/CH06-S08 年复一年的精益改革.md#^llet-ch06-s08-p001</a:t>
            </a:r>
          </a:p>
          <a:p xmlns:a="http://schemas.openxmlformats.org/drawingml/2006/main">
            <a:r>
              <a:t>10_书籍/企业精益转型的领导之道/01_章节/CH06-S09 第一年.md#^llet-ch06-s09-p001</a:t>
            </a:r>
          </a:p>
          <a:p xmlns:a="http://schemas.openxmlformats.org/drawingml/2006/main">
            <a:r>
              <a:t>10_书籍/企业精益转型的领导之道/01_章节/CH06-S12 第四年.md#^llet-ch06-s12-p002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原书的四个阶段。原书描述，第一年常见边做边学和前进后退；第二年仍会面对阻力，许多人尚未积累直接经验；第三年经验与成果逐渐巩固；第四年持续改变逐渐成为新的常态。这是帮助理解长期变化的阶段叙述，不意味着每家组织都按同样日历发展。本讲不引用缺少统计口径的员工或价值流覆盖比例作为验收标准。回到实际工作，应检查行为和过程的证据，而不是只给自己贴一个阶段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10_书籍/企业精益转型的领导之道/01_章节/CH06-S09 第一年.md#^llet-ch06-s09-p002</a:t>
            </a:r>
          </a:p>
          <a:p xmlns:a="http://schemas.openxmlformats.org/drawingml/2006/main">
            <a:r>
              <a:t>10_书籍/企业精益转型的领导之道/01_章节/CH06-S10 第二年.md#^llet-ch06-s10-p002</a:t>
            </a:r>
          </a:p>
          <a:p xmlns:a="http://schemas.openxmlformats.org/drawingml/2006/main">
            <a:r>
              <a:t>10_书籍/企业精益转型的领导之道/01_章节/CH06-S11 第三年.md#^llet-ch06-s11-p001</a:t>
            </a:r>
          </a:p>
          <a:p xmlns:a="http://schemas.openxmlformats.org/drawingml/2006/main">
            <a:r>
              <a:t>10_书籍/企业精益转型的领导之道/01_章节/CH06-S12 第四年.md#^llet-ch06-s12-p001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回看：Danaher的导师安排。第六章的Danaher案例描述，新领导者经历一个十三周的正式学习过程，由熟悉其业务系统的高级经理担任导师，制定具体计划并持续指导。本讲回看这个历史案例，是为了说明学习支持需要落实到安排和持续实践，而不是一次课程后就结束。十三周是该案例的做法，不能由此推导所有组织应采用相同周期，更不能把它与原书四年阶段描述直接换算。可以借鉴的是有计划、有指导地积累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10_书籍/企业精益转型的领导之道/01_章节/CH06-S02 浸入式管理.md#^llet-ch06-s02-p004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疑问与持续拒绝参与需要区分。原书用抗体比喻保护旧文化、抵制改变的力量，也提醒读者，面对全新方向，有思想的人首先提出疑问是正常的，不能把所有质疑者都归为抗体。作者区分真诚疑问与不接受回答、不愿参与的持续抵制。本课采用这一辨别提醒，引导学员记录具体担忧和事实，不根据称呼判断某个人。涉及人员安排时，需要由组织依职责处理，本练习只用于沟通和观察，不把书中的强硬措辞当作直接处置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10_书籍/企业精益转型的领导之道/01_章节/CH06-S07 “抗体”.md#^llet-ch06-s07-p004</a:t>
            </a:r>
          </a:p>
          <a:p xmlns:a="http://schemas.openxmlformats.org/drawingml/2006/main">
            <a:r>
              <a:t>10_书籍/企业精益转型的领导之道/01_章节/CH06-S07 “抗体”.md#^llet-ch06-s07-p008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下一轮学习与推进。现在暂停音频，完成学习单最后一部分。记录一次行动后出现的反复，说明已经观察到什么、哪些原因仍待核实。再写下一位参与者提出的实际担忧，想想需要补充什么事实或安排怎样的共同观察。最后确定一个后续行动、指导支持和回看日期。这是课程设计的练习，目的在于把困难转成可以学习和处理的具体问题，不要求立即为整个组织判定转型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10_书籍/企业精益转型的领导之道/01_章节/CH06-S09 第一年.md#^llet-ch06-s09-p002</a:t>
            </a:r>
          </a:p>
          <a:p xmlns:a="http://schemas.openxmlformats.org/drawingml/2006/main">
            <a:r>
              <a:t>10_书籍/企业精益转型的领导之道/01_章节/CH06-S07 “抗体”.md#^llet-ch06-s07-p008</a:t>
            </a:r>
          </a:p>
          <a:p xmlns:a="http://schemas.openxmlformats.org/drawingml/2006/main">
            <a:r>
              <a:t>10_书籍/企业精益转型的领导之道/01_章节/CH06-S02 浸入式管理.md#^llet-ch06-s02-p005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单元回顾与下一站。战略与推进单元可以沿一条路线回顾：领导者参与学习，共同说明方向，把目标落实为价值流行动，再通过持续回顾积累经验。自测一下，一次活动有好结果，为什么还不能证明整个组织完成转型？因为还要看结果是否保持、人员是否学会运用，以及新的工作方式是否持续。请保留学习单，选一项后续行动推进。下一单元领导与文化，将进一步讨论日常行为怎样支持这些变化长期保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10_书籍/企业精益转型的领导之道/01_章节/CH06-S09 第一年.md#^llet-ch06-s09-p001</a:t>
            </a:r>
          </a:p>
          <a:p xmlns:a="http://schemas.openxmlformats.org/drawingml/2006/main">
            <a:r>
              <a:t>10_书籍/企业精益转型的领导之道/01_章节/CH06-S09 第一年.md#^llet-ch06-s09-p002</a:t>
            </a:r>
          </a:p>
          <a:p xmlns:a="http://schemas.openxmlformats.org/drawingml/2006/main">
            <a:r>
              <a:t>10_书籍/企业精益转型的领导之道/01_章节/CH06-S13 本章总结.md#^llet-ch06-s13-p001</a:t>
            </a:r>
          </a:p>
          <a:p xmlns:a="http://schemas.openxmlformats.org/drawingml/2006/main">
            <a:r>
              <a:t>10_书籍/企业精益转型的领导之道/01_章节/CH06-S13 本章总结.md#^llet-ch06-s13-p002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4282557a145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d83ebea01f4e4d" /><Relationship Type="http://schemas.openxmlformats.org/officeDocument/2006/relationships/slideLayout" Target="/ppt/slideLayouts/slideLayout1.xml" Id="R03183aa3d40840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183aa3d40840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4eb7d24d84b51" /><Relationship Type="http://schemas.openxmlformats.org/officeDocument/2006/relationships/notesSlide" Target="/ppt/notesSlides/notesSlide1.xml" Id="Rd6e94ba8057e49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1cd06a10b4e1e" /><Relationship Type="http://schemas.openxmlformats.org/officeDocument/2006/relationships/notesSlide" Target="/ppt/notesSlides/notesSlide2.xml" Id="R43e1b47ac9354c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67a8c0c454d9e" /><Relationship Type="http://schemas.openxmlformats.org/officeDocument/2006/relationships/notesSlide" Target="/ppt/notesSlides/notesSlide3.xml" Id="R2ef6f64eee634c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90b2596014fdb" /><Relationship Type="http://schemas.openxmlformats.org/officeDocument/2006/relationships/notesSlide" Target="/ppt/notesSlides/notesSlide4.xml" Id="Redf87a6191194e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89b57a60f4c01" /><Relationship Type="http://schemas.openxmlformats.org/officeDocument/2006/relationships/notesSlide" Target="/ppt/notesSlides/notesSlide5.xml" Id="Ra0f1a44901f5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66ce66d9d428b" /><Relationship Type="http://schemas.openxmlformats.org/officeDocument/2006/relationships/notesSlide" Target="/ppt/notesSlides/notesSlide6.xml" Id="R42d4e102c2e44d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F8E86-47A2-4D71-B17A-47D06B70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持续推进需要时间与经验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585F4-BCC0-4310-9A24-035B3B5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新方法需要反复运用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F4389-0A4D-4366-82D5-790EE1CF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局部成果不等于整体转型完成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02B70-484F-49DC-A1A9-A04CD03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阶段描述用于理解，不是交付承诺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BCE26-9E57-4D1D-9806-C8FCA97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1/6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736970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99088-CDD3-496C-9019-B4F0B93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原书的四个阶段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4AE65-648C-43F4-BDF8-2064AE56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第一年学习，第二年面对阻力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1DD29-8243-41F7-9876-3F28109B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第三年巩固经验与成果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8949E-535B-4F10-B909-199B8726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第四年持续改变逐渐成为常态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3AA25-96C4-4E6E-A0B8-312B0260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2/6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27353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23D46-8814-421E-943E-3DA78684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原书案例回看：Danaher的导师安排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20E52-6E60-416F-945C-37835B7B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新领导者的学习采用正式计划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46339-45EC-46EF-9885-1DA378C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导师在实践过程中持续指导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CACBF-0F00-4C24-9D3F-DE29C131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学习支持贯穿一段时间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FBECB-24FB-4306-AD3E-79564D2F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3/6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634894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5BE28-CBA3-4345-975D-04E6B45A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疑问与持续拒绝参与需要区分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FE2D2-48BB-48B5-9B41-4AE298E2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有人担心改变会损害已有成果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B5D4C-72D9-4810-96FB-9806C67D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先理解疑问，再澄清方向与职责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272CB-4F1A-4C79-A14B-187C302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不因提出问题就给同事贴标签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D1A43-4F89-4670-8E24-F31CF783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4/6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847594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DBC35-9177-4A7C-B0A8-D882862A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工作练习：下一轮学习与推进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24CFF-18D0-4598-9F1A-FFE88498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记录一次反复和已知原因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48402-7CB8-4CC9-A8EB-6A8A72B6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写下一项需回应的实际担忧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E275D-3C31-4958-9EED-F5A57B5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安排指导、后续行动和回看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7B601-9252-49DC-8CBE-75DC043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5/6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41898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221D0-23CE-44C0-BB8E-8DEC2FC7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单元回顾与下一站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14E77-35B9-4FE1-93EC-0A5C3F7E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路线：领导学习 → 战略行动 → 持续回顾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C85E5-DC55-455C-AF5D-21DD245C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自测：一次好结果为何不足以证明完成？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16682-B85D-4CE4-8B65-3CBE59CF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下一站：领导与文化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DA38F-76B5-4DB5-BC38-D9854DF3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6/6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2130204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2026-09-20T10:30:25.4970000Z</dcterms:created>
  <dcterms:modified xsi:type="dcterms:W3CDTF">2026-09-20T10:30:25.4970000Z</dcterms:modified>
</coreProperties>
</file>