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78db51d04c4224" /><Relationship Type="http://schemas.openxmlformats.org/officeDocument/2006/relationships/extended-properties" Target="/docProps/app.xml" Id="R18140d96e4894712" /><Relationship Type="http://schemas.openxmlformats.org/officeDocument/2006/relationships/officeDocument" Target="/ppt/presentation.xml" Id="Rc68ff20d233342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a226669e2c4c8b"/>
  </p:sldMasterIdLst>
  <p:notesMasterIdLst>
    <p:notesMasterId xmlns:r="http://schemas.openxmlformats.org/officeDocument/2006/relationships" r:id="R3e0be8252c234f61"/>
  </p:notesMasterIdLst>
  <p:sldIdLst>
    <p:sldId xmlns:r="http://schemas.openxmlformats.org/officeDocument/2006/relationships" id="256" r:id="R34f8a9bb5417449e"/>
    <p:sldId xmlns:r="http://schemas.openxmlformats.org/officeDocument/2006/relationships" id="257" r:id="Re66d9f2690bd4a58"/>
    <p:sldId xmlns:r="http://schemas.openxmlformats.org/officeDocument/2006/relationships" id="258" r:id="R1ec917a22cbf4999"/>
    <p:sldId xmlns:r="http://schemas.openxmlformats.org/officeDocument/2006/relationships" id="259" r:id="Rc39cf27850a44689"/>
    <p:sldId xmlns:r="http://schemas.openxmlformats.org/officeDocument/2006/relationships" id="260" r:id="Rbf57d5a3cdd0463c"/>
    <p:sldId xmlns:r="http://schemas.openxmlformats.org/officeDocument/2006/relationships" id="261" r:id="R1424a7c3e66743f1"/>
    <p:sldId xmlns:r="http://schemas.openxmlformats.org/officeDocument/2006/relationships" id="262" r:id="R77a08a24e3a04778"/>
    <p:sldId xmlns:r="http://schemas.openxmlformats.org/officeDocument/2006/relationships" id="263" r:id="R170ec0f01bf44c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eb80607bda4bc1" /><Relationship Type="http://schemas.openxmlformats.org/officeDocument/2006/relationships/slideMaster" Target="/ppt/slideMasters/slideMaster1.xml" Id="R13a226669e2c4c8b" /><Relationship Type="http://schemas.openxmlformats.org/officeDocument/2006/relationships/notesMaster" Target="/ppt/notesMasters/notesMaster1.xml" Id="R3e0be8252c234f61" /><Relationship Type="http://schemas.openxmlformats.org/officeDocument/2006/relationships/presProps" Target="/ppt/presProps.xml" Id="R478eb4129bf74f01" /><Relationship Type="http://schemas.openxmlformats.org/officeDocument/2006/relationships/tableStyles" Target="/ppt/tableStyles.xml" Id="Rb2e8980ba5504e2b" /><Relationship Type="http://schemas.openxmlformats.org/officeDocument/2006/relationships/slide" Target="/ppt/slides/slide1.xml" Id="R34f8a9bb5417449e" /><Relationship Type="http://schemas.openxmlformats.org/officeDocument/2006/relationships/slide" Target="/ppt/slides/slide2.xml" Id="Re66d9f2690bd4a58" /><Relationship Type="http://schemas.openxmlformats.org/officeDocument/2006/relationships/slide" Target="/ppt/slides/slide3.xml" Id="R1ec917a22cbf4999" /><Relationship Type="http://schemas.openxmlformats.org/officeDocument/2006/relationships/slide" Target="/ppt/slides/slide4.xml" Id="Rc39cf27850a44689" /><Relationship Type="http://schemas.openxmlformats.org/officeDocument/2006/relationships/slide" Target="/ppt/slides/slide5.xml" Id="Rbf57d5a3cdd0463c" /><Relationship Type="http://schemas.openxmlformats.org/officeDocument/2006/relationships/slide" Target="/ppt/slides/slide6.xml" Id="R1424a7c3e66743f1" /><Relationship Type="http://schemas.openxmlformats.org/officeDocument/2006/relationships/slide" Target="/ppt/slides/slide7.xml" Id="R77a08a24e3a04778" /><Relationship Type="http://schemas.openxmlformats.org/officeDocument/2006/relationships/slide" Target="/ppt/slides/slide8.xml" Id="R170ec0f01bf44c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6b170dae3646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9eb79936234252" /><Relationship Type="http://schemas.openxmlformats.org/officeDocument/2006/relationships/notesMaster" Target="/ppt/notesMasters/notesMaster1.xml" Id="Rc5d98d007f5749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f80ccffcf94692" /><Relationship Type="http://schemas.openxmlformats.org/officeDocument/2006/relationships/notesMaster" Target="/ppt/notesMasters/notesMaster1.xml" Id="Rb5520665f6324d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0f4a7ba5c94a03" /><Relationship Type="http://schemas.openxmlformats.org/officeDocument/2006/relationships/notesMaster" Target="/ppt/notesMasters/notesMaster1.xml" Id="Rf5283803513041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e96d17c0274df4" /><Relationship Type="http://schemas.openxmlformats.org/officeDocument/2006/relationships/notesMaster" Target="/ppt/notesMasters/notesMaster1.xml" Id="R34c93682071549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ea9e57f7ab4394" /><Relationship Type="http://schemas.openxmlformats.org/officeDocument/2006/relationships/notesMaster" Target="/ppt/notesMasters/notesMaster1.xml" Id="Rde1b5a9957a045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a99941c07f4f96" /><Relationship Type="http://schemas.openxmlformats.org/officeDocument/2006/relationships/notesMaster" Target="/ppt/notesMasters/notesMaster1.xml" Id="Re2b0715f97924d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b2e077ab984fc0" /><Relationship Type="http://schemas.openxmlformats.org/officeDocument/2006/relationships/notesMaster" Target="/ppt/notesMasters/notesMaster1.xml" Id="R4abc17b5987f44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e283f6a3984a10" /><Relationship Type="http://schemas.openxmlformats.org/officeDocument/2006/relationships/notesMaster" Target="/ppt/notesMasters/notesMaster1.xml" Id="R745b9429a5f149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来源：《企业精益转型的领导之道》原PDF第44–47页，书内第24–27页。</a:t>
            </a:r>
          </a:p>
          <a:p xmlns:a="http://schemas.openxmlformats.org/drawingml/2006/main">
            <a:r>
              <a:t>对应教学稿片段01。学习目标：理解客户响应能力、图3.7和Watlow案例，并区分不同指标。材料属于学习解释，不替代原文。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来源：《企业精益转型的领导之道》原PDF第44–47页，书内第24–27页。</a:t>
            </a:r>
          </a:p>
          <a:p xmlns:a="http://schemas.openxmlformats.org/drawingml/2006/main">
            <a:r>
              <a:t>证据段落：llet-ch03-s06-p001、p010。对应音频片段01。作者将降低库存与客户响应价值相联系。起止点例子是整理者解释，不是原书定义。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来源：《企业精益转型的领导之道》原PDF第44–47页，书内第24–27页。</a:t>
            </a:r>
          </a:p>
          <a:p xmlns:a="http://schemas.openxmlformats.org/drawingml/2006/main">
            <a:r>
              <a:t>证据：llet-ch03-s06-p002；图3.7逐项视觉核验。图题2–4倍与首行5倍不同，原样保留。图片来源：原PDF第45页300DPI裁切，坐标见图3.7裁切记录.json。对应片段02。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来源：《企业精益转型的领导之道》原PDF第44–47页，书内第24–27页。</a:t>
            </a:r>
          </a:p>
          <a:p xmlns:a="http://schemas.openxmlformats.org/drawingml/2006/main">
            <a:r>
              <a:t>证据：llet-ch03-s06-p002与图3.7。对应片段02。保留原表四列与三行，不把5倍转换成增长500%。图题2–4倍与表格5倍不一致的范围保留。此页为依据原图整理的可编辑数据表。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来源：《企业精益转型的领导之道》原PDF第44–47页，书内第24–27页。</a:t>
            </a:r>
          </a:p>
          <a:p xmlns:a="http://schemas.openxmlformats.org/drawingml/2006/main">
            <a:r>
              <a:t>证据段落：llet-ch03-s06-p004、p005、p006。对应片段03。改善前每阶段约一个月，改善后约一周。原书“三遍研究、剩余50%、减少75%”有计算表述疑点，本表不重构算法。胜率15%左右与业务增长率3%到超过15%是不同指标。历史结果未外部独立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来源：《企业精益转型的领导之道》原PDF第44–47页，书内第24–27页。</a:t>
            </a:r>
          </a:p>
          <a:p xmlns:a="http://schemas.openxmlformats.org/drawingml/2006/main">
            <a:r>
              <a:t>证据段落：llet-ch03-s06-p003、p007、p008、p009、p010。对应片段04。HON有机增长率约4%到超过12%。ThedaCare错误约-80%，等待与住宿成本各约-30%，处理能力约+30%。皇家海军“免费的航母”是能力价值类比，不是实际新增军舰。不可将这些不同指标相加或推出普适因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来源：《企业精益转型的领导之道》原PDF第44–47页，书内第24–27页。</a:t>
            </a:r>
          </a:p>
          <a:p xmlns:a="http://schemas.openxmlformats.org/drawingml/2006/main">
            <a:r>
              <a:t>证据段落：llet-ch03-s06-p002、p003、p005。对应音频02、03。原书“行业3%、增加6%～12%”有歧义。不能改为百分点。三次各减半数学上为87.5%，但原书同时写减少75%，不据此改写原书。教学仅使用清楚的时间对照和已核图表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来源：《企业精益转型的领导之道》原PDF第44–47页，书内第24–27页。</a:t>
            </a:r>
          </a:p>
          <a:p xmlns:a="http://schemas.openxmlformats.org/drawingml/2006/main">
            <a:r>
              <a:t>对应音频片段05，原理依据llet-ch03-s06-p001、p005、p009、p010。以下练习是整理者建议，不是海顺现状或原书案例。选询价到报价等流程，记录起止事件、等待与处理步骤，观察时间和差错。复习：胜率与增长率定义不同；客户经历完整流程而不是单岗位速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3d4a56ed14a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8c0fa0815b4cba" /><Relationship Type="http://schemas.openxmlformats.org/officeDocument/2006/relationships/slideLayout" Target="/ppt/slideLayouts/slideLayout1.xml" Id="R2ac0d0d08a4642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c0d0d08a4642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4e4e204f7464d" /><Relationship Type="http://schemas.openxmlformats.org/officeDocument/2006/relationships/notesSlide" Target="/ppt/notesSlides/notesSlide1.xml" Id="R53620c80777b4d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541c6089845f0" /><Relationship Type="http://schemas.openxmlformats.org/officeDocument/2006/relationships/notesSlide" Target="/ppt/notesSlides/notesSlide2.xml" Id="R029ff463cc9e4b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5d187a2ac480e" /><Relationship Type="http://schemas.openxmlformats.org/officeDocument/2006/relationships/image" Target="/ppt/media/image.png" Id="Refca7426ed124543" /><Relationship Type="http://schemas.openxmlformats.org/officeDocument/2006/relationships/notesSlide" Target="/ppt/notesSlides/notesSlide3.xml" Id="Rcdae12a386014a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f0690669b4cc3" /><Relationship Type="http://schemas.openxmlformats.org/officeDocument/2006/relationships/notesSlide" Target="/ppt/notesSlides/notesSlide4.xml" Id="R2149f8374b6d4a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8cb8d07304beb" /><Relationship Type="http://schemas.openxmlformats.org/officeDocument/2006/relationships/notesSlide" Target="/ppt/notesSlides/notesSlide5.xml" Id="R53bf7dab23ad48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b6ed0e01241ea" /><Relationship Type="http://schemas.openxmlformats.org/officeDocument/2006/relationships/notesSlide" Target="/ppt/notesSlides/notesSlide6.xml" Id="R6baafc1020244f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8b861df67479c" /><Relationship Type="http://schemas.openxmlformats.org/officeDocument/2006/relationships/notesSlide" Target="/ppt/notesSlides/notesSlide7.xml" Id="R1cca62a04a974c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353c584434920" /><Relationship Type="http://schemas.openxmlformats.org/officeDocument/2006/relationships/notesSlide" Target="/ppt/notesSlides/notesSlide8.xml" Id="R2cdfe898b43045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67C9F-71F2-42E4-88E3-4303275A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495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交付时间与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495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流程改进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04B07-8FA9-4160-B661-D46987DA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《企业精益转型的领导之道》第3章学习讲解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B33EA-3B63-4014-8107-5F21E986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客户等待、流程设计与案例数字的正确读法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904E0-F22E-4947-9535-D6046F6A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LLET-CH03-S06-v01</a:t>
            </a:r>
          </a:p>
        </p:txBody>
      </p:sp>
    </p:spTree>
    <p:extLst>
      <p:ext uri="{BB962C8B-B14F-4D97-AF65-F5344CB8AC3E}">
        <p14:creationId xmlns:p14="http://schemas.microsoft.com/office/powerpoint/2010/main" val="13983795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60F0D-E5F2-44F4-9BEB-526AFB75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客户等待与响应能力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9BF1B-565B-4236-B4F0-76A5A68C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原书第24–25、27页；操作性定义为整理者解释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A05B6-BCA0-487A-B090-9EB4C494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6D77"/>
                </a:solidFill>
                <a:latin typeface="Heiti SC"/>
                <a:ea typeface="Heiti SC"/>
                <a:cs typeface="Heiti SC"/>
              </a:defRPr>
            </a:pPr>
            <a:r>
              <a:rPr sz="2850" b="1">
                <a:solidFill>
                  <a:srgbClr val="006D77"/>
                </a:solidFill>
                <a:latin typeface="Heiti SC"/>
                <a:ea typeface="Heiti SC"/>
                <a:cs typeface="Heiti SC"/>
              </a:rPr>
              <a:t>同一笔客户需求，经过一整条业务流程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A33B0-FFF2-4FBD-B3C1-F4B2607E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交付时间的记录需要明确起点与终点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F5235-CF0A-49C6-B7D2-D0F3E35E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66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475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收到报价请求，直到发出完整报价</a:t>
            </a:r>
          </a:p>
          <a:p xmlns:a="http://schemas.openxmlformats.org/drawingml/2006/main">
            <a:pPr>
              <a:defRPr sz="2475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475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收到正式订单，直到客户收到产品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650C6-8E42-4396-9BD2-B2008657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不同起止点形成不同指标，比较前先统一口径</a:t>
            </a:r>
          </a:p>
        </p:txBody>
      </p:sp>
    </p:spTree>
    <p:extLst>
      <p:ext uri="{BB962C8B-B14F-4D97-AF65-F5344CB8AC3E}">
        <p14:creationId xmlns:p14="http://schemas.microsoft.com/office/powerpoint/2010/main" val="3573240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62C5B-0956-4D63-9BD9-9F892AE5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图3.7：交付时间与增长案例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8F919-2D14-430F-A8B7-CB8C6376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原扫描图3.7，PDF第45页；上下文中的历史案例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a7426ed124543"/>
          <a:stretch xmlns:a="http://schemas.openxmlformats.org/drawingml/2006/main"/>
        </p:blipFill>
        <p:spPr>
          <a:xfrm xmlns:a="http://schemas.openxmlformats.org/drawingml/2006/main">
            <a:off x="2008207" y="1238250"/>
            <a:ext cx="8175586" cy="472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0503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5F6FA-9247-4D89-93A1-A2D0AC25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三个案例的原表数据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BAB45-6548-4BD7-8977-691B5853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原书图3.7；“平均增长”的基期和公式未在表中单列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67125"/>
                <a:gridCol w="2543175"/>
                <a:gridCol w="2476500"/>
                <a:gridCol w="2286000"/>
              </a:tblGrid>
              <a:tr h="70246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公司</a:t>
                      </a:r>
                    </a:p>
                  </a:txBody>
                  <a:tcPr marL="91440" marR="91440" marT="45720" marB="45720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业务</a:t>
                      </a:r>
                    </a:p>
                  </a:txBody>
                  <a:tcPr marL="91440" marR="91440" marT="45720" marB="45720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交付时间减少</a:t>
                      </a:r>
                    </a:p>
                  </a:txBody>
                  <a:tcPr marL="91440" marR="91440" marT="45720" marB="45720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平均增长</a:t>
                      </a:r>
                    </a:p>
                  </a:txBody>
                  <a:tcPr marL="91440" marR="91440" marT="45720" marB="45720">
                    <a:solidFill>
                      <a:srgbClr val="006D77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Atlas门业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工业门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66%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5倍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拉尔夫·威尔逊塑料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装饰层压板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75%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4倍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托马斯维尔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家具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70%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2倍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F1C0A-5D14-499B-A569-102EE8DD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D77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006D77"/>
                </a:solidFill>
                <a:latin typeface="Heiti SC"/>
                <a:ea typeface="Heiti SC"/>
                <a:cs typeface="Heiti SC"/>
              </a:rPr>
              <a:t>图注列出的适用过程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E60D8-CA9A-44FE-88C1-5E456941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产品开发、应用工程、订单输入、纠正措施</a:t>
            </a:r>
          </a:p>
        </p:txBody>
      </p:sp>
    </p:spTree>
    <p:extLst>
      <p:ext uri="{BB962C8B-B14F-4D97-AF65-F5344CB8AC3E}">
        <p14:creationId xmlns:p14="http://schemas.microsoft.com/office/powerpoint/2010/main" val="13009200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C76BA-378E-4EE9-B679-06F71C2C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Watlow：报价、图样与样件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3143E-60C2-4965-A240-F4992A34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原书第25–26页；约一月到约一周为案例粗略表述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678656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过程</a:t>
                      </a:r>
                    </a:p>
                  </a:txBody>
                  <a:tcPr marL="91440" marR="91440" marT="45720" marB="45720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改善前</a:t>
                      </a:r>
                    </a:p>
                  </a:txBody>
                  <a:tcPr marL="91440" marR="91440" marT="45720" marB="45720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改善后</a:t>
                      </a:r>
                    </a:p>
                  </a:txBody>
                  <a:tcPr marL="91440" marR="91440" marT="45720" marB="45720">
                    <a:solidFill>
                      <a:srgbClr val="006D77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报价回应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约1个月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约1周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工程图样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约1个月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约1周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样件制造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约1个月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约1周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06930-F3CA-4674-B9E1-2CADA27C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6D77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006D77"/>
                </a:solidFill>
                <a:latin typeface="Heiti SC"/>
                <a:ea typeface="Heiti SC"/>
                <a:cs typeface="Heiti SC"/>
              </a:rPr>
              <a:t>书中报告的业务增长率：3% 提升到超过 15%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89DCD-A583-4EF4-BDA2-41E07F1B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此前“胜率约15%”是另一个指标，不能混用</a:t>
            </a:r>
          </a:p>
        </p:txBody>
      </p:sp>
    </p:spTree>
    <p:extLst>
      <p:ext uri="{BB962C8B-B14F-4D97-AF65-F5344CB8AC3E}">
        <p14:creationId xmlns:p14="http://schemas.microsoft.com/office/powerpoint/2010/main" val="5619439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8E180-55FF-4E3A-AEDC-F05803C5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流程改变的多个结果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8ADC8-FC96-41B9-8510-D704CE19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原书第25–27页；以下均为作者报告的历史案例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8968D-A908-4052-AB6C-5D0B774D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6D77"/>
                </a:solidFill>
                <a:latin typeface="Heiti SC"/>
                <a:ea typeface="Heiti SC"/>
                <a:cs typeface="Heiti SC"/>
              </a:defRPr>
            </a:pPr>
            <a:r>
              <a:rPr sz="2625" b="1">
                <a:solidFill>
                  <a:srgbClr val="006D77"/>
                </a:solidFill>
                <a:latin typeface="Heiti SC"/>
                <a:ea typeface="Heiti SC"/>
                <a:cs typeface="Heiti SC"/>
              </a:rPr>
              <a:t>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8C650-339B-49FF-AD74-1CE22289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76375"/>
            <a:ext cx="857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有机增长率约4%提高到超过12%</a:t>
            </a:r>
          </a:p>
          <a:p xmlns:a="http://schemas.openxmlformats.org/drawingml/2006/main">
            <a:pPr>
              <a:defRPr sz="2250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行业排名由第五上升到第二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69ADC-517D-4D39-8637-D2A921B7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6D77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006D77"/>
                </a:solidFill>
                <a:latin typeface="Heiti SC"/>
                <a:ea typeface="Heiti SC"/>
                <a:cs typeface="Heiti SC"/>
              </a:rPr>
              <a:t>ThedaCare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F77A6-E807-4F84-A4F7-EE13B811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1465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错误约减少80%，等待和住宿成本各约减少30%</a:t>
            </a:r>
          </a:p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处理能力约提高30%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D9626-C877-4724-BE9B-6C121327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6D77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006D77"/>
                </a:solidFill>
                <a:latin typeface="Heiti SC"/>
                <a:ea typeface="Heiti SC"/>
                <a:cs typeface="Heiti SC"/>
              </a:rPr>
              <a:t>皇家海军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1AA3F-0845-4052-ACC6-2B153475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作者用“免费的航母”类比流程改善的能力价值</a:t>
            </a:r>
          </a:p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这一说法不代表实际新增了一艘航母</a:t>
            </a:r>
          </a:p>
        </p:txBody>
      </p:sp>
    </p:spTree>
    <p:extLst>
      <p:ext uri="{BB962C8B-B14F-4D97-AF65-F5344CB8AC3E}">
        <p14:creationId xmlns:p14="http://schemas.microsoft.com/office/powerpoint/2010/main" val="2120452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1231B-B01D-4794-85B1-C1527637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案例数字的使用边界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641C7-6C82-478C-B198-E949321D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原书第25–26页；疑点按原文保留，不用于企业增长预测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2B09E-9681-4ADC-8259-F67BDC06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D77"/>
                </a:solidFill>
                <a:latin typeface="Heiti SC"/>
                <a:ea typeface="Heiti SC"/>
                <a:cs typeface="Heiti SC"/>
              </a:defRPr>
            </a:pPr>
            <a:r>
              <a:rPr sz="2700" b="1">
                <a:solidFill>
                  <a:srgbClr val="006D77"/>
                </a:solidFill>
                <a:latin typeface="Heiti SC"/>
                <a:ea typeface="Heiti SC"/>
                <a:cs typeface="Heiti SC"/>
              </a:rPr>
              <a:t>倍数、百分比、百分点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EF70E-F048-4F39-BD4B-68BF8D12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325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先核对比较对象、基期与单位，再解释数字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A8033-7204-4295-96C8-AE0D8A49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325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原书“增加6%～12%”的措辞存在歧义</a:t>
            </a:r>
          </a:p>
          <a:p xmlns:a="http://schemas.openxmlformats.org/drawingml/2006/main">
            <a:pPr>
              <a:defRPr sz="2325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325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本模块保留说明，不转换为确定的增长公式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AB7F4-B945-4687-A967-C6AF2062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交付时间和增长同时变化，不足以排除其他经营因素</a:t>
            </a:r>
          </a:p>
        </p:txBody>
      </p:sp>
    </p:spTree>
    <p:extLst>
      <p:ext uri="{BB962C8B-B14F-4D97-AF65-F5344CB8AC3E}">
        <p14:creationId xmlns:p14="http://schemas.microsoft.com/office/powerpoint/2010/main" val="16567952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88149-44AC-4953-AE20-391E4A1F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一条实际流程的观察练习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1A8F9-2C1F-4CF8-8C1E-A38CEE4F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整理者练习；需使用企业真实记录，不预设改善结果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9A23F-4B71-4FC3-AB57-EC6A142D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06D77"/>
                </a:solidFill>
                <a:latin typeface="Heiti SC"/>
                <a:ea typeface="Heiti SC"/>
                <a:cs typeface="Heiti SC"/>
              </a:defRPr>
            </a:pPr>
            <a:r>
              <a:rPr sz="2775" b="1">
                <a:solidFill>
                  <a:srgbClr val="006D77"/>
                </a:solidFill>
                <a:latin typeface="Heiti SC"/>
                <a:ea typeface="Heiti SC"/>
                <a:cs typeface="Heiti SC"/>
              </a:rPr>
              <a:t>示例：客户询价至发出完整报价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C8EC6-17C6-4B57-995B-489C7650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1095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400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01  写清开始与结束的事件</a:t>
            </a:r>
          </a:p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400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02  记录实际处理、交接和等待</a:t>
            </a:r>
          </a:p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400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03  改进一个步骤，观察时间、差错与客户反馈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0F0E5-2ED6-4020-90A8-37A38CA1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复习：胜率与业务增长率为什么不能混用？</a:t>
            </a:r>
          </a:p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客户等待为什么不能只用单个岗位的速度衡量？</a:t>
            </a:r>
          </a:p>
        </p:txBody>
      </p:sp>
    </p:spTree>
    <p:extLst>
      <p:ext uri="{BB962C8B-B14F-4D97-AF65-F5344CB8AC3E}">
        <p14:creationId xmlns:p14="http://schemas.microsoft.com/office/powerpoint/2010/main" val="5696487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2026-09-19T02:57:57.6080000Z</dcterms:created>
  <dcterms:modified xsi:type="dcterms:W3CDTF">2026-09-19T02:57:57.6080000Z</dcterms:modified>
</coreProperties>
</file>