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fdd69f435b4cf2" /><Relationship Type="http://schemas.openxmlformats.org/officeDocument/2006/relationships/extended-properties" Target="/docProps/app.xml" Id="R653ea3aafebe4fde" /><Relationship Type="http://schemas.openxmlformats.org/officeDocument/2006/relationships/officeDocument" Target="/ppt/presentation.xml" Id="R6b7ac8d0fcd04a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cef32bd2f4b72"/>
  </p:sldMasterIdLst>
  <p:notesMasterIdLst>
    <p:notesMasterId xmlns:r="http://schemas.openxmlformats.org/officeDocument/2006/relationships" r:id="R75014303f9474f2c"/>
  </p:notesMasterIdLst>
  <p:sldIdLst>
    <p:sldId xmlns:r="http://schemas.openxmlformats.org/officeDocument/2006/relationships" id="256" r:id="R36446f1ef1834efd"/>
    <p:sldId xmlns:r="http://schemas.openxmlformats.org/officeDocument/2006/relationships" id="257" r:id="Rce8853245afd4ec0"/>
    <p:sldId xmlns:r="http://schemas.openxmlformats.org/officeDocument/2006/relationships" id="258" r:id="R7b056ab41c3945e3"/>
    <p:sldId xmlns:r="http://schemas.openxmlformats.org/officeDocument/2006/relationships" id="259" r:id="R6d2a806db1774606"/>
    <p:sldId xmlns:r="http://schemas.openxmlformats.org/officeDocument/2006/relationships" id="260" r:id="Ra215b6aec2184d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086aba98ac4b22" /><Relationship Type="http://schemas.openxmlformats.org/officeDocument/2006/relationships/slideMaster" Target="/ppt/slideMasters/slideMaster1.xml" Id="Rfafcef32bd2f4b72" /><Relationship Type="http://schemas.openxmlformats.org/officeDocument/2006/relationships/notesMaster" Target="/ppt/notesMasters/notesMaster1.xml" Id="R75014303f9474f2c" /><Relationship Type="http://schemas.openxmlformats.org/officeDocument/2006/relationships/presProps" Target="/ppt/presProps.xml" Id="R5b2c7e43fd304a63" /><Relationship Type="http://schemas.openxmlformats.org/officeDocument/2006/relationships/tableStyles" Target="/ppt/tableStyles.xml" Id="R3065e01a65e84816" /><Relationship Type="http://schemas.openxmlformats.org/officeDocument/2006/relationships/slide" Target="/ppt/slides/slide1.xml" Id="R36446f1ef1834efd" /><Relationship Type="http://schemas.openxmlformats.org/officeDocument/2006/relationships/slide" Target="/ppt/slides/slide2.xml" Id="Rce8853245afd4ec0" /><Relationship Type="http://schemas.openxmlformats.org/officeDocument/2006/relationships/slide" Target="/ppt/slides/slide3.xml" Id="R7b056ab41c3945e3" /><Relationship Type="http://schemas.openxmlformats.org/officeDocument/2006/relationships/slide" Target="/ppt/slides/slide4.xml" Id="R6d2a806db1774606" /><Relationship Type="http://schemas.openxmlformats.org/officeDocument/2006/relationships/slide" Target="/ppt/slides/slide5.xml" Id="Ra215b6aec2184d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0737c10d0e42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2759408954fe9" /><Relationship Type="http://schemas.openxmlformats.org/officeDocument/2006/relationships/notesMaster" Target="/ppt/notesMasters/notesMaster1.xml" Id="Rb8f35374369f4e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88c340f92b4720" /><Relationship Type="http://schemas.openxmlformats.org/officeDocument/2006/relationships/notesMaster" Target="/ppt/notesMasters/notesMaster1.xml" Id="R392ab9014d0940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73e86dc73c4ece" /><Relationship Type="http://schemas.openxmlformats.org/officeDocument/2006/relationships/notesMaster" Target="/ppt/notesMasters/notesMaster1.xml" Id="R00b44577f3fe4d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e4f8ec5c904500" /><Relationship Type="http://schemas.openxmlformats.org/officeDocument/2006/relationships/notesMaster" Target="/ppt/notesMasters/notesMaster1.xml" Id="R5bf93f2d198946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1a9f68bec748a3" /><Relationship Type="http://schemas.openxmlformats.org/officeDocument/2006/relationships/notesMaster" Target="/ppt/notesMasters/notesMaster1.xml" Id="R301cb9ed3cf14e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开场讲作者在罗克韦尔的经历：追踪一百多种指标，却因不知行动会负面影响哪些指标而没有真正提高。这是作者当年处境，不作绝对结论。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证据：10_书籍/企业精益转型的领导之道/01_章节/CH03-S00 章首导语.md#^llet-ch03-s00-p001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强调这是作者当年的困境，不泛化成“指标多等于没度量”的绝对口号。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证据：10_书籍/企业精益转型的领导之道/01_章节/CH03-S00 章首导语.md#^llet-ch03-s00-p001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介绍吉恩·斯科特纳斯交付任务的背景，点出“追问而非直接教学”的指导方式。</a:t>
            </a:r>
          </a:p>
          <a:p xmlns:a="http://schemas.openxmlformats.org/drawingml/2006/main">
            <a:r>
              <a:t>对应片段：02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证据：10_书籍/企业精益转型的领导之道/01_章节/CH03-S01 了解财务指标：个人的例子.md#^llet-ch03-s01-p001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逐层讲解因素链，第五问“太阳黑子”属原书自嘲式叙述，不是结论。</a:t>
            </a:r>
          </a:p>
          <a:p xmlns:a="http://schemas.openxmlformats.org/drawingml/2006/main">
            <a:r>
              <a:t>对应片段：02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证据：10_书籍/企业精益转型的领导之道/01_章节/CH03-S01 了解财务指标：个人的例子.md#^llet-ch03-s01-p003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说明这是整理者设计的练习，请学员填写，不预设答案。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证据：10_书籍/企业精益转型的领导之道/01_章节/CH03-S01 了解财务指标：个人的例子.md#^llet-ch03-s01-p003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8459fd754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056db2b9784cba" /><Relationship Type="http://schemas.openxmlformats.org/officeDocument/2006/relationships/slideLayout" Target="/ppt/slideLayouts/slideLayout1.xml" Id="Rc2a2466e015e47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a2466e015e47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7eb71f677490d" /><Relationship Type="http://schemas.openxmlformats.org/officeDocument/2006/relationships/notesSlide" Target="/ppt/notesSlides/notesSlide1.xml" Id="Rcb97881ac3834b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90c99ba9a4b44" /><Relationship Type="http://schemas.openxmlformats.org/officeDocument/2006/relationships/notesSlide" Target="/ppt/notesSlides/notesSlide2.xml" Id="R574979e3380944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6739a57064736" /><Relationship Type="http://schemas.openxmlformats.org/officeDocument/2006/relationships/notesSlide" Target="/ppt/notesSlides/notesSlide3.xml" Id="R63741c68704840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dbdde31874cd7" /><Relationship Type="http://schemas.openxmlformats.org/officeDocument/2006/relationships/notesSlide" Target="/ppt/notesSlides/notesSlide4.xml" Id="Rf04ec9003eca4e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0d1214ddd413a" /><Relationship Type="http://schemas.openxmlformats.org/officeDocument/2006/relationships/notesSlide" Target="/ppt/notesSlides/notesSlide5.xml" Id="Rccc16a7b2ac142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24074-FE8C-4616-976F-D53E6241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了解财务指标：个人的例子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19895-1383-48D2-A4D0-8081F96F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03180-61B0-4519-B30D-2A807FB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0A8BE-B618-4DE4-864D-50506EEA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本章回答：企业到底该度量什么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作者当年：指标虽多，却不知行动会负面影响哪些指标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从一个个人财务模型的例子出发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1B2C4-A68B-44B9-B9F6-8366846A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LLET-CH03-S01-v01</a:t>
            </a:r>
          </a:p>
        </p:txBody>
      </p:sp>
    </p:spTree>
    <p:extLst>
      <p:ext uri="{BB962C8B-B14F-4D97-AF65-F5344CB8AC3E}">
        <p14:creationId xmlns:p14="http://schemas.microsoft.com/office/powerpoint/2010/main" val="1162910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AA71C-5158-48C5-BAAA-307824B0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一百种指标带来的困境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43B32-5880-4111-B04A-21C83CE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追踪至少一百种重点决策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不知采取行动会负面影响哪些指标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既没退步，也没真正提高</a:t>
            </a:r>
          </a:p>
        </p:txBody>
      </p:sp>
    </p:spTree>
    <p:extLst>
      <p:ext uri="{BB962C8B-B14F-4D97-AF65-F5344CB8AC3E}">
        <p14:creationId xmlns:p14="http://schemas.microsoft.com/office/powerpoint/2010/main" val="1654696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00ADF-7F03-40AF-9D43-263A25CF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迪尔公司的资金流模型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542F4-8D20-4ADD-9242-D65F9E9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任务：建立资金流预测模型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丰田式指导：靠追问理解问题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大野耐一的“五个为什么”</a:t>
            </a:r>
          </a:p>
        </p:txBody>
      </p:sp>
    </p:spTree>
    <p:extLst>
      <p:ext uri="{BB962C8B-B14F-4D97-AF65-F5344CB8AC3E}">
        <p14:creationId xmlns:p14="http://schemas.microsoft.com/office/powerpoint/2010/main" val="1895973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E706A-DE7F-4315-BE35-89ADD45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五个为什么因素链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E9195-182C-46DE-BB25-C7F4DC6E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47736-7182-4BD9-98C4-DD2C41F2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D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天气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EA877-FF17-4169-B47B-6AE8493F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524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D12DC-25EA-40E5-916D-30CE841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86690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D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农作物产量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1AC6C-E47F-460C-A3EF-00C852A9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24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FD463-9EAF-4FA6-8A86-DFEE0EC5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6690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D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农民净收入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A0962-DFC6-4734-8677-C3FEEF4A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524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807E4-A1D0-4AA8-AA35-9F525D5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86690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D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销售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9B237-DAE1-4EF6-B1B1-191D6B78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3BC67-F304-4EFC-83EA-DE7DF0E2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66900"/>
            <a:ext cx="1866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D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库存与应收</a:t>
            </a:r>
          </a:p>
        </p:txBody>
      </p:sp>
      <p:cxnSp>
        <p:nvCxnSpPr>
          <p:cNvPr id="28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76500" y="2219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D77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52975" y="2219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D77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29450" y="2219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D77"/>
            </a:solidFill>
            <a:prstDash val="solid"/>
            <a:head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305925" y="22193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D77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C2223-9CE5-4961-B526-C37CC2F0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0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0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第五问之后：无法预测全球气候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0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0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示范：财务数字追溯到经营与外部因素</a:t>
            </a:r>
          </a:p>
        </p:txBody>
      </p:sp>
    </p:spTree>
    <p:extLst>
      <p:ext uri="{BB962C8B-B14F-4D97-AF65-F5344CB8AC3E}">
        <p14:creationId xmlns:p14="http://schemas.microsoft.com/office/powerpoint/2010/main" val="2103353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47629-7B91-44A6-BD30-0EAB236C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A68A2-8E93-42DD-A28C-255FC3BF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选一个财务指标，连续追问五层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标出它落在哪张财务报表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目的：把结果追溯到经营动作</a:t>
            </a:r>
          </a:p>
        </p:txBody>
      </p:sp>
    </p:spTree>
    <p:extLst>
      <p:ext uri="{BB962C8B-B14F-4D97-AF65-F5344CB8AC3E}">
        <p14:creationId xmlns:p14="http://schemas.microsoft.com/office/powerpoint/2010/main" val="1824097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2026-09-19T05:23:02.3400000Z</dcterms:created>
  <dcterms:modified xsi:type="dcterms:W3CDTF">2026-09-19T05:23:02.3400000Z</dcterms:modified>
</coreProperties>
</file>