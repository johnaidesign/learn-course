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ac52095bff4f46" /><Relationship Type="http://schemas.openxmlformats.org/officeDocument/2006/relationships/extended-properties" Target="/docProps/app.xml" Id="Ra8706d87bb404a40" /><Relationship Type="http://schemas.openxmlformats.org/officeDocument/2006/relationships/officeDocument" Target="/ppt/presentation.xml" Id="Rdc8a2f63b8f040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6a275483474a7e"/>
  </p:sldMasterIdLst>
  <p:notesMasterIdLst>
    <p:notesMasterId xmlns:r="http://schemas.openxmlformats.org/officeDocument/2006/relationships" r:id="Rb0d5b664ac514310"/>
  </p:notesMasterIdLst>
  <p:sldIdLst>
    <p:sldId xmlns:r="http://schemas.openxmlformats.org/officeDocument/2006/relationships" id="256" r:id="Ra645aeadec644a49"/>
    <p:sldId xmlns:r="http://schemas.openxmlformats.org/officeDocument/2006/relationships" id="257" r:id="R3398b260365e43b0"/>
    <p:sldId xmlns:r="http://schemas.openxmlformats.org/officeDocument/2006/relationships" id="258" r:id="R7d63d854fdaa4c52"/>
    <p:sldId xmlns:r="http://schemas.openxmlformats.org/officeDocument/2006/relationships" id="259" r:id="R6e2a20cc420d46a7"/>
    <p:sldId xmlns:r="http://schemas.openxmlformats.org/officeDocument/2006/relationships" id="260" r:id="R374995d45f2b4345"/>
    <p:sldId xmlns:r="http://schemas.openxmlformats.org/officeDocument/2006/relationships" id="261" r:id="R31378f5953404e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c9ba976433406f" /><Relationship Type="http://schemas.openxmlformats.org/officeDocument/2006/relationships/slideMaster" Target="/ppt/slideMasters/slideMaster1.xml" Id="R516a275483474a7e" /><Relationship Type="http://schemas.openxmlformats.org/officeDocument/2006/relationships/notesMaster" Target="/ppt/notesMasters/notesMaster1.xml" Id="Rb0d5b664ac514310" /><Relationship Type="http://schemas.openxmlformats.org/officeDocument/2006/relationships/presProps" Target="/ppt/presProps.xml" Id="Re6ebe0e47269454d" /><Relationship Type="http://schemas.openxmlformats.org/officeDocument/2006/relationships/tableStyles" Target="/ppt/tableStyles.xml" Id="Rfbcb3e85668d4cb5" /><Relationship Type="http://schemas.openxmlformats.org/officeDocument/2006/relationships/slide" Target="/ppt/slides/slide1.xml" Id="Ra645aeadec644a49" /><Relationship Type="http://schemas.openxmlformats.org/officeDocument/2006/relationships/slide" Target="/ppt/slides/slide2.xml" Id="R3398b260365e43b0" /><Relationship Type="http://schemas.openxmlformats.org/officeDocument/2006/relationships/slide" Target="/ppt/slides/slide3.xml" Id="R7d63d854fdaa4c52" /><Relationship Type="http://schemas.openxmlformats.org/officeDocument/2006/relationships/slide" Target="/ppt/slides/slide4.xml" Id="R6e2a20cc420d46a7" /><Relationship Type="http://schemas.openxmlformats.org/officeDocument/2006/relationships/slide" Target="/ppt/slides/slide5.xml" Id="R374995d45f2b4345" /><Relationship Type="http://schemas.openxmlformats.org/officeDocument/2006/relationships/slide" Target="/ppt/slides/slide6.xml" Id="R31378f5953404e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afc685424f4b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c65cb05fcb4674" /><Relationship Type="http://schemas.openxmlformats.org/officeDocument/2006/relationships/notesMaster" Target="/ppt/notesMasters/notesMaster1.xml" Id="R17a60385df7844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47df6f87aa4288" /><Relationship Type="http://schemas.openxmlformats.org/officeDocument/2006/relationships/notesMaster" Target="/ppt/notesMasters/notesMaster1.xml" Id="R82696c7c771b4f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57f19608174df7" /><Relationship Type="http://schemas.openxmlformats.org/officeDocument/2006/relationships/notesMaster" Target="/ppt/notesMasters/notesMaster1.xml" Id="Rf4937604cc9a41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9a4c4eff7e4ab8" /><Relationship Type="http://schemas.openxmlformats.org/officeDocument/2006/relationships/notesMaster" Target="/ppt/notesMasters/notesMaster1.xml" Id="Rff451527813240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b974679ab6497e" /><Relationship Type="http://schemas.openxmlformats.org/officeDocument/2006/relationships/notesMaster" Target="/ppt/notesMasters/notesMaster1.xml" Id="R449089a3ca8844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6aaa81411e4225" /><Relationship Type="http://schemas.openxmlformats.org/officeDocument/2006/relationships/notesMaster" Target="/ppt/notesMasters/notesMaster1.xml" Id="R62c2a99a821c44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页。活动结束后，谁继续支持？。这一讲承接流程改善的学习，回答为什么活动办完了，新的方法却没有留下来。作者把改善速度、参与人员和后续支持放在一起讨论。学习时，请想着自己参与过的一次流程调整：活动结束后，谁还在解决现场的问题？这是联系工作的提问，不是原书新增案例。我们先理解三者的关系，再用一张工作学习单找出自己需要补上的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10_书籍/企业精益转型的领导之道/01_章节/CH05-S00 章首导语.md#^llet-ch05-s00-p001</a:t>
            </a:r>
          </a:p>
          <a:p xmlns:a="http://schemas.openxmlformats.org/drawingml/2006/main">
            <a:r>
              <a:t>10_书籍/企业精益转型的领导之道/01_章节/CH05-S03 关键活动失效模式.md#^llet-ch05-s03-p001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页。n/10：活动节奏的经验参考。请看活动节奏。按照原书的人数与活动例子理解，n指选定价值流或转型范围内的人数。n除以十，是年度改善活动数量的经验参考。原书用一千人对应每年约一百次活动来说明。这里算的是活动次数，不是每次参加多少人，更不是新增人数。原译文有一句把单位写成人数，我们依据同段例子解释，不改原文。作者强调真正的过程研究和改变，不能只凑次数，也不能保证活动办满就获得固定增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10_书籍/企业精益转型的领导之道/01_章节/CH05-S01 n／10 规则.md#^llet-ch05-s01-p001</a:t>
            </a:r>
          </a:p>
          <a:p xmlns:a="http://schemas.openxmlformats.org/drawingml/2006/main">
            <a:r>
              <a:t>10_书籍/企业精益转型的领导之道/01_章节/CH05-S01 n／10 规则.md#^llet-ch05-s01-p002</a:t>
            </a:r>
          </a:p>
          <a:p xmlns:a="http://schemas.openxmlformats.org/drawingml/2006/main">
            <a:r>
              <a:t>10_书籍/企业精益转型的领导之道/01_章节/CH05-S01 n／10 规则.md#^llet-ch05-s01-p005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页。原书案例：FNOK逐年建立节奏。原书中的FNOK约有五千人，采用更高的n除以五目标，对应每年一千次活动。它没有在第一年就达到目标：一九九二年年中启动，开展二百次；一九九三年六百次；一九九四年达到一千次。学习重点是逐步建立研究和改善的能力。它的n除以五不同于一般的n除以十参考，不能混为一谈。这组历史经验也不能证明活动数量是收益变化的唯一原因。本课保留必要的活动数字，详细年度财务数据可回到原书查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10_书籍/企业精益转型的领导之道/01_章节/CH05-S01 n／10 规则.md#^llet-ch05-s01-p007</a:t>
            </a:r>
          </a:p>
          <a:p xmlns:a="http://schemas.openxmlformats.org/drawingml/2006/main">
            <a:r>
              <a:t>10_书籍/企业精益转型的领导之道/01_章节/CH05-S01 n／10 规则.md#^llet-ch05-s01-p009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页。活动团队与专职支持，职责不同。现在区分两类安排。活动团队围绕一个具体过程共同研究，作者在设计团队一节建议六到九人，既有熟悉现场的人，也有经验成员和为学习而参加的人。专职支持则把活动前准备、活动中帮助和活动后问题解决接起来。作者给出的规模经验约为选定范围员工的百分之三，并强调这些资源不能总被日常救急挤占。这是作者的经验法则，不是对每家企业立即下达的编制要求。团队人数与专职人员比例，分母和用途也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10_书籍/企业精益转型的领导之道/01_章节/CH05-S02 设计改进团队.md#^llet-ch05-s02-p001</a:t>
            </a:r>
          </a:p>
          <a:p xmlns:a="http://schemas.openxmlformats.org/drawingml/2006/main">
            <a:r>
              <a:t>10_书籍/企业精益转型的领导之道/01_章节/CH05-S02 设计改进团队.md#^llet-ch05-s02-p002-list</a:t>
            </a:r>
          </a:p>
          <a:p xmlns:a="http://schemas.openxmlformats.org/drawingml/2006/main">
            <a:r>
              <a:t>10_书籍/企业精益转型的领导之道/01_章节/CH05-S04 3% 方针.md#^llet-ch05-s04-p001</a:t>
            </a:r>
          </a:p>
          <a:p xmlns:a="http://schemas.openxmlformats.org/drawingml/2006/main">
            <a:r>
              <a:t>10_书籍/企业精益转型的领导之道/01_章节/CH05-S04 3% 方针.md#^llet-ch05-s04-p002</a:t>
            </a:r>
          </a:p>
          <a:p xmlns:a="http://schemas.openxmlformats.org/drawingml/2006/main">
            <a:r>
              <a:t>10_书籍/企业精益转型的领导之道/01_章节/CH05-S04 3% 方针.md#^llet-ch05-s04-p003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页。把后续问题放进计划。原书描述，有时大部分变化已经完成，少量事项还需要材料或工具。书中用百分之九十五和百分之五说明这种情形，不是要求所有项目按这个比例验收。更关键的是，减少原来的浪费后，过去被遮住的小问题会暴露。新流程遇到问题，不能只宣布活动失败，也不能放着不管。作者主张随后数周留下有经验的支持，继续解决根因。整理者把它转成三个实用问题：剩余事项是什么，谁跟进，何时看结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10_书籍/企业精益转型的领导之道/01_章节/CH05-S03 关键活动失效模式.md#^llet-ch05-s03-p002</a:t>
            </a:r>
          </a:p>
          <a:p xmlns:a="http://schemas.openxmlformats.org/drawingml/2006/main">
            <a:r>
              <a:t>10_书籍/企业精益转型的领导之道/01_章节/CH05-S03 关键活动失效模式.md#^llet-ch05-s03-p003</a:t>
            </a:r>
          </a:p>
          <a:p xmlns:a="http://schemas.openxmlformats.org/drawingml/2006/main">
            <a:r>
              <a:t>10_书籍/企业精益转型的领导之道/01_章节/CH05-S03 关键活动失效模式.md#^llet-ch05-s03-p004</a:t>
            </a:r>
          </a:p>
          <a:p xmlns:a="http://schemas.openxmlformats.org/drawingml/2006/main">
            <a:r>
              <a:t>10_书籍/企业精益转型的领导之道/01_章节/CH05-S04 3% 方针.md#^llet-ch05-s04-p004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6页。工作联系与小结。请暂停，在工作学习单写下一次真实改善的范围、一个仍未解决的问题，以及需要谁提供什么支持。不要先计算全公司的编制，可以从一条流程开始观察。回顾三个要点：节奏来自持续研究，角色需要互补，活动后支持不能断。自测答案是：年度活动数描述活动节奏，专职人数描述支持资源，二者不同。你的小行动是为一个未完成事项提出跟进人和复查时间，再与相关同事讨论。这是整理者设计的练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10_书籍/企业精益转型的领导之道/01_章节/CH05-S01 n／10 规则.md#^llet-ch05-s01-p002</a:t>
            </a:r>
          </a:p>
          <a:p xmlns:a="http://schemas.openxmlformats.org/drawingml/2006/main">
            <a:r>
              <a:t>10_书籍/企业精益转型的领导之道/01_章节/CH05-S04 3% 方针.md#^llet-ch05-s04-p003</a:t>
            </a:r>
          </a:p>
          <a:p xmlns:a="http://schemas.openxmlformats.org/drawingml/2006/main">
            <a:r>
              <a:t>10_书籍/企业精益转型的领导之道/01_章节/CH05-S11 本章总结.md#^llet-ch05-s11-p002-list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3f6dab380f48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0fe313c27e485f" /><Relationship Type="http://schemas.openxmlformats.org/officeDocument/2006/relationships/slideLayout" Target="/ppt/slideLayouts/slideLayout1.xml" Id="R9c62e495302d40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62e495302d40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dfa83d4d94003" /><Relationship Type="http://schemas.openxmlformats.org/officeDocument/2006/relationships/notesSlide" Target="/ppt/notesSlides/notesSlide1.xml" Id="R562059eb9d0b4d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598108e794989" /><Relationship Type="http://schemas.openxmlformats.org/officeDocument/2006/relationships/notesSlide" Target="/ppt/notesSlides/notesSlide2.xml" Id="Ree85b353ba204b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e539ff82746a8" /><Relationship Type="http://schemas.openxmlformats.org/officeDocument/2006/relationships/notesSlide" Target="/ppt/notesSlides/notesSlide3.xml" Id="R3014e5339f1b44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467582bde4af9" /><Relationship Type="http://schemas.openxmlformats.org/officeDocument/2006/relationships/notesSlide" Target="/ppt/notesSlides/notesSlide4.xml" Id="R2d59908b4d8d43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ada34ae7a4d70" /><Relationship Type="http://schemas.openxmlformats.org/officeDocument/2006/relationships/notesSlide" Target="/ppt/notesSlides/notesSlide5.xml" Id="R63591da7938446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14776e5647480d" /><Relationship Type="http://schemas.openxmlformats.org/officeDocument/2006/relationships/notesSlide" Target="/ppt/notesSlides/notesSlide6.xml" Id="Ra00b108a5d6141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8BD6B-AA68-4717-B185-1D425D14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活动结束后，谁继续支持？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8B9583-CE9B-40CD-9FC4-DC0FF3B2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活动节奏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29A40-5CB7-4E36-B98A-713FECC3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团队角色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CEFF55-91FA-475B-985D-8C5BF4B8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后续支持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CBFC17-B703-47C9-90C0-2EF98A6F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团队与人才 · L14    1/6    原书第5章；案例按原书记述</a:t>
            </a:r>
          </a:p>
        </p:txBody>
      </p:sp>
    </p:spTree>
    <p:extLst>
      <p:ext uri="{BB962C8B-B14F-4D97-AF65-F5344CB8AC3E}">
        <p14:creationId xmlns:p14="http://schemas.microsoft.com/office/powerpoint/2010/main" val="6673279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04808-7209-4445-8848-6DA1A828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n/10：活动节奏的经验参考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281029-8D28-40DA-B0D4-C9E1D4D4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n是选定范围内的人数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C184D7-219C-47C1-8250-23E56C99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n÷10≈年度改善活动数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53852-8037-40D6-8347-E61205F5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不保证固定业绩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AD522D-92F3-473B-9856-22F40AEE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团队与人才 · L14    2/6    原书第5章；案例按原书记述</a:t>
            </a:r>
          </a:p>
        </p:txBody>
      </p:sp>
    </p:spTree>
    <p:extLst>
      <p:ext uri="{BB962C8B-B14F-4D97-AF65-F5344CB8AC3E}">
        <p14:creationId xmlns:p14="http://schemas.microsoft.com/office/powerpoint/2010/main" val="12885781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D45C93-554F-4446-A721-EC140EC3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原书案例：FNOK逐年建立节奏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3E75EB-1608-4B2E-9F6A-D81D4CDB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1992年：200次，年中启动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1CFA46-E808-4075-B9A3-577E6CA7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1993年：600次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8418A-0E95-43D3-A6C5-B425148F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1994年：达到1000次目标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B69E0B-5F74-420C-8459-782C30BB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团队与人才 · L14    3/6    原书第5章；案例按原书记述</a:t>
            </a:r>
          </a:p>
        </p:txBody>
      </p:sp>
    </p:spTree>
    <p:extLst>
      <p:ext uri="{BB962C8B-B14F-4D97-AF65-F5344CB8AC3E}">
        <p14:creationId xmlns:p14="http://schemas.microsoft.com/office/powerpoint/2010/main" val="3815713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43D739-A6B3-42C7-8318-019E5485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活动团队与专职支持，职责不同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94E405-2C16-4E20-BCCE-43FEF835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活动团队：现场人员、经验成员、学习者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30196B-B4AF-45A1-BD4B-3B1D81DD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专职支持：准备、实施、跟进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4ABBB5-093F-48B3-8826-53C25BEA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约3%是经验参考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4DABF-1770-4233-AF3E-60DD26CD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团队与人才 · L14    4/6    原书第5章；案例按原书记述</a:t>
            </a:r>
          </a:p>
        </p:txBody>
      </p:sp>
    </p:spTree>
    <p:extLst>
      <p:ext uri="{BB962C8B-B14F-4D97-AF65-F5344CB8AC3E}">
        <p14:creationId xmlns:p14="http://schemas.microsoft.com/office/powerpoint/2010/main" val="4342449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735085-8F60-4070-8385-E1BFB1F4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把后续问题放进计划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4A5D8-446C-442F-A6BE-3B7316EE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剩余事项有人负责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A059B6-4466-47CC-8383-96A5FA0E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新暴露的问题继续追根因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A5FF8E-CB66-4BCE-B2C5-E7BD6080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支持不能随活动周结束撤走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E6BBC-7597-4131-9F9A-7FC8D5B5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团队与人才 · L14    5/6    原书第5章；案例按原书记述</a:t>
            </a:r>
          </a:p>
        </p:txBody>
      </p:sp>
    </p:spTree>
    <p:extLst>
      <p:ext uri="{BB962C8B-B14F-4D97-AF65-F5344CB8AC3E}">
        <p14:creationId xmlns:p14="http://schemas.microsoft.com/office/powerpoint/2010/main" val="14413677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10ACB-AF8A-4987-88D8-B8D539E1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工作联系与小结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433AD-A737-4AFF-98A3-D823EC27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3个要点：节奏、角色、跟进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E28FF-5B13-4E39-A405-447A5539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自测：活动数与专职人数一样吗？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668AE-6E76-46AF-BE6C-1244092F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行动：补一处支持缺口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934AB-8CC5-4C27-870F-E0562D3A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团队与人才 · L14    6/6    原书第5章；案例按原书记述</a:t>
            </a:r>
          </a:p>
        </p:txBody>
      </p:sp>
    </p:spTree>
    <p:extLst>
      <p:ext uri="{BB962C8B-B14F-4D97-AF65-F5344CB8AC3E}">
        <p14:creationId xmlns:p14="http://schemas.microsoft.com/office/powerpoint/2010/main" val="9813027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2026-09-20T06:31:24.8430000Z</dcterms:created>
  <dcterms:modified xsi:type="dcterms:W3CDTF">2026-09-20T06:31:24.8430000Z</dcterms:modified>
</coreProperties>
</file>