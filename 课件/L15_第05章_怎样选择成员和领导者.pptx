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10e1c1bb674135" /><Relationship Type="http://schemas.openxmlformats.org/officeDocument/2006/relationships/extended-properties" Target="/docProps/app.xml" Id="R1a7a98fe0a4f459a" /><Relationship Type="http://schemas.openxmlformats.org/officeDocument/2006/relationships/officeDocument" Target="/ppt/presentation.xml" Id="Raeb1ca8455c949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2e5ff1b11e475f"/>
  </p:sldMasterIdLst>
  <p:notesMasterIdLst>
    <p:notesMasterId xmlns:r="http://schemas.openxmlformats.org/officeDocument/2006/relationships" r:id="Rbc28f00819eb41a3"/>
  </p:notesMasterIdLst>
  <p:sldIdLst>
    <p:sldId xmlns:r="http://schemas.openxmlformats.org/officeDocument/2006/relationships" id="256" r:id="R0955b7a7822d4330"/>
    <p:sldId xmlns:r="http://schemas.openxmlformats.org/officeDocument/2006/relationships" id="257" r:id="R01841bac25584542"/>
    <p:sldId xmlns:r="http://schemas.openxmlformats.org/officeDocument/2006/relationships" id="258" r:id="R303bc98366fa4df3"/>
    <p:sldId xmlns:r="http://schemas.openxmlformats.org/officeDocument/2006/relationships" id="259" r:id="R9cdb2b1f1ae743ee"/>
    <p:sldId xmlns:r="http://schemas.openxmlformats.org/officeDocument/2006/relationships" id="260" r:id="Rf05c7c9d69134766"/>
    <p:sldId xmlns:r="http://schemas.openxmlformats.org/officeDocument/2006/relationships" id="261" r:id="Rbcb75cd4860d47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b27b11b27f4878" /><Relationship Type="http://schemas.openxmlformats.org/officeDocument/2006/relationships/slideMaster" Target="/ppt/slideMasters/slideMaster1.xml" Id="R372e5ff1b11e475f" /><Relationship Type="http://schemas.openxmlformats.org/officeDocument/2006/relationships/notesMaster" Target="/ppt/notesMasters/notesMaster1.xml" Id="Rbc28f00819eb41a3" /><Relationship Type="http://schemas.openxmlformats.org/officeDocument/2006/relationships/presProps" Target="/ppt/presProps.xml" Id="Rda5c98be3d9d40f1" /><Relationship Type="http://schemas.openxmlformats.org/officeDocument/2006/relationships/tableStyles" Target="/ppt/tableStyles.xml" Id="R7b4829d51dcb467a" /><Relationship Type="http://schemas.openxmlformats.org/officeDocument/2006/relationships/slide" Target="/ppt/slides/slide1.xml" Id="R0955b7a7822d4330" /><Relationship Type="http://schemas.openxmlformats.org/officeDocument/2006/relationships/slide" Target="/ppt/slides/slide2.xml" Id="R01841bac25584542" /><Relationship Type="http://schemas.openxmlformats.org/officeDocument/2006/relationships/slide" Target="/ppt/slides/slide3.xml" Id="R303bc98366fa4df3" /><Relationship Type="http://schemas.openxmlformats.org/officeDocument/2006/relationships/slide" Target="/ppt/slides/slide4.xml" Id="R9cdb2b1f1ae743ee" /><Relationship Type="http://schemas.openxmlformats.org/officeDocument/2006/relationships/slide" Target="/ppt/slides/slide5.xml" Id="Rf05c7c9d69134766" /><Relationship Type="http://schemas.openxmlformats.org/officeDocument/2006/relationships/slide" Target="/ppt/slides/slide6.xml" Id="Rbcb75cd4860d47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16be3818c94f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c95e44de874842" /><Relationship Type="http://schemas.openxmlformats.org/officeDocument/2006/relationships/notesMaster" Target="/ppt/notesMasters/notesMaster1.xml" Id="R71e22254e2934a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1288a139bd40ab" /><Relationship Type="http://schemas.openxmlformats.org/officeDocument/2006/relationships/notesMaster" Target="/ppt/notesMasters/notesMaster1.xml" Id="Rd144f917f11c46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75ee73a48d4912" /><Relationship Type="http://schemas.openxmlformats.org/officeDocument/2006/relationships/notesMaster" Target="/ppt/notesMasters/notesMaster1.xml" Id="R2b3c98d8631b43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8dd96a7dc64c74" /><Relationship Type="http://schemas.openxmlformats.org/officeDocument/2006/relationships/notesMaster" Target="/ppt/notesMasters/notesMaster1.xml" Id="Rf2d7ee0a49f44a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994fa4ed354f35" /><Relationship Type="http://schemas.openxmlformats.org/officeDocument/2006/relationships/notesMaster" Target="/ppt/notesMasters/notesMaster1.xml" Id="Rdc301c7bb3c649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b364eeeb3a4026" /><Relationship Type="http://schemas.openxmlformats.org/officeDocument/2006/relationships/notesMaster" Target="/ppt/notesMasters/notesMaster1.xml" Id="R76ea984ca7c14e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页。先分清三种角色。这一讲回答谁参加、谁带领，以及谁支持办公室里的流程。三类安排容易混在一起：一个人提供某次活动的经验，不代表他已是长期专职成员；一个高级经理也不必担任活动组长。我们沿着原书的团队设计、成员与领导选择、管理团队几节，分别理解这些角色。学完后，请为自己熟悉的一项工作提出角色建议，而不是直接列一张人员任命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10_书籍/企业精益转型的领导之道/01_章节/CH05-S02 设计改进团队.md#^llet-ch05-s02-p003</a:t>
            </a:r>
          </a:p>
          <a:p xmlns:a="http://schemas.openxmlformats.org/drawingml/2006/main">
            <a:r>
              <a:t>10_书籍/企业精益转型的领导之道/01_章节/CH05-S05 为全职改进团队挑选成员.md#^llet-ch05-s05-p001</a:t>
            </a:r>
          </a:p>
          <a:p xmlns:a="http://schemas.openxmlformats.org/drawingml/2006/main">
            <a:r>
              <a:t>10_书籍/企业精益转型的领导之道/01_章节/CH05-S08 管理团队.md#^llet-ch05-s08-p001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页。让现场经验和改善经验相遇。作者在团队设计一节建议六到九人的团队。活动团队中有本领域主管和两到三名本领域成员，也有一到两名经验丰富的成员，另外可安排一到两名学习者，但学习者人数不应超过有经验的成员。原书给出范围，不要求把每个上限都填满。经验成员适合引导研究，区域主管要理解新过程并在活动后接手。作者还提醒，高级管理者应作为全程参与的成员学习，不因职位高就自然成为活动领导。只参加一会儿又离开，会影响自己的学习和团队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10_书籍/企业精益转型的领导之道/01_章节/CH05-S02 设计改进团队.md#^llet-ch05-s02-p002-list</a:t>
            </a:r>
          </a:p>
          <a:p xmlns:a="http://schemas.openxmlformats.org/drawingml/2006/main">
            <a:r>
              <a:t>10_书籍/企业精益转型的领导之道/01_章节/CH05-S02 设计改进团队.md#^llet-ch05-s02-p003</a:t>
            </a:r>
          </a:p>
          <a:p xmlns:a="http://schemas.openxmlformats.org/drawingml/2006/main">
            <a:r>
              <a:t>10_书籍/企业精益转型的领导之道/01_章节/CH05-S02 设计改进团队.md#^llet-ch05-s02-p005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页。专职成员：看见问题，也能一起解决。选择专职成员时，作者列出学习、认识和解决问题、团队合作、沟通这几方面。他特别区分认识问题与解决问题：没有看见问题，掌握工具也难以发挥作用。这里不是挑当前最空闲的人。书中还讨论制造场景的技术知识，以及未来管理者和内部导师的不同培养路径。本课不要求背诵所有比例和年限，而要理解人选应与问题和培养方向相配。整理者建议，用一次具体行为说明某项能力，比只写沟通能力强更有帮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10_书籍/企业精益转型的领导之道/01_章节/CH05-S05 为全职改进团队挑选成员.md#^llet-ch05-s05-p001</a:t>
            </a:r>
          </a:p>
          <a:p xmlns:a="http://schemas.openxmlformats.org/drawingml/2006/main">
            <a:r>
              <a:t>10_书籍/企业精益转型的领导之道/01_章节/CH05-S05 为全职改进团队挑选成员.md#^llet-ch05-s05-p002-list</a:t>
            </a:r>
          </a:p>
          <a:p xmlns:a="http://schemas.openxmlformats.org/drawingml/2006/main">
            <a:r>
              <a:t>10_书籍/企业精益转型的领导之道/01_章节/CH05-S05 为全职改进团队挑选成员.md#^llet-ch05-s05-p003</a:t>
            </a:r>
          </a:p>
          <a:p xmlns:a="http://schemas.openxmlformats.org/drawingml/2006/main">
            <a:r>
              <a:t>10_书籍/企业精益转型的领导之道/01_章节/CH05-S05 为全职改进团队挑选成员.md#^llet-ch05-s05-p004</a:t>
            </a:r>
          </a:p>
          <a:p xmlns:a="http://schemas.openxmlformats.org/drawingml/2006/main">
            <a:r>
              <a:t>10_书籍/企业精益转型的领导之道/01_章节/CH05-S05 为全职改进团队挑选成员.md#^llet-ch05-s05-p006</a:t>
            </a:r>
          </a:p>
          <a:p xmlns:a="http://schemas.openxmlformats.org/drawingml/2006/main">
            <a:r>
              <a:t>10_书籍/企业精益转型的领导之道/01_章节/CH05-S05 为全职改进团队挑选成员.md#^llet-ch05-s05-p007</a:t>
            </a:r>
          </a:p>
          <a:p xmlns:a="http://schemas.openxmlformats.org/drawingml/2006/main">
            <a:r>
              <a:t>10_书籍/企业精益转型的领导之道/01_章节/CH05-S05 为全职改进团队挑选成员.md#^llet-ch05-s05-p008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页。领导者：把精益放进接班与发展安排。作者担心一种情形：现任总经理积极推动精益，几年后换人，继任者没有亲身参与，转型可能中断。因此，他建议由工厂或业务单元的继任人选领导专职团队，让重要管理人才在实践中学习，而不是找一个恰好可用的人占位置。这是作者的组织发展建议，不是只凭职位名称就保证成功。专职团队还承担培养内部导师的作用，经验需要在持续改善活动中积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10_书籍/企业精益转型的领导之道/01_章节/CH05-S06 为专职精益团队挑选领导.md#^llet-ch05-s06-p001</a:t>
            </a:r>
          </a:p>
          <a:p xmlns:a="http://schemas.openxmlformats.org/drawingml/2006/main">
            <a:r>
              <a:t>10_书籍/企业精益转型的领导之道/01_章节/CH05-S06 为专职精益团队挑选领导.md#^llet-ch05-s06-p002</a:t>
            </a:r>
          </a:p>
          <a:p xmlns:a="http://schemas.openxmlformats.org/drawingml/2006/main">
            <a:r>
              <a:t>10_书籍/企业精益转型的领导之道/01_章节/CH05-S06 为专职精益团队挑选领导.md#^llet-ch05-s06-p004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页。原书案例：办公室的报告也能改善。原书引述HON一九九八年的活动邮件。团队通过帕累托分析确定主要使用者，逐项查看报告使用情况，并问五个为什么。两个小组的年报告数量从一千九百二十减少到一千二百三十六，书中写减少百分之三十六，按数量计算约百分之三十五点六。对象是报告数量，不是全公司生产率。这个案例提醒我们，办公室的信息传递也值得研究，懂信息系统或财务流程的人可能是重要成员。原书未在这段提供完整对照研究，不能把这些数字当成任意流程的预期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10_书籍/企业精益转型的领导之道/01_章节/CH05-S08 管理团队.md#^llet-ch05-s08-p007</a:t>
            </a:r>
          </a:p>
          <a:p xmlns:a="http://schemas.openxmlformats.org/drawingml/2006/main">
            <a:r>
              <a:t>10_书籍/企业精益转型的领导之道/01_章节/CH05-S08 管理团队.md#^llet-ch05-s08-p008</a:t>
            </a:r>
          </a:p>
          <a:p xmlns:a="http://schemas.openxmlformats.org/drawingml/2006/main">
            <a:r>
              <a:t>10_书籍/企业精益转型的领导之道/01_章节/CH05-S08 管理团队.md#^llet-ch05-s08-p009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页。工作联系与小结。请暂停，选择一个真实问题，例如订单信息反复补填。这是练习情境，不是书中案例。写出谁了解当前工作，谁有改善经验，谁理解相关系统，再写自己最需要向谁学习。回顾三个要点：角色要互补，领导者通过实践发展能力，管理工作也要沿流程找问题。职位最高者不一定适合做活动组长，还要看经验和学习角色。你的小行动是提出角色建议并沟通，不凭本课直接作人员任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10_书籍/企业精益转型的领导之道/01_章节/CH05-S02 设计改进团队.md#^llet-ch05-s02-p005</a:t>
            </a:r>
          </a:p>
          <a:p xmlns:a="http://schemas.openxmlformats.org/drawingml/2006/main">
            <a:r>
              <a:t>10_书籍/企业精益转型的领导之道/01_章节/CH05-S05 为全职改进团队挑选成员.md#^llet-ch05-s05-p002-list</a:t>
            </a:r>
          </a:p>
          <a:p xmlns:a="http://schemas.openxmlformats.org/drawingml/2006/main">
            <a:r>
              <a:t>10_书籍/企业精益转型的领导之道/01_章节/CH05-S08 管理团队.md#^llet-ch05-s08-p003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3bd883783b40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35a77f202f4a8a" /><Relationship Type="http://schemas.openxmlformats.org/officeDocument/2006/relationships/slideLayout" Target="/ppt/slideLayouts/slideLayout1.xml" Id="Rd4a7ed16fad841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a7ed16fad841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dc3c61ae74c13" /><Relationship Type="http://schemas.openxmlformats.org/officeDocument/2006/relationships/notesSlide" Target="/ppt/notesSlides/notesSlide1.xml" Id="Rcbccb38a5e4347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967a50b2248d7" /><Relationship Type="http://schemas.openxmlformats.org/officeDocument/2006/relationships/notesSlide" Target="/ppt/notesSlides/notesSlide2.xml" Id="Rcc901a3319f440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0fa67167f4141" /><Relationship Type="http://schemas.openxmlformats.org/officeDocument/2006/relationships/notesSlide" Target="/ppt/notesSlides/notesSlide3.xml" Id="R748c8628a59443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9685bd8124874" /><Relationship Type="http://schemas.openxmlformats.org/officeDocument/2006/relationships/notesSlide" Target="/ppt/notesSlides/notesSlide4.xml" Id="R176fb87a4a8241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7e7b99e6e49be" /><Relationship Type="http://schemas.openxmlformats.org/officeDocument/2006/relationships/notesSlide" Target="/ppt/notesSlides/notesSlide5.xml" Id="R8934ffd4a81d48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6afbfad7a4cfd" /><Relationship Type="http://schemas.openxmlformats.org/officeDocument/2006/relationships/notesSlide" Target="/ppt/notesSlides/notesSlide6.xml" Id="R658f4b255e1242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98BBD-7F7A-48D1-A501-EA0E5F59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先分清三种角色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E088A-D27A-4B98-9A59-7A29B945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一次改善活动的团队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46362-696D-4A39-A8BB-574EB4CF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长期专职支持团队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DF2C4-D023-4017-8A22-DB91A139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管理流程改善团队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2C4EB-A438-4D75-A179-0CAC7C2F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L15    1/6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3930095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72D9C-5C0E-4D3C-B935-EF99CBE2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让现场经验和改善经验相遇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502AB-F330-4798-8428-28AB849A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主管和本领域成员了解过程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175E8-8B48-4F25-9706-4EFB1BFE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经验成员帮助研究和改善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AB35C-D3A6-4C60-95EF-131FFFC3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管理者亲身参加学习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DED3E-762C-4955-B0EA-E195AEA2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L15    2/6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1986144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E17DA-8A51-4684-A0DB-D28037F9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专职成员：看见问题，也能一起解决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F8660-C243-4097-90DA-752045DF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愿意学习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4DA0F-1E30-4063-A5E1-E7FA11B0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认识问题与解决问题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F1345-3CFC-4A8F-8F2C-86FA6CF1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合作和沟通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6BB94-94B5-4669-948D-41C3EBB9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L15    3/6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16906447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E89B8-5DF4-43C7-8CB3-49E300C6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领导者：把精益放进接班与发展安排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6AD08-7F7E-49DC-899B-2A345792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作者建议业务继任者领导专职团队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52A9D-9AA2-4D8D-A8F2-7374224A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通过实践积累经验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4AD09-8CAD-4401-8449-A2CB48A2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培养内部导师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A95A4-D3A0-4A7C-AD63-EAAD13E0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L15    4/6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18795584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F5776-E6F0-4DE7-A15D-E05E92CB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原书案例：办公室的报告也能改善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B1381-DB45-423B-B1C9-B4114985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逐项查看报告使用情况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0695F-0611-495E-95C5-9DC8AB16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年报告数1920→1236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F63A3-277D-445E-A6FD-622B2570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原书约36%，不是全公司效率提升36%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652CB-5BC0-4F32-A04F-F3823D22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L15    5/6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18034810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114132-FD4D-4DCF-A202-A8FE7D25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工作联系与小结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B23E25-8BB5-4D3F-9963-818C2EBA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3个要点：角色互补、领导实践、办公室也有流程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AC111-3B8F-4CF9-89BA-02166B92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自测：职位最高者一定做组长吗？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B52B7-3BA0-461F-AD13-15753981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行动：列出问题所需能力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D4A32-8CF7-4292-BAF9-07A2238D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L15    6/6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16785000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2026-09-20T08:22:11.6890000Z</dcterms:created>
  <dcterms:modified xsi:type="dcterms:W3CDTF">2026-09-20T08:22:11.6890000Z</dcterms:modified>
</coreProperties>
</file>