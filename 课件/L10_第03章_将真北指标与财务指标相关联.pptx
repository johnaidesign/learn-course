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ba5e4eeb784bc1" /><Relationship Type="http://schemas.openxmlformats.org/officeDocument/2006/relationships/extended-properties" Target="/docProps/app.xml" Id="Rb927b27590584f80" /><Relationship Type="http://schemas.openxmlformats.org/officeDocument/2006/relationships/officeDocument" Target="/ppt/presentation.xml" Id="Rc6d3098e61cc48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3df021f53e4c04"/>
  </p:sldMasterIdLst>
  <p:notesMasterIdLst>
    <p:notesMasterId xmlns:r="http://schemas.openxmlformats.org/officeDocument/2006/relationships" r:id="R8b58a0a25e154deb"/>
  </p:notesMasterIdLst>
  <p:sldIdLst>
    <p:sldId xmlns:r="http://schemas.openxmlformats.org/officeDocument/2006/relationships" id="256" r:id="Rf6647566520045c2"/>
    <p:sldId xmlns:r="http://schemas.openxmlformats.org/officeDocument/2006/relationships" id="257" r:id="Re699fb88505c4bda"/>
    <p:sldId xmlns:r="http://schemas.openxmlformats.org/officeDocument/2006/relationships" id="258" r:id="R9b1eae5789f14a0f"/>
    <p:sldId xmlns:r="http://schemas.openxmlformats.org/officeDocument/2006/relationships" id="259" r:id="R0b49845a65b74641"/>
    <p:sldId xmlns:r="http://schemas.openxmlformats.org/officeDocument/2006/relationships" id="260" r:id="R9869db80588447b7"/>
    <p:sldId xmlns:r="http://schemas.openxmlformats.org/officeDocument/2006/relationships" id="261" r:id="R456f7edcdf2b4d50"/>
    <p:sldId xmlns:r="http://schemas.openxmlformats.org/officeDocument/2006/relationships" id="262" r:id="R9bcd4d2c279f49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910cce87f040fa" /><Relationship Type="http://schemas.openxmlformats.org/officeDocument/2006/relationships/slideMaster" Target="/ppt/slideMasters/slideMaster1.xml" Id="R303df021f53e4c04" /><Relationship Type="http://schemas.openxmlformats.org/officeDocument/2006/relationships/notesMaster" Target="/ppt/notesMasters/notesMaster1.xml" Id="R8b58a0a25e154deb" /><Relationship Type="http://schemas.openxmlformats.org/officeDocument/2006/relationships/presProps" Target="/ppt/presProps.xml" Id="R5f514a690ef74c2a" /><Relationship Type="http://schemas.openxmlformats.org/officeDocument/2006/relationships/tableStyles" Target="/ppt/tableStyles.xml" Id="Rc93ff295f1554fa2" /><Relationship Type="http://schemas.openxmlformats.org/officeDocument/2006/relationships/slide" Target="/ppt/slides/slide1.xml" Id="Rf6647566520045c2" /><Relationship Type="http://schemas.openxmlformats.org/officeDocument/2006/relationships/slide" Target="/ppt/slides/slide2.xml" Id="Re699fb88505c4bda" /><Relationship Type="http://schemas.openxmlformats.org/officeDocument/2006/relationships/slide" Target="/ppt/slides/slide3.xml" Id="R9b1eae5789f14a0f" /><Relationship Type="http://schemas.openxmlformats.org/officeDocument/2006/relationships/slide" Target="/ppt/slides/slide4.xml" Id="R0b49845a65b74641" /><Relationship Type="http://schemas.openxmlformats.org/officeDocument/2006/relationships/slide" Target="/ppt/slides/slide5.xml" Id="R9869db80588447b7" /><Relationship Type="http://schemas.openxmlformats.org/officeDocument/2006/relationships/slide" Target="/ppt/slides/slide6.xml" Id="R456f7edcdf2b4d50" /><Relationship Type="http://schemas.openxmlformats.org/officeDocument/2006/relationships/slide" Target="/ppt/slides/slide7.xml" Id="R9bcd4d2c279f49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c37f272a2642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3c822002bf4b00" /><Relationship Type="http://schemas.openxmlformats.org/officeDocument/2006/relationships/notesMaster" Target="/ppt/notesMasters/notesMaster1.xml" Id="R86833ff098034c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ec183b78274fcd" /><Relationship Type="http://schemas.openxmlformats.org/officeDocument/2006/relationships/notesMaster" Target="/ppt/notesMasters/notesMaster1.xml" Id="R314c95f8faea47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569569e9594524" /><Relationship Type="http://schemas.openxmlformats.org/officeDocument/2006/relationships/notesMaster" Target="/ppt/notesMasters/notesMaster1.xml" Id="Re01aec00f79d49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d29de674a44391" /><Relationship Type="http://schemas.openxmlformats.org/officeDocument/2006/relationships/notesMaster" Target="/ppt/notesMasters/notesMaster1.xml" Id="R16caafff525745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1bcd477ffb4137" /><Relationship Type="http://schemas.openxmlformats.org/officeDocument/2006/relationships/notesMaster" Target="/ppt/notesMasters/notesMaster1.xml" Id="Rea22787f6a7841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e2919e77074f20" /><Relationship Type="http://schemas.openxmlformats.org/officeDocument/2006/relationships/notesMaster" Target="/ppt/notesMasters/notesMaster1.xml" Id="R0c97f7e4997944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973c5b677c442b" /><Relationship Type="http://schemas.openxmlformats.org/officeDocument/2006/relationships/notesMaster" Target="/ppt/notesMasters/notesMaster1.xml" Id="Rfd9cf41c6dc148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开场点明本讲是全章收官，把经营指标落到财务。</a:t>
            </a:r>
          </a:p>
          <a:p xmlns:a="http://schemas.openxmlformats.org/drawingml/2006/main">
            <a:r>
              <a:t>对应片段：01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证据：10_书籍/企业精益转型的领导之道/01_章节/CH03-S09 将真北指标与财务指标相关联.md#^llet-ch03-s09-p001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读出“SGA”，不展开英文全称；说明生产率翻倍使成本减半是原书论述，可能需几年。</a:t>
            </a:r>
          </a:p>
          <a:p xmlns:a="http://schemas.openxmlformats.org/drawingml/2006/main">
            <a:r>
              <a:t>对应片段：01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证据：10_书籍/企业精益转型的领导之道/01_章节/CH03-S09 将真北指标与财务指标相关联.md#^llet-ch03-s09-p001-list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读出“六点九分”，说明原书未说明单位，课程不推算；资本密集度是原书论述，不对企业许诺。</a:t>
            </a:r>
          </a:p>
          <a:p xmlns:a="http://schemas.openxmlformats.org/drawingml/2006/main">
            <a:r>
              <a:t>对应片段：02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证据：10_书籍/企业精益转型的领导之道/01_章节/CH03-S09 将真北指标与财务指标相关联.md#^llet-ch03-s09-p002-list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读出“营业收入百分比这一项标注正百分之二百二十一”，按图面原项目名完整保留，不作百分点/收入金额推断；斯坦·阿斯克伦的任职在正文、是原书时点。</a:t>
            </a:r>
          </a:p>
          <a:p xmlns:a="http://schemas.openxmlformats.org/drawingml/2006/main">
            <a:r>
              <a:t>对应片段：03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证据：10_书籍/企业精益转型的领导之道/01_章节/CH03-S09 将真北指标与财务指标相关联.md#^llet-ch03-s09-p003</a:t>
            </a:r>
          </a:p>
          <a:p xmlns:a="http://schemas.openxmlformats.org/drawingml/2006/main">
            <a:r>
              <a:t>证据：10_书籍/企业精益转型的领导之道/01_章节/CH03-S09 将真北指标与财务指标相关联.md#^llet-ch03-s09-p004</a:t>
            </a:r>
          </a:p>
          <a:p xmlns:a="http://schemas.openxmlformats.org/drawingml/2006/main">
            <a:r>
              <a:t>图表出处：10_书籍/企业精益转型的领导之道/03_图表/图3.8.md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说明“G”原书未展开，课程按原样保留；协同效应带来ROI成倍增长；“最好时机”是原书论述，不对企业许诺。</a:t>
            </a:r>
          </a:p>
          <a:p xmlns:a="http://schemas.openxmlformats.org/drawingml/2006/main">
            <a:r>
              <a:t>对应片段：04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证据：10_书籍/企业精益转型的领导之道/01_章节/CH03-S09 将真北指标与财务指标相关联.md#^llet-ch03-s09-p005</a:t>
            </a:r>
          </a:p>
          <a:p xmlns:a="http://schemas.openxmlformats.org/drawingml/2006/main">
            <a:r>
              <a:t>证据：10_书籍/企业精益转型的领导之道/01_章节/CH03-S09 将真北指标与财务指标相关联.md#^llet-ch03-s09-p006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读出“四倍”“百分之九十九”“百分之九十五”。强调这些是作者提出的转型目标，与原书其他小节口径不尽相同，绝非普适要求或十年结果保证。</a:t>
            </a:r>
          </a:p>
          <a:p xmlns:a="http://schemas.openxmlformats.org/drawingml/2006/main">
            <a:r>
              <a:t>对应片段：04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证据：10_书籍/企业精益转型的领导之道/01_章节/CH03-S10 本章总结.md#^llet-ch03-s10-p001</a:t>
            </a:r>
          </a:p>
          <a:p xmlns:a="http://schemas.openxmlformats.org/drawingml/2006/main">
            <a:r>
              <a:t>证据：10_书籍/企业精益转型的领导之道/01_章节/CH03-S10 本章总结.md#^llet-ch03-s10-p002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说明这是整理者设计的练习，请学员填写，不预设答案。</a:t>
            </a:r>
          </a:p>
          <a:p xmlns:a="http://schemas.openxmlformats.org/drawingml/2006/main">
            <a:r>
              <a:t>对应片段：05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证据：10_书籍/企业精益转型的领导之道/01_章节/CH03-S09 将真北指标与财务指标相关联.md#^llet-ch03-s09-p006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56d3c55d44b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47dfe416ec46b4" /><Relationship Type="http://schemas.openxmlformats.org/officeDocument/2006/relationships/slideLayout" Target="/ppt/slideLayouts/slideLayout1.xml" Id="R8381051d96fa4c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81051d96fa4c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345332fb049dd" /><Relationship Type="http://schemas.openxmlformats.org/officeDocument/2006/relationships/notesSlide" Target="/ppt/notesSlides/notesSlide1.xml" Id="R9a5168dc18fd49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74fdb79734ed1" /><Relationship Type="http://schemas.openxmlformats.org/officeDocument/2006/relationships/notesSlide" Target="/ppt/notesSlides/notesSlide2.xml" Id="Rfa6359911c2749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d5e1a49e842ec" /><Relationship Type="http://schemas.openxmlformats.org/officeDocument/2006/relationships/notesSlide" Target="/ppt/notesSlides/notesSlide3.xml" Id="Rcd83dcb794b44c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a7e87ad1146f0" /><Relationship Type="http://schemas.openxmlformats.org/officeDocument/2006/relationships/notesSlide" Target="/ppt/notesSlides/notesSlide4.xml" Id="R766d80f3e31546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ca3afe3c14740" /><Relationship Type="http://schemas.openxmlformats.org/officeDocument/2006/relationships/notesSlide" Target="/ppt/notesSlides/notesSlide5.xml" Id="R51adc40345104b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e844496a84e71" /><Relationship Type="http://schemas.openxmlformats.org/officeDocument/2006/relationships/notesSlide" Target="/ppt/notesSlides/notesSlide6.xml" Id="Rda89ff97922c40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68ed5581a4318" /><Relationship Type="http://schemas.openxmlformats.org/officeDocument/2006/relationships/notesSlide" Target="/ppt/notesSlides/notesSlide7.xml" Id="R1717bcf636704a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4AC61-F2E7-4849-97D0-D402C390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5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将真北指标与财务指标相关联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0BE6C-C427-4939-AD3F-A46A9983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F628D-E2BC-4864-AC63-051B08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本讲要点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803F6-54D7-4DB6-A82B-0C74A90C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真北指标 → 财务指标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同步改善的协同效应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腾出能力用于增长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D7069-0308-4135-AAFC-86C2DFC8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LLET-CH03-S09-v01</a:t>
            </a:r>
          </a:p>
        </p:txBody>
      </p:sp>
    </p:spTree>
    <p:extLst>
      <p:ext uri="{BB962C8B-B14F-4D97-AF65-F5344CB8AC3E}">
        <p14:creationId xmlns:p14="http://schemas.microsoft.com/office/powerpoint/2010/main" val="575012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3DC1E-AF3C-4BD8-B3E8-7DB57C85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利润表：四个项目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利润表项目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与真北指标的关联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销售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质量改进、交付时间改进、新产品研发改进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销售成本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主要由生产率决定（原书论述）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SGA 成本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巨大花费是人的成本（原书缩写，不展开全称）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财务成本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债务下降或证券上升，向好的方向发展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19613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6D9CD-735C-4CBC-A12D-F2DB9099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资产负债表：三个影响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资产负债表项目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与真北指标的关联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营运资金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库存周转率提高 → 所需营运资金降低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固定资本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资本密集度降至行业一半或四分之一（原书论述）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债务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6.9分净边际收益（单位不推断）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401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2C413-E854-4191-9FE7-5C047F56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15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图3.8 壁炉事务所七年精益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028700"/>
          <a:ext xmlns:a="http://schemas.openxmlformats.org/drawingml/2006/main" cx="109728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43295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七年精益后的结果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事故率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−81%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保修成本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−69%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交货时间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6周 → 5天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完整性和及时性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84% → 98%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企业生产率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+38%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存货周转率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+171%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销售/平方英尺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+131%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营业收入百分比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+221%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资产报酬率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+237%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现金流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+519%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FE5FE-A950-4BD2-8D40-74DD01EA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57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HD、Q、D 和 C 驱动所有财务指标</a:t>
            </a:r>
          </a:p>
        </p:txBody>
      </p:sp>
    </p:spTree>
    <p:extLst>
      <p:ext uri="{BB962C8B-B14F-4D97-AF65-F5344CB8AC3E}">
        <p14:creationId xmlns:p14="http://schemas.microsoft.com/office/powerpoint/2010/main" val="678859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C1B53-F0C6-4285-BDFF-7A33691B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协同效应与增长时机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829C5-8A6F-4661-A2E5-0E46F167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四个真北指标要同步推进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成长阶段是精益转型最好时机（原书论述）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真北指标记作 Q、D、C/P、HD、G</a:t>
            </a:r>
          </a:p>
        </p:txBody>
      </p:sp>
    </p:spTree>
    <p:extLst>
      <p:ext uri="{BB962C8B-B14F-4D97-AF65-F5344CB8AC3E}">
        <p14:creationId xmlns:p14="http://schemas.microsoft.com/office/powerpoint/2010/main" val="348040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C8BC2-6B69-4811-91A5-08692960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本章总结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A9134-2D68-403D-9645-A34A753F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生产率提高 4 倍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质量问题减少 99%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交货时间减少 95%；作者提出的转型目标，非普适要求</a:t>
            </a:r>
          </a:p>
        </p:txBody>
      </p:sp>
    </p:spTree>
    <p:extLst>
      <p:ext uri="{BB962C8B-B14F-4D97-AF65-F5344CB8AC3E}">
        <p14:creationId xmlns:p14="http://schemas.microsoft.com/office/powerpoint/2010/main" val="17162255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27653-9CE7-41BA-A2B6-FE919A6C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应用练习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82245-1EF5-481C-A99E-A122B344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真北指标分别影响哪些财务项目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倾向用能力削减成本还是支持增长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本章参考文献见第3章参考文献小节</a:t>
            </a:r>
          </a:p>
        </p:txBody>
      </p:sp>
    </p:spTree>
    <p:extLst>
      <p:ext uri="{BB962C8B-B14F-4D97-AF65-F5344CB8AC3E}">
        <p14:creationId xmlns:p14="http://schemas.microsoft.com/office/powerpoint/2010/main" val="482024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2026-09-19T05:25:00.9880000Z</dcterms:created>
  <dcterms:modified xsi:type="dcterms:W3CDTF">2026-09-19T05:25:00.9880000Z</dcterms:modified>
</coreProperties>
</file>