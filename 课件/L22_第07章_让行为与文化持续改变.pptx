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ffc0c9d13f4e0f" /><Relationship Type="http://schemas.openxmlformats.org/officeDocument/2006/relationships/extended-properties" Target="/docProps/app.xml" Id="R0e687e8634314bcc" /><Relationship Type="http://schemas.openxmlformats.org/officeDocument/2006/relationships/officeDocument" Target="/ppt/presentation.xml" Id="Rb0e48733c90b4c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8253beb1584970"/>
  </p:sldMasterIdLst>
  <p:notesMasterIdLst>
    <p:notesMasterId xmlns:r="http://schemas.openxmlformats.org/officeDocument/2006/relationships" r:id="Rbd36f16fb9b84342"/>
  </p:notesMasterIdLst>
  <p:sldIdLst>
    <p:sldId xmlns:r="http://schemas.openxmlformats.org/officeDocument/2006/relationships" id="256" r:id="R4c4be2980f484613"/>
    <p:sldId xmlns:r="http://schemas.openxmlformats.org/officeDocument/2006/relationships" id="257" r:id="R75e3d28e11da4724"/>
    <p:sldId xmlns:r="http://schemas.openxmlformats.org/officeDocument/2006/relationships" id="258" r:id="R2acb9f41be3b4030"/>
    <p:sldId xmlns:r="http://schemas.openxmlformats.org/officeDocument/2006/relationships" id="259" r:id="R0bf5e3af1a3f4384"/>
    <p:sldId xmlns:r="http://schemas.openxmlformats.org/officeDocument/2006/relationships" id="260" r:id="R7055b5b76a3b4b6f"/>
    <p:sldId xmlns:r="http://schemas.openxmlformats.org/officeDocument/2006/relationships" id="261" r:id="R73b7c558dfd340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7e3c602f824436" /><Relationship Type="http://schemas.openxmlformats.org/officeDocument/2006/relationships/slideMaster" Target="/ppt/slideMasters/slideMaster1.xml" Id="Rd58253beb1584970" /><Relationship Type="http://schemas.openxmlformats.org/officeDocument/2006/relationships/notesMaster" Target="/ppt/notesMasters/notesMaster1.xml" Id="Rbd36f16fb9b84342" /><Relationship Type="http://schemas.openxmlformats.org/officeDocument/2006/relationships/presProps" Target="/ppt/presProps.xml" Id="Rc6befe1a73064c95" /><Relationship Type="http://schemas.openxmlformats.org/officeDocument/2006/relationships/tableStyles" Target="/ppt/tableStyles.xml" Id="Rd960ee6e505f40da" /><Relationship Type="http://schemas.openxmlformats.org/officeDocument/2006/relationships/slide" Target="/ppt/slides/slide1.xml" Id="R4c4be2980f484613" /><Relationship Type="http://schemas.openxmlformats.org/officeDocument/2006/relationships/slide" Target="/ppt/slides/slide2.xml" Id="R75e3d28e11da4724" /><Relationship Type="http://schemas.openxmlformats.org/officeDocument/2006/relationships/slide" Target="/ppt/slides/slide3.xml" Id="R2acb9f41be3b4030" /><Relationship Type="http://schemas.openxmlformats.org/officeDocument/2006/relationships/slide" Target="/ppt/slides/slide4.xml" Id="R0bf5e3af1a3f4384" /><Relationship Type="http://schemas.openxmlformats.org/officeDocument/2006/relationships/slide" Target="/ppt/slides/slide5.xml" Id="R7055b5b76a3b4b6f" /><Relationship Type="http://schemas.openxmlformats.org/officeDocument/2006/relationships/slide" Target="/ppt/slides/slide6.xml" Id="R73b7c558dfd340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16181bdc1547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6edf1ee9674292" /><Relationship Type="http://schemas.openxmlformats.org/officeDocument/2006/relationships/notesMaster" Target="/ppt/notesMasters/notesMaster1.xml" Id="Rf0e41b5d1acc41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bc0c9a06874674" /><Relationship Type="http://schemas.openxmlformats.org/officeDocument/2006/relationships/notesMaster" Target="/ppt/notesMasters/notesMaster1.xml" Id="R05dc3b65cde945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25da0da8114e45" /><Relationship Type="http://schemas.openxmlformats.org/officeDocument/2006/relationships/notesMaster" Target="/ppt/notesMasters/notesMaster1.xml" Id="R841344546c494d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e4b9bf21644f99" /><Relationship Type="http://schemas.openxmlformats.org/officeDocument/2006/relationships/notesMaster" Target="/ppt/notesMasters/notesMaster1.xml" Id="Re5a3298ab91d42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e7d281146245e3" /><Relationship Type="http://schemas.openxmlformats.org/officeDocument/2006/relationships/notesMaster" Target="/ppt/notesMasters/notesMaster1.xml" Id="R967bd942291b4d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4c8927be534b39" /><Relationship Type="http://schemas.openxmlformats.org/officeDocument/2006/relationships/notesMaster" Target="/ppt/notesMasters/notesMaster1.xml" Id="R39c7df4103d24d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页。持续的文化来自反复实践。作者回顾自己的经历后，把研究重点放在怎样维持精益转型的文化。他强调，精益知识需要放在长期实践中，成为组织运行的新方式。本讲把前面的客户关注、真诚沟通、现场观察和指导连起来，思考如何在工作中持续做到。课程建议先选一个具体行为并约定回看，避免写成无法观察的口号。这个简化做法用于学习，不表示一次练习就能完成企业文化转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10_书籍/企业精益转型的领导之道/01_章节/CH07-S00 章首导语.md#^llet-ch07-s00-p004</a:t>
            </a:r>
          </a:p>
          <a:p xmlns:a="http://schemas.openxmlformats.org/drawingml/2006/main">
            <a:r>
              <a:t>10_书籍/企业精益转型的领导之道/01_章节/CH07-S01 定义企业文化.md#^llet-ch07-s01-p001</a:t>
            </a:r>
          </a:p>
          <a:p xmlns:a="http://schemas.openxmlformats.org/drawingml/2006/main">
            <a:r>
              <a:t>10_书籍/企业精益转型的领导之道/01_章节/CH07-S15 本章总结.md#^llet-ch07-s15-p001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。挑战需要与学习和目标联系。原书讨论有意义的挑战，提出目标既要能够实现，也不能过于容易；没有达成时，需要理解不足并寻找前进的办法。作者还强调，真北指标的挑战要与战略方向保持一致。课程据此安排一个学习练习：在现状基础上写下准备改进的目标，并说明所需支持和回看方法。这里不采用统一增长比例，也不把增加压力本身当作培养人才的充分条件，重点是通过实践学习怎样缩小差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10_书籍/企业精益转型的领导之道/01_章节/CH07-S09 完成有意义的挑战.md#^llet-ch07-s09-p001</a:t>
            </a:r>
          </a:p>
          <a:p xmlns:a="http://schemas.openxmlformats.org/drawingml/2006/main">
            <a:r>
              <a:t>10_书籍/企业精益转型的领导之道/01_章节/CH07-S14 挑战你的团队来扩展知识.md#^llet-ch07-s14-p002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页。原书案例：Watlow把文化联系到行为。原书描述，Watlow在早期转型经历困难后，与老师一起落实自己的模式，并努力让员工习惯和行为与期望的模式一致。作者还介绍，与成员一起理解未来方向、缩小个人表现和预期之间的差距，并通过选拔制度支持这个方向。案例帮助我们看到，文化需要联系到实际行为与人的发展。本讲依据第七章正文作概述，详细模式可选读附录B，不编造该案例的量化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10_书籍/企业精益转型的领导之道/01_章节/CH07-S14 挑战你的团队来扩展知识.md#^llet-ch07-s14-p003</a:t>
            </a:r>
          </a:p>
          <a:p xmlns:a="http://schemas.openxmlformats.org/drawingml/2006/main">
            <a:r>
              <a:t>10_书籍/企业精益转型的领导之道/01_章节/CH07-S14 挑战你的团队来扩展知识.md#^llet-ch07-s14-p004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页。参与、培养与持续指导。原书多次强调个人参与和经验积累，提出领导团队先学习，并帮助更多成员在实践中成长。在回顾丰田模式的讨论中，作者把缺乏个人参与列为重要障碍。这并不意味着参加固定场次数就能证明能力已经形成。课程练习关注一个更具体的问题：人是否参与了实际观察和改善，是否学会新的方法，之后能否继续使用。这样的检查帮助把前面单元的人才培养与文化联系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10_书籍/企业精益转型的领导之道/01_章节/CH07-S12 为团队提供个人经验的指导.md#^llet-ch07-s12-p001</a:t>
            </a:r>
          </a:p>
          <a:p xmlns:a="http://schemas.openxmlformats.org/drawingml/2006/main">
            <a:r>
              <a:t>10_书籍/企业精益转型的领导之道/01_章节/CH07-S12 为团队提供个人经验的指导.md#^llet-ch07-s12-p005</a:t>
            </a:r>
          </a:p>
          <a:p xmlns:a="http://schemas.openxmlformats.org/drawingml/2006/main">
            <a:r>
              <a:t>10_书籍/企业精益转型的领导之道/01_章节/CH07-S14 挑战你的团队来扩展知识.md#^llet-ch07-s14-p007-list</a:t>
            </a:r>
          </a:p>
          <a:p xmlns:a="http://schemas.openxmlformats.org/drawingml/2006/main">
            <a:r>
              <a:t>10_书籍/企业精益转型的领导之道/01_章节/CH07-S10 做一个指导者和榜样.md#^llet-ch07-s10-p002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页。工作练习：一个能持续的行为。现在完成共用学习单。选择一个自己能改变的行为，例如发现问题后先到实际过程核对，再与同事讨论。这个例子是整理者设计的应用情境。写明在哪里实践，需要谁支持，什么时候回看，以及准备保留什么事实记录。回看时既记录进步，也记录没有做到的情况和原因。练习不要求制定一套新制度，先形成一个可以讨论和继续改进的具体行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10_书籍/企业精益转型的领导之道/01_章节/CH07-S01 定义企业文化.md#^llet-ch07-s01-p001</a:t>
            </a:r>
          </a:p>
          <a:p xmlns:a="http://schemas.openxmlformats.org/drawingml/2006/main">
            <a:r>
              <a:t>10_书籍/企业精益转型的领导之道/01_章节/CH07-S08 走、看、听和学习（现地现物）.md#^llet-ch07-s08-p001</a:t>
            </a:r>
          </a:p>
          <a:p xmlns:a="http://schemas.openxmlformats.org/drawingml/2006/main">
            <a:r>
              <a:t>10_书籍/企业精益转型的领导之道/01_章节/CH07-S10 做一个指导者和榜样.md#^llet-ch07-s10-p002</a:t>
            </a:r>
          </a:p>
          <a:p xmlns:a="http://schemas.openxmlformats.org/drawingml/2006/main">
            <a:r>
              <a:t>10_书籍/企业精益转型的领导之道/01_章节/CH07-S14 挑战你的团队来扩展知识.md#^llet-ch07-s14-p004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页。单元回顾与全课程行动。领导与文化单元到这里，回顾几个相互联系的动作：关注客户影响，诚实面对事实，到现场学习，帮助他人成长，并持续实践。自测一下，文化口号怎样变成可观察的行为？可以说明遇到什么情境、准备采取什么做法、由谁支持以及怎样回看。请把这个行动与前面各单元的工作记录放在一起，形成自己的改善草案。全课程最后的总结回顾将进一步把这些记录串起来，帮助你选择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10_书籍/企业精益转型的领导之道/01_章节/CH07-S03 服务客户／客户至上.md#^llet-ch07-s03-p001</a:t>
            </a:r>
          </a:p>
          <a:p xmlns:a="http://schemas.openxmlformats.org/drawingml/2006/main">
            <a:r>
              <a:t>10_书籍/企业精益转型的领导之道/01_章节/CH07-S04 无论如何，寻找正确的.md#^llet-ch07-s04-p001</a:t>
            </a:r>
          </a:p>
          <a:p xmlns:a="http://schemas.openxmlformats.org/drawingml/2006/main">
            <a:r>
              <a:t>10_书籍/企业精益转型的领导之道/01_章节/CH07-S08 走、看、听和学习（现地现物）.md#^llet-ch07-s08-p001</a:t>
            </a:r>
          </a:p>
          <a:p xmlns:a="http://schemas.openxmlformats.org/drawingml/2006/main">
            <a:r>
              <a:t>10_书籍/企业精益转型的领导之道/01_章节/CH07-S10 做一个指导者和榜样.md#^llet-ch07-s10-p002</a:t>
            </a:r>
          </a:p>
          <a:p xmlns:a="http://schemas.openxmlformats.org/drawingml/2006/main">
            <a:r>
              <a:t>10_书籍/企业精益转型的领导之道/01_章节/CH07-S15 本章总结.md#^llet-ch07-s15-p001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188e0b57b346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aac15850f64386" /><Relationship Type="http://schemas.openxmlformats.org/officeDocument/2006/relationships/slideLayout" Target="/ppt/slideLayouts/slideLayout1.xml" Id="Rb6409e38450448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409e38450448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b44abb78849fe" /><Relationship Type="http://schemas.openxmlformats.org/officeDocument/2006/relationships/notesSlide" Target="/ppt/notesSlides/notesSlide1.xml" Id="R1b04b386851049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581f63ba140c0" /><Relationship Type="http://schemas.openxmlformats.org/officeDocument/2006/relationships/notesSlide" Target="/ppt/notesSlides/notesSlide2.xml" Id="R6183e24c74394d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2443665c74a48" /><Relationship Type="http://schemas.openxmlformats.org/officeDocument/2006/relationships/notesSlide" Target="/ppt/notesSlides/notesSlide3.xml" Id="R211e99d82bef4d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94ba34abe4e14" /><Relationship Type="http://schemas.openxmlformats.org/officeDocument/2006/relationships/notesSlide" Target="/ppt/notesSlides/notesSlide4.xml" Id="R8076f51596434b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e57b8d4274696" /><Relationship Type="http://schemas.openxmlformats.org/officeDocument/2006/relationships/notesSlide" Target="/ppt/notesSlides/notesSlide5.xml" Id="R8362793c581c42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60a2de46f4db1" /><Relationship Type="http://schemas.openxmlformats.org/officeDocument/2006/relationships/notesSlide" Target="/ppt/notesSlides/notesSlide6.xml" Id="R77c1cc071e4046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FB6A1-FCE3-451A-8627-8E32D07C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持续的文化来自反复实践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6AEFD-F457-4758-AF39-9A010D39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期望的文化要落实为日常行为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BAB16A-E5E7-4793-A361-52B6861B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领导者需要持续支持学习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DF868-DAE3-4BC7-BD22-97675F2C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不能只用宣讲次数判断改变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523D3-094B-41E8-A7C7-EA064B59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L22    1/6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12770588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5C509-8F12-4844-955F-55BD89CA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挑战需要与学习和目标联系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4A5C6-651B-4ECF-BA40-E22F6A01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目标应有挑战，也要可以推进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551CC-D533-48B7-A60A-E40C1CB9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未达成时反思差距与下一步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C96D2-1CAB-44A0-9167-227A9B86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让真北目标与战略方向保持一致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15BE7-C5B3-4F0D-B3ED-E0DCF9B0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L22    2/6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8887877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1F400-FFD9-476E-AE60-52E33245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原书案例：Watlow把文化联系到行为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A78FE-B9AB-4C56-B964-B35CF50E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形成自己期望的文化模式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64BE6-DB7B-4523-A2DB-8B41948E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与成员一起认识并缩小差距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12190-D72B-472E-97E4-71AB858E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通过培养与选拔支持方向一致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3B8DC-A067-437B-A9A9-C272C4D8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L22    3/6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17705044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0F128-7F67-425A-A391-B80F678A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参与、培养与持续指导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96493-2EC5-45B5-857A-2EAA80E9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领导团队先积累实际经验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CA324-6AAA-442E-96EF-6BA29A38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让更多成员有机会学习和参与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DF2DE-745C-4F1B-A92E-5950A3A1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回看人的成长与行为是否保持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10BC8-8AEB-473F-AF07-29AF0EB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L22    4/6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8807139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4812B-3A25-4F1C-8CCF-5CA0C7D6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工作练习：一个能持续的行为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E0B9E-C6B3-4871-BCE3-75CC41C8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选一项自己可以改变的日常做法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EAF09-9137-4732-902F-F54D66E3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说明实践机会、指导和回看日期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B2632-3B97-4299-AEF7-E4EBF110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用事实记录变化与仍需改进的地方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53F47-833F-45CC-85E3-761835E4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L22    5/6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18480062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AEA82-4CB5-4E6E-BE55-F6888453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单元回顾与全课程行动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03419-E715-446D-9A98-878CF438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回顾：客户、事实、现场、指导与持续实践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FB16C-9593-467D-AE4D-8C3E318C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自测：文化口号怎样变成可观察的行为？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18132-4D08-4036-A84D-E1D049C7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行动：保留学习单，形成自己的改善草案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9D2CE-FAA5-45D8-9869-A67BAA12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L22    6/6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804999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2026-09-20T10:49:25.2540000Z</dcterms:created>
  <dcterms:modified xsi:type="dcterms:W3CDTF">2026-09-20T10:49:25.2540000Z</dcterms:modified>
</coreProperties>
</file>