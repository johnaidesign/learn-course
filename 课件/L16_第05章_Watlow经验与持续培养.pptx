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a0a63e7b7b4194" /><Relationship Type="http://schemas.openxmlformats.org/officeDocument/2006/relationships/extended-properties" Target="/docProps/app.xml" Id="R3ac7556c68a34904" /><Relationship Type="http://schemas.openxmlformats.org/officeDocument/2006/relationships/officeDocument" Target="/ppt/presentation.xml" Id="R47c29d52a3c141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ce949591cf4f59"/>
  </p:sldMasterIdLst>
  <p:notesMasterIdLst>
    <p:notesMasterId xmlns:r="http://schemas.openxmlformats.org/officeDocument/2006/relationships" r:id="R9a607e0ed2f64918"/>
  </p:notesMasterIdLst>
  <p:sldIdLst>
    <p:sldId xmlns:r="http://schemas.openxmlformats.org/officeDocument/2006/relationships" id="256" r:id="Ra5d4f0c919d64d5f"/>
    <p:sldId xmlns:r="http://schemas.openxmlformats.org/officeDocument/2006/relationships" id="257" r:id="R969328ebb93c4c0d"/>
    <p:sldId xmlns:r="http://schemas.openxmlformats.org/officeDocument/2006/relationships" id="258" r:id="R797a728ad2ea4f5c"/>
    <p:sldId xmlns:r="http://schemas.openxmlformats.org/officeDocument/2006/relationships" id="259" r:id="R5ea21f61c1cc48dc"/>
    <p:sldId xmlns:r="http://schemas.openxmlformats.org/officeDocument/2006/relationships" id="260" r:id="Rb2d6b26ea2bc45c1"/>
    <p:sldId xmlns:r="http://schemas.openxmlformats.org/officeDocument/2006/relationships" id="261" r:id="R2de320e9f48942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1426bcbdf14b07" /><Relationship Type="http://schemas.openxmlformats.org/officeDocument/2006/relationships/slideMaster" Target="/ppt/slideMasters/slideMaster1.xml" Id="Rb0ce949591cf4f59" /><Relationship Type="http://schemas.openxmlformats.org/officeDocument/2006/relationships/notesMaster" Target="/ppt/notesMasters/notesMaster1.xml" Id="R9a607e0ed2f64918" /><Relationship Type="http://schemas.openxmlformats.org/officeDocument/2006/relationships/presProps" Target="/ppt/presProps.xml" Id="Raa2f9bc9032c4fc3" /><Relationship Type="http://schemas.openxmlformats.org/officeDocument/2006/relationships/tableStyles" Target="/ppt/tableStyles.xml" Id="Rafa805a77ff84f55" /><Relationship Type="http://schemas.openxmlformats.org/officeDocument/2006/relationships/slide" Target="/ppt/slides/slide1.xml" Id="Ra5d4f0c919d64d5f" /><Relationship Type="http://schemas.openxmlformats.org/officeDocument/2006/relationships/slide" Target="/ppt/slides/slide2.xml" Id="R969328ebb93c4c0d" /><Relationship Type="http://schemas.openxmlformats.org/officeDocument/2006/relationships/slide" Target="/ppt/slides/slide3.xml" Id="R797a728ad2ea4f5c" /><Relationship Type="http://schemas.openxmlformats.org/officeDocument/2006/relationships/slide" Target="/ppt/slides/slide4.xml" Id="R5ea21f61c1cc48dc" /><Relationship Type="http://schemas.openxmlformats.org/officeDocument/2006/relationships/slide" Target="/ppt/slides/slide5.xml" Id="Rb2d6b26ea2bc45c1" /><Relationship Type="http://schemas.openxmlformats.org/officeDocument/2006/relationships/slide" Target="/ppt/slides/slide6.xml" Id="R2de320e9f48942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f9caa90f6143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44b91682e74fc1" /><Relationship Type="http://schemas.openxmlformats.org/officeDocument/2006/relationships/notesMaster" Target="/ppt/notesMasters/notesMaster1.xml" Id="R4360a97f8fa54b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da9b5af1844ad4" /><Relationship Type="http://schemas.openxmlformats.org/officeDocument/2006/relationships/notesMaster" Target="/ppt/notesMasters/notesMaster1.xml" Id="Red514c21eb1947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7ec4b53aa4141" /><Relationship Type="http://schemas.openxmlformats.org/officeDocument/2006/relationships/notesMaster" Target="/ppt/notesMasters/notesMaster1.xml" Id="R509273c4c59c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e81908068340b1" /><Relationship Type="http://schemas.openxmlformats.org/officeDocument/2006/relationships/notesMaster" Target="/ppt/notesMasters/notesMaster1.xml" Id="Rdff2ac7498b445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83611b5e0f4e7a" /><Relationship Type="http://schemas.openxmlformats.org/officeDocument/2006/relationships/notesMaster" Target="/ppt/notesMasters/notesMaster1.xml" Id="Rd1713324af5948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92593987ee4c64" /><Relationship Type="http://schemas.openxmlformats.org/officeDocument/2006/relationships/notesMaster" Target="/ppt/notesMasters/notesMaster1.xml" Id="R77af14f824bc4a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让支持、培养与调配连起来。这是本单元最后一讲。前两讲讨论活动节奏与团队人选，现在要把支持、培养和调配连起来。先看第五章的Watlow经验，再看人员调配与培训。第三章也有这家企业的报价和样件流程案例，但本讲的年度人员支持记录是另一组材料，不能拼成同一次实验。学完后，你要能为自己的工作提出一个小范围学习与支持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10_书籍/企业精益转型的领导之道/01_章节/CH05-S07 Watlow 的 3% 经验.md#^llet-ch05-s07-p002</a:t>
            </a:r>
          </a:p>
          <a:p xmlns:a="http://schemas.openxmlformats.org/drawingml/2006/main">
            <a:r>
              <a:t>10_书籍/企业精益转型的领导之道/01_章节/CH05-S09 调配.md#^llet-ch05-s09-p003</a:t>
            </a:r>
          </a:p>
          <a:p xmlns:a="http://schemas.openxmlformats.org/drawingml/2006/main">
            <a:r>
              <a:t>10_书籍/企业精益转型的领导之道/01_章节/CH05-S10 其他精益培训.md#^llet-ch05-s10-p001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Watlow：全职支持比例逐年变化。原书报告，全职精益团队占员工的比例，二〇〇五年百分之一点四，二〇〇六年百分之一点七，二〇〇七年百分之二点三，二〇〇八年百分之二点七，二〇〇九年百分之三点一。书中还说明二〇〇九年五月达到百分之三目标。这是一段逐步建立支持能力的过程。数字是人员比例，不是利润率，也不是改善达成率。保留年份是为了看清过程，而不是让学员背下五个数字套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10_书籍/企业精益转型的领导之道/01_章节/CH05-S07 Watlow 的 3% 经验.md#^llet-ch05-s07-p003</a:t>
            </a:r>
          </a:p>
          <a:p xmlns:a="http://schemas.openxmlformats.org/drawingml/2006/main">
            <a:r>
              <a:t>10_书籍/企业精益转型的领导之道/01_章节/CH05-S07 Watlow 的 3% 经验.md#^llet-ch05-s07-p004</a:t>
            </a:r>
          </a:p>
          <a:p xmlns:a="http://schemas.openxmlformats.org/drawingml/2006/main">
            <a:r>
              <a:t>10_书籍/企业精益转型的领导之道/01_章节/CH05-S07 Watlow 的 3% 经验.md#^llet-ch05-s07-p005</a:t>
            </a:r>
          </a:p>
          <a:p xmlns:a="http://schemas.openxmlformats.org/drawingml/2006/main">
            <a:r>
              <a:t>10_书籍/企业精益转型的领导之道/01_章节/CH05-S07 Watlow 的 3% 经验.md#^llet-ch05-s07-p006</a:t>
            </a:r>
          </a:p>
          <a:p xmlns:a="http://schemas.openxmlformats.org/drawingml/2006/main">
            <a:r>
              <a:t>10_书籍/企业精益转型的领导之道/01_章节/CH05-S07 Watlow 的 3% 经验.md#^llet-ch05-s07-p007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数量之外，还要看能力能否接续。二〇〇七年的记述提到文化与人才培育，二〇〇八年把真北指标、目标和工作责任连接起来，二〇〇九年则提到成员晋升后，支持和教学承受压力。支持能力不仅是人数，还包括经验能否积累、导师能否接续。作者用这些经验说明专职支持的重要性，但不能据此断言每个组织达到百分之三必定成功，或者不足百分之三必定失败。原书本节有一个未给全称的缩写，本课直接讲支持和教学，不替它编造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10_书籍/企业精益转型的领导之道/01_章节/CH05-S07 Watlow 的 3% 经验.md#^llet-ch05-s07-p005</a:t>
            </a:r>
          </a:p>
          <a:p xmlns:a="http://schemas.openxmlformats.org/drawingml/2006/main">
            <a:r>
              <a:t>10_书籍/企业精益转型的领导之道/01_章节/CH05-S07 Watlow 的 3% 经验.md#^llet-ch05-s07-p006</a:t>
            </a:r>
          </a:p>
          <a:p xmlns:a="http://schemas.openxmlformats.org/drawingml/2006/main">
            <a:r>
              <a:t>10_书籍/企业精益转型的领导之道/01_章节/CH05-S07 Watlow 的 3% 经验.md#^llet-ch05-s07-p007</a:t>
            </a:r>
          </a:p>
          <a:p xmlns:a="http://schemas.openxmlformats.org/drawingml/2006/main">
            <a:r>
              <a:t>10_书籍/企业精益转型的领导之道/01_章节/CH05-S07 Watlow 的 3% 经验.md#^llet-ch05-s07-p008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调配：改善之后，能力去哪里？。原书介绍的一种思路，是过程改善释放人员能力后，把优秀成员安排到新的工作或改善任务，让团队看到发展机会。暂时没有合适岗位时，可参加专职改善小组或为未来岗位培训。我们学习的是改善之后考虑人员发展和能力去向，而不只计算少用了多少人。同节译文有解雇措辞和一处未完成的句子，与重新部署的叙述需要区分。本课不据此讲裁员步骤，也不补造缺失结论；实际人员安排应在具体组织中充分沟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10_书籍/企业精益转型的领导之道/01_章节/CH05-S09 调配.md#^llet-ch05-s09-p003</a:t>
            </a:r>
          </a:p>
          <a:p xmlns:a="http://schemas.openxmlformats.org/drawingml/2006/main">
            <a:r>
              <a:t>10_书籍/企业精益转型的领导之道/01_章节/CH05-S09 调配.md#^llet-ch05-s09-p005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培训：三类对象，共同落到实践。作者建议所有员工学习基本原则和概念，可以分散在几个星期或几个月中；专职团队要理解新角色和工作，也需要老师指导；高层领导可以阅读、讨论和参加研讨，但最深学习仍来自活动中的亲身经验。书中HON的学习路线图是一种游戏板式教学安排，和本课程的可点击导航不是同一件工具。我们借鉴便于理解和联系工作的目的，不宣称复刻原书整套培训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10_书籍/企业精益转型的领导之道/01_章节/CH05-S10 其他精益培训.md#^llet-ch05-s10-p002</a:t>
            </a:r>
          </a:p>
          <a:p xmlns:a="http://schemas.openxmlformats.org/drawingml/2006/main">
            <a:r>
              <a:t>10_书籍/企业精益转型的领导之道/01_章节/CH05-S10 其他精益培训.md#^llet-ch05-s10-p003</a:t>
            </a:r>
          </a:p>
          <a:p xmlns:a="http://schemas.openxmlformats.org/drawingml/2006/main">
            <a:r>
              <a:t>10_书籍/企业精益转型的领导之道/01_章节/CH05-S10 其他精益培训.md#^llet-ch05-s10-p004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单元收尾：一个人、一个问题、一次复盘。最后把三讲连起来：持续改善需要稳定支持，支持过程也应培养人才，释放出来的能力需要新的用途。请暂停，在工作学习单选择一个真实问题，写下要学的技能、可以请教的人和一次小范围观察或实践安排。不要虚构成果，未知写待观察。自测答案是：听完课、看完PPT不等于掌握改善，还要观察、尝试并复盘。你的下一步可以是与有经验的同事共同观察一次流程，约定何时讨论问题。这是整理者设计的学习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10_书籍/企业精益转型的领导之道/01_章节/CH05-S10 其他精益培训.md#^llet-ch05-s10-p004</a:t>
            </a:r>
          </a:p>
          <a:p xmlns:a="http://schemas.openxmlformats.org/drawingml/2006/main">
            <a:r>
              <a:t>10_书籍/企业精益转型的领导之道/01_章节/CH05-S11 本章总结.md#^llet-ch05-s11-p002-list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79a8141a344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b8e6f6f074433a" /><Relationship Type="http://schemas.openxmlformats.org/officeDocument/2006/relationships/slideLayout" Target="/ppt/slideLayouts/slideLayout1.xml" Id="R8bb9dfa94eea42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b9dfa94eea42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4ebb3a40b45d7" /><Relationship Type="http://schemas.openxmlformats.org/officeDocument/2006/relationships/notesSlide" Target="/ppt/notesSlides/notesSlide1.xml" Id="R2004c2d482964e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faa1c9e7b43b0" /><Relationship Type="http://schemas.openxmlformats.org/officeDocument/2006/relationships/notesSlide" Target="/ppt/notesSlides/notesSlide2.xml" Id="Rcef7756d47e444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b7d13ec544a4f" /><Relationship Type="http://schemas.openxmlformats.org/officeDocument/2006/relationships/notesSlide" Target="/ppt/notesSlides/notesSlide3.xml" Id="Rb98c5e405b9849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664e6ae8b4457" /><Relationship Type="http://schemas.openxmlformats.org/officeDocument/2006/relationships/notesSlide" Target="/ppt/notesSlides/notesSlide4.xml" Id="Rec5ce456571441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fd04fad884f50" /><Relationship Type="http://schemas.openxmlformats.org/officeDocument/2006/relationships/notesSlide" Target="/ppt/notesSlides/notesSlide5.xml" Id="R559e5186464b40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18e02ae234532" /><Relationship Type="http://schemas.openxmlformats.org/officeDocument/2006/relationships/notesSlide" Target="/ppt/notesSlides/notesSlide6.xml" Id="Rc548cbb736ec4b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EEB27-778A-426D-927D-43AB67B5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让支持、培养与调配连起来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B16D8-F823-480F-883F-DE839773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支持改善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9290C-A839-4CD2-82A2-12960A5E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培养人才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7CA3C-B9F4-42D8-9DCA-7E50754A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为释放出的能力安排去向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FC03A-4D49-4120-B426-7AA26A31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1/6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371754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32040-2F0F-410C-935C-A23C55D1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Watlow：全职支持比例逐年变化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984C2-B377-4697-A40D-3EB8DA89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2005：1.4%；2006：1.7%；2007：2.3%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FE4F7-0BE5-4B23-ACAA-6918542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2008：2.7%；2009：3.1%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500A2-64CE-47FE-A72E-0DD12665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原书：2009年5月达到3%目标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E0723-8E3F-47FA-9892-476C92E6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2/6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911699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75ACB-41CC-4570-8CC4-88028DC1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数量之外，还要看能力能否接续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A595B-0DD3-41B1-B85B-C4F13285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目标与人才培育相连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3A320-33F0-459B-A4AD-9E84D3DC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成员晋升后仍需补充支持能力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F853F-DF00-40B1-A5D4-4C13ED76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经验关联不是固定因果阈值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1B95B-012B-4584-AB1A-C3CB4507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3/6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527873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000EB-2AA0-479D-947C-5A1C2F2C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调配：改善之后，能力去哪里？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E4F01-6032-4C4C-8528-F906D08F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原书讨论重新部署与新工作机会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EF8A6-2D9C-4EC7-AE99-F1559197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暂时没有岗位时安排学习或改善工作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6946F-E731-41FE-8884-3BAF5319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不将歧义句变成人事指令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7D77C-E61D-4FBB-B0E6-46E630CA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4/6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595336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B3511-A4F4-4B6A-A9C8-8D7253FB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培训：三类对象，共同落到实践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EDFD6-85E2-4BB3-B2DA-AE1944F3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所有员工：原则与基本概念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325A0-9E00-476C-9490-DCCE215C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专职团队：角色与专业能力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62F73-DC67-4634-9406-926BC043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高层领导：阅读讨论与亲身实践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DCC45-3439-4A36-8A35-0E8A1760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5/6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227693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EACE9-982E-442E-B57D-C3516BFB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单元收尾：一个人、一个问题、一次复盘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49508-B270-4D27-BDC6-52C8716F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3个要点：支持不断、人才成长、能力有去向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0AABB-101A-4375-B361-D88CF80B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自测：听完课就掌握改善了吗？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3FCE7-6CF4-49E8-B9C7-C94FC04E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行动：一次带问题的实践学习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CA307-BF5E-4871-A238-34953B4D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6/6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2096848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2026-09-20T08:22:40.1730000Z</dcterms:created>
  <dcterms:modified xsi:type="dcterms:W3CDTF">2026-09-20T08:22:40.1730000Z</dcterms:modified>
</coreProperties>
</file>