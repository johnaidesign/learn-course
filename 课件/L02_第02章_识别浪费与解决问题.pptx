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943213a9440a4" /><Relationship Type="http://schemas.openxmlformats.org/officeDocument/2006/relationships/extended-properties" Target="/docProps/app.xml" Id="Rc9c7176951d84d80" /><Relationship Type="http://schemas.openxmlformats.org/officeDocument/2006/relationships/officeDocument" Target="/ppt/presentation.xml" Id="Rbd9cf385d94448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157ad2582b47c9"/>
  </p:sldMasterIdLst>
  <p:notesMasterIdLst>
    <p:notesMasterId xmlns:r="http://schemas.openxmlformats.org/officeDocument/2006/relationships" r:id="R95c2327498314ebc"/>
  </p:notesMasterIdLst>
  <p:sldIdLst>
    <p:sldId xmlns:r="http://schemas.openxmlformats.org/officeDocument/2006/relationships" id="256" r:id="R2b51845ec97a4f83"/>
    <p:sldId xmlns:r="http://schemas.openxmlformats.org/officeDocument/2006/relationships" id="257" r:id="Rb56f2d256b6b4a01"/>
    <p:sldId xmlns:r="http://schemas.openxmlformats.org/officeDocument/2006/relationships" id="258" r:id="R72e1a83e30ff462b"/>
    <p:sldId xmlns:r="http://schemas.openxmlformats.org/officeDocument/2006/relationships" id="259" r:id="R68f3c2a2577a4de9"/>
    <p:sldId xmlns:r="http://schemas.openxmlformats.org/officeDocument/2006/relationships" id="260" r:id="R1c40dda41e644cce"/>
    <p:sldId xmlns:r="http://schemas.openxmlformats.org/officeDocument/2006/relationships" id="261" r:id="R0e83f9e47577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2d8eacdc240f5" /><Relationship Type="http://schemas.openxmlformats.org/officeDocument/2006/relationships/slideMaster" Target="/ppt/slideMasters/slideMaster1.xml" Id="R76157ad2582b47c9" /><Relationship Type="http://schemas.openxmlformats.org/officeDocument/2006/relationships/notesMaster" Target="/ppt/notesMasters/notesMaster1.xml" Id="R95c2327498314ebc" /><Relationship Type="http://schemas.openxmlformats.org/officeDocument/2006/relationships/presProps" Target="/ppt/presProps.xml" Id="R43c8e2fd47234cb6" /><Relationship Type="http://schemas.openxmlformats.org/officeDocument/2006/relationships/tableStyles" Target="/ppt/tableStyles.xml" Id="R6c863b0d612c4c15" /><Relationship Type="http://schemas.openxmlformats.org/officeDocument/2006/relationships/slide" Target="/ppt/slides/slide1.xml" Id="R2b51845ec97a4f83" /><Relationship Type="http://schemas.openxmlformats.org/officeDocument/2006/relationships/slide" Target="/ppt/slides/slide2.xml" Id="Rb56f2d256b6b4a01" /><Relationship Type="http://schemas.openxmlformats.org/officeDocument/2006/relationships/slide" Target="/ppt/slides/slide3.xml" Id="R72e1a83e30ff462b" /><Relationship Type="http://schemas.openxmlformats.org/officeDocument/2006/relationships/slide" Target="/ppt/slides/slide4.xml" Id="R68f3c2a2577a4de9" /><Relationship Type="http://schemas.openxmlformats.org/officeDocument/2006/relationships/slide" Target="/ppt/slides/slide5.xml" Id="R1c40dda41e644cce" /><Relationship Type="http://schemas.openxmlformats.org/officeDocument/2006/relationships/slide" Target="/ppt/slides/slide6.xml" Id="R0e83f9e47577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3050adbdd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c07dc874bb4032" /><Relationship Type="http://schemas.openxmlformats.org/officeDocument/2006/relationships/notesMaster" Target="/ppt/notesMasters/notesMaster1.xml" Id="Rf01a7044d1e644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36425fe0394459" /><Relationship Type="http://schemas.openxmlformats.org/officeDocument/2006/relationships/notesMaster" Target="/ppt/notesMasters/notesMaster1.xml" Id="Re9edc52cf0e54c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55a9e78f94057" /><Relationship Type="http://schemas.openxmlformats.org/officeDocument/2006/relationships/notesMaster" Target="/ppt/notesMasters/notesMaster1.xml" Id="R2918716e0c3c41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ef78979e3d4b0c" /><Relationship Type="http://schemas.openxmlformats.org/officeDocument/2006/relationships/notesMaster" Target="/ppt/notesMasters/notesMaster1.xml" Id="Ra60b78c4c54742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115ec0d104a4c" /><Relationship Type="http://schemas.openxmlformats.org/officeDocument/2006/relationships/notesMaster" Target="/ppt/notesMasters/notesMaster1.xml" Id="R3633f4dbce8542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084a41a7034fd2" /><Relationship Type="http://schemas.openxmlformats.org/officeDocument/2006/relationships/notesMaster" Target="/ppt/notesMasters/notesMaster1.xml" Id="R164fc3aa574543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从忙碌中看见过程。上一讲已经选定一个具体工作问题。这一讲练习看见过程中的浪费，并区分暂时处理和根源解决。作者认为，七大浪费的价值在于帮助我们改变看工作的角度。仅凭一张分类表，并不能知道自己现场的问题。先记录一项工作经历哪些步骤、发生哪些交接，再看每一步怎样影响客户需要。这里的现场可以是车间，也可以是实际处理资料和交付服务的工作位置。练习的目标是形成一个可以继续查证的问题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10_书籍/企业精益转型的领导之道/01_章节/CH02-S03 识别和消除浪费.md#^llet-ch02-s03-p004</a:t>
            </a:r>
          </a:p>
          <a:p xmlns:a="http://schemas.openxmlformats.org/drawingml/2006/main">
            <a:r>
              <a:t>10_书籍/企业精益转型的领导之道/01_章节/CH02-S03 识别和消除浪费.md#^llet-ch02-s03-p005</a:t>
            </a:r>
          </a:p>
          <a:p xmlns:a="http://schemas.openxmlformats.org/drawingml/2006/main">
            <a:r>
              <a:t>10_书籍/企业精益转型的领导之道/01_章节/CH02-S03 识别和消除浪费.md#^llet-ch02-s03-p007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七大浪费：帮助自己观察。原书列出七类：生产过剩、产品缺陷、搬运或运输、库存、过度加工、等待时间、不必要的动作。先不急着给每个步骤贴标签。以资料交付为学习情境，资料反复返还可以提示我们观察缺陷和返工，排队等待处理可以提示我们记录等待，重复录入则需要进一步了解它的用途。这些是整理者举的观察例子，不是原书企业的测量结果。同一步可能有不同解释，分类只是提出问题的起点，仍要查看真实过程及接收者的需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10_书籍/企业精益转型的领导之道/01_章节/CH02-S03 识别和消除浪费.md#^llet-ch02-s03-p003-list</a:t>
            </a:r>
          </a:p>
          <a:p xmlns:a="http://schemas.openxmlformats.org/drawingml/2006/main">
            <a:r>
              <a:t>10_书籍/企业精益转型的领导之道/01_章节/CH02-S03 识别和消除浪费.md#^llet-ch02-s03-p004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诊所流程中的非增值活动。原书用医院集团的诊所流程说明如何识别非增值活动，图二点一可从本讲的知识入口查看。作者建议思考：客户是否愿意为这一步付费，如果做两次，客户是否愿意支付两次费用。同时，他明确提醒，并非所有非增值步骤都能删除。因此本讲只用案例学习逐步观察，不从图中的底纹直接推断哪些步骤必须取消，也不编造减少了多少时间。回到自己的工作，先写下一项值得追问的步骤，再了解它为什么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10_书籍/企业精益转型的领导之道/01_章节/CH02-S03 识别和消除浪费.md#^llet-ch02-s03-p006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暂时控制与根因解决。第二章强调，表面问题处理后反复出现，说明还需要在根源层面解决。附录中的企业案例提供了进一步的理解：临时控制是为了防止问题继续影响公司和客户，要保持到团队能证明根源已排除；寻找根因需要训练和指导，不能一开始就带着预设答案。本页摘取附录八步方法中的几个环节帮助理解，不是用三个要点替代完整方法。附录A的五个为什么也可作为追问的工具；整理者提醒，连续追问之后仍要核实事实和评估结果，不能只凭问了五遍宣布问题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10_书籍/企业精益转型的领导之道/01_章节/CH02-S04 一个问题识别和问题解决系统.md#^llet-ch02-s04-p001</a:t>
            </a:r>
          </a:p>
          <a:p xmlns:a="http://schemas.openxmlformats.org/drawingml/2006/main">
            <a:r>
              <a:t>10_书籍/企业精益转型的领导之道/01_章节/APG-S09 第三步：实施控制行动.md#^llet-apG-s09-p001</a:t>
            </a:r>
          </a:p>
          <a:p xmlns:a="http://schemas.openxmlformats.org/drawingml/2006/main">
            <a:r>
              <a:t>10_书籍/企业精益转型的领导之道/01_章节/APG-S10 第四步：确定根本原因.md#^llet-apG-s10-p003</a:t>
            </a:r>
          </a:p>
          <a:p xmlns:a="http://schemas.openxmlformats.org/drawingml/2006/main">
            <a:r>
              <a:t>10_书籍/企业精益转型的领导之道/01_章节/APG-S12 第六步：评估结果.md#^llet-apG-s12-p001</a:t>
            </a:r>
          </a:p>
          <a:p xmlns:a="http://schemas.openxmlformats.org/drawingml/2006/main">
            <a:r>
              <a:t>10_书籍/企业精益转型的领导之道/01_章节/APA-S07 五个为什么.md#^llet-apA-s07-p001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把问题说清楚。请暂停音频，继续使用上一讲的工作问题。附录G描述问题时提出四个问题：问题是什么，我们怎么度量，怎样定义问题解决，以及当前流程或产品处于什么状态。用这四个问题补齐学习单。再写上上次采取了什么处理，后来是否复发。原因还不清楚时，写成待验证的猜测，并列出下一步准备观察什么。把事实和猜测分开记录，是本课的练习安排。此时不需要复杂报表，能让另一个人看懂问题与判断依据，就可以继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10_书籍/企业精益转型的领导之道/01_章节/APG-S08 第二步：描述问题.md#^llet-apG-s08-p001</a:t>
            </a:r>
          </a:p>
          <a:p xmlns:a="http://schemas.openxmlformats.org/drawingml/2006/main">
            <a:r>
              <a:t>10_书籍/企业精益转型的领导之道/01_章节/APG-S08 第二步：描述问题.md#^llet-apG-s08-p002-list</a:t>
            </a:r>
          </a:p>
          <a:p xmlns:a="http://schemas.openxmlformats.org/drawingml/2006/main">
            <a:r>
              <a:t>10_书籍/企业精益转型的领导之道/01_章节/APG-S08 第二步：描述问题.md#^llet-apG-s08-p003</a:t>
            </a:r>
          </a:p>
          <a:p xmlns:a="http://schemas.openxmlformats.org/drawingml/2006/main">
            <a:r>
              <a:t>10_书籍/企业精益转型的领导之道/01_章节/APG-S10 第四步：确定根本原因.md#^llet-apG-s10-p003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单元小结与下一步。理解精益这个单元，到这里先收在三个动作上：看实际过程，追问问题原因，用结果检查改善。自测一下，资料漏发后立刻补发，是否就证明根因解决？补发可能先控制了影响，是否解决根因，还要看漏发原因有没有查明，以及后续结果是否支持判断。这个例子是教学练习。下一步，请记录一次真实交付，保留现状与后续观察，不急着承诺改善幅度。接着进入目标与度量单元，用更清楚的指标来描述问题和检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10_书籍/企业精益转型的领导之道/01_章节/APG-S09 第三步：实施控制行动.md#^llet-apG-s09-p001</a:t>
            </a:r>
          </a:p>
          <a:p xmlns:a="http://schemas.openxmlformats.org/drawingml/2006/main">
            <a:r>
              <a:t>10_书籍/企业精益转型的领导之道/01_章节/APG-S12 第六步：评估结果.md#^llet-apG-s12-p001</a:t>
            </a:r>
          </a:p>
          <a:p xmlns:a="http://schemas.openxmlformats.org/drawingml/2006/main">
            <a:r>
              <a:t>10_书籍/企业精益转型的领导之道/01_章节/CH02-S04 一个问题识别和问题解决系统.md#^llet-ch02-s04-p001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8817c417d49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48e107db83411a" /><Relationship Type="http://schemas.openxmlformats.org/officeDocument/2006/relationships/slideLayout" Target="/ppt/slideLayouts/slideLayout1.xml" Id="Rd0ea7840955440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a7840955440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405c04e584563" /><Relationship Type="http://schemas.openxmlformats.org/officeDocument/2006/relationships/notesSlide" Target="/ppt/notesSlides/notesSlide1.xml" Id="R6496230aa1ba4e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f2c4e863444d6" /><Relationship Type="http://schemas.openxmlformats.org/officeDocument/2006/relationships/notesSlide" Target="/ppt/notesSlides/notesSlide2.xml" Id="R1d547a3209a9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7866edd2a4b85" /><Relationship Type="http://schemas.openxmlformats.org/officeDocument/2006/relationships/notesSlide" Target="/ppt/notesSlides/notesSlide3.xml" Id="R3981b285fa1345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50b700c544d8d" /><Relationship Type="http://schemas.openxmlformats.org/officeDocument/2006/relationships/notesSlide" Target="/ppt/notesSlides/notesSlide4.xml" Id="Re9ce4bdbba284b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e7732998a43a4" /><Relationship Type="http://schemas.openxmlformats.org/officeDocument/2006/relationships/notesSlide" Target="/ppt/notesSlides/notesSlide5.xml" Id="R2996cea3de08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4bc3148214513" /><Relationship Type="http://schemas.openxmlformats.org/officeDocument/2006/relationships/notesSlide" Target="/ppt/notesSlides/notesSlide6.xml" Id="R6362107b7c9a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21382-0A2A-4320-A542-E78ED071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从忙碌中看见过程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C0E72-AAAF-45B2-BAD9-A2C35A0B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七大浪费是观察的起点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2C0D2-2B19-45F8-8B13-B0CD1903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逐步记录实际工作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C7ECB-0989-4541-97CB-79F9E466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到现场了解发生了什么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2466C-4B2A-4A22-8686-CD210421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1/6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923707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F6C59-F620-4BF8-9777-5FDA04B5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七大浪费：帮助自己观察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697DC-2F7C-41FC-9A8B-F40F2F46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生产过剩、产品缺陷、搬运或运输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E9F08-A7A4-4E16-B4E1-7BC5DE7E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库存、过度加工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75A5B-A6E8-4176-9EBF-0529B488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等待时间、不必要的动作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3CDC0-6577-41B0-8BF9-12AD997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2/6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946509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2DBCD-44E5-4B78-A39E-5B91E9DF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原书案例：诊所流程中的非增值活动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2893C-00E2-4142-8C35-E1A818E4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从客户需要审视每个步骤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C8312-895E-4585-B750-C856AC9E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ThedaCare用流程图识别改进机会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273EA-A18F-4A8B-AD2E-AB1D370F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非增值步骤不能一律直接删除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92DC1-2394-42A2-962C-709E1DA4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3/6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2682758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0542C-0411-4BEF-B55D-418A9BE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暂时控制与根因解决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CDAAF-298F-4265-892A-9D8DB5A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先控制问题造成的影响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1AF71-7824-4ACA-8BBC-49ECE98B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追问原因，避免预设答案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944F-C14A-4CF2-9301-E6485DD7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用事先定义的指标评估结果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F665A-20F3-4E1E-A595-704E8FBB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4/6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2010779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6E8E6-A666-4D78-AA84-39C94A5B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工作练习：把问题说清楚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DD1C0-7D63-45FC-B9D0-BF9D9996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问题是什么，当前状态如何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55840-3E37-431E-85FB-E29D098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怎样度量，怎样算解决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AD80C-4A8C-42F3-BD3A-34F9CC92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分开记录事实、猜测和待核内容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B2A40-0523-42FA-878A-5AB5FBA5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5/6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990576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F7D30-9AA7-4295-BF04-0C79685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单元小结与下一步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AF48E-8871-4838-B2F8-082A4F30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三个要点：看过程、问原因、验结果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7FB11-CCA3-4B14-ADEA-E6D1D1C6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自测：补发一次资料等于解决根因吗？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C5155-47E8-4B2F-B9B9-989D5B7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行动：记录一次实际交付与复发情况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1477D-ECF4-4FF8-8FAB-D51135D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L02    6/6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995712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2026-09-20T08:52:22.0230000Z</dcterms:created>
  <dcterms:modified xsi:type="dcterms:W3CDTF">2026-09-20T08:52:22.0230000Z</dcterms:modified>
</coreProperties>
</file>