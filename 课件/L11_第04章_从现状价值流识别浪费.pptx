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154681e42346f6" /><Relationship Type="http://schemas.openxmlformats.org/officeDocument/2006/relationships/extended-properties" Target="/docProps/app.xml" Id="R66c5204e2b2d4079" /><Relationship Type="http://schemas.openxmlformats.org/officeDocument/2006/relationships/officeDocument" Target="/ppt/presentation.xml" Id="R9041df6b83d847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de65b511574674"/>
  </p:sldMasterIdLst>
  <p:notesMasterIdLst>
    <p:notesMasterId xmlns:r="http://schemas.openxmlformats.org/officeDocument/2006/relationships" r:id="R1ba31fb0d35447c2"/>
  </p:notesMasterIdLst>
  <p:sldIdLst>
    <p:sldId xmlns:r="http://schemas.openxmlformats.org/officeDocument/2006/relationships" id="256" r:id="R68fed68da7134ebb"/>
    <p:sldId xmlns:r="http://schemas.openxmlformats.org/officeDocument/2006/relationships" id="257" r:id="R5cd94341c0b14f7b"/>
    <p:sldId xmlns:r="http://schemas.openxmlformats.org/officeDocument/2006/relationships" id="258" r:id="Rcdc6b536e4654856"/>
    <p:sldId xmlns:r="http://schemas.openxmlformats.org/officeDocument/2006/relationships" id="259" r:id="R61a852d9101e4582"/>
    <p:sldId xmlns:r="http://schemas.openxmlformats.org/officeDocument/2006/relationships" id="260" r:id="R281eac1bc65343db"/>
    <p:sldId xmlns:r="http://schemas.openxmlformats.org/officeDocument/2006/relationships" id="261" r:id="R1a707e33d07b490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13f0e8b5a5458c" /><Relationship Type="http://schemas.openxmlformats.org/officeDocument/2006/relationships/slideMaster" Target="/ppt/slideMasters/slideMaster1.xml" Id="R98de65b511574674" /><Relationship Type="http://schemas.openxmlformats.org/officeDocument/2006/relationships/notesMaster" Target="/ppt/notesMasters/notesMaster1.xml" Id="R1ba31fb0d35447c2" /><Relationship Type="http://schemas.openxmlformats.org/officeDocument/2006/relationships/presProps" Target="/ppt/presProps.xml" Id="R25d2081f96b74fca" /><Relationship Type="http://schemas.openxmlformats.org/officeDocument/2006/relationships/tableStyles" Target="/ppt/tableStyles.xml" Id="Rc751fbdc6e284bd4" /><Relationship Type="http://schemas.openxmlformats.org/officeDocument/2006/relationships/slide" Target="/ppt/slides/slide1.xml" Id="R68fed68da7134ebb" /><Relationship Type="http://schemas.openxmlformats.org/officeDocument/2006/relationships/slide" Target="/ppt/slides/slide2.xml" Id="R5cd94341c0b14f7b" /><Relationship Type="http://schemas.openxmlformats.org/officeDocument/2006/relationships/slide" Target="/ppt/slides/slide3.xml" Id="Rcdc6b536e4654856" /><Relationship Type="http://schemas.openxmlformats.org/officeDocument/2006/relationships/slide" Target="/ppt/slides/slide4.xml" Id="R61a852d9101e4582" /><Relationship Type="http://schemas.openxmlformats.org/officeDocument/2006/relationships/slide" Target="/ppt/slides/slide5.xml" Id="R281eac1bc65343db" /><Relationship Type="http://schemas.openxmlformats.org/officeDocument/2006/relationships/slide" Target="/ppt/slides/slide6.xml" Id="R1a707e33d07b49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23c8f9cbe74a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8d7805d19f480c" /><Relationship Type="http://schemas.openxmlformats.org/officeDocument/2006/relationships/notesMaster" Target="/ppt/notesMasters/notesMaster1.xml" Id="R5496e31802b643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22f19c78c84f98" /><Relationship Type="http://schemas.openxmlformats.org/officeDocument/2006/relationships/notesMaster" Target="/ppt/notesMasters/notesMaster1.xml" Id="Re876994355d044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c8f09e32bb4b44" /><Relationship Type="http://schemas.openxmlformats.org/officeDocument/2006/relationships/notesMaster" Target="/ppt/notesMasters/notesMaster1.xml" Id="R8a43725853fa43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9e6f2958694957" /><Relationship Type="http://schemas.openxmlformats.org/officeDocument/2006/relationships/notesMaster" Target="/ppt/notesMasters/notesMaster1.xml" Id="R6a98ea12dd684f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44b9dc421f41d4" /><Relationship Type="http://schemas.openxmlformats.org/officeDocument/2006/relationships/notesMaster" Target="/ppt/notesMasters/notesMaster1.xml" Id="Rd9841d3869d949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0e76363c694b85" /><Relationship Type="http://schemas.openxmlformats.org/officeDocument/2006/relationships/notesMaster" Target="/ppt/notesMasters/notesMaster1.xml" Id="Rf56a82c663d44b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页。价值流与本单元的学习路线。第三章帮助我们用指标说明问题，这一单元进一步观察问题发生在哪些工作步骤。作者把价值流理解为客户提出需要到需要得到满足的一系列步骤。它既适用于产品，也适用于服务。三讲依次学习现状、未来状态和改善行动。请沿用前面选定的一个工作问题，最后形成一项有负责人和回看时间的行动。学习单由整理者设计，帮助你把原书方法联系到日常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10_书籍/企业精益转型的领导之道/01_章节/CH04-S00 章首导语.md#^llet-ch04-s00-p001</a:t>
            </a:r>
          </a:p>
          <a:p xmlns:a="http://schemas.openxmlformats.org/drawingml/2006/main">
            <a:r>
              <a:t>10_书籍/企业精益转型的领导之道/01_章节/CH04-S00 章首导语.md#^llet-ch04-s00-p003</a:t>
            </a:r>
          </a:p>
          <a:p xmlns:a="http://schemas.openxmlformats.org/drawingml/2006/main">
            <a:r>
              <a:t>10_书籍/企业精益转型的领导之道/01_章节/CH04-S11 本章总结.md#^llet-ch04-s11-p001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页。现状图来自实际工作。作者提醒，实际工作往往与纸面或电脑中的流程不同，也很少有人知道一项工作经历的全部步骤。因此，现状图需要沿着真实过程逐步观察，并请参与者一起补齐。练习时可以先写每一步做什么、交给谁，在哪里等待或返工。暂时不知道的内容标为待观察，不要凭印象补成完整图。这些记录栏目是本课程的简化安排，目的是让讨论建立在实际过程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10_书籍/企业精益转型的领导之道/01_章节/CH04-S01 创建一个初始状态的 VSA.md#^llet-ch04-s01-p001</a:t>
            </a:r>
          </a:p>
          <a:p xmlns:a="http://schemas.openxmlformats.org/drawingml/2006/main">
            <a:r>
              <a:t>10_书籍/企业精益转型的领导之道/01_章节/CH04-S01 创建一个初始状态的 VSA.md#^llet-ch04-s01-p002</a:t>
            </a:r>
          </a:p>
          <a:p xmlns:a="http://schemas.openxmlformats.org/drawingml/2006/main">
            <a:r>
              <a:t>10_书籍/企业精益转型的领导之道/01_章节/CH04-S07 工作计划和职责.md#^llet-ch04-s07-p003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页。现状还需要指标。原书要求在初始价值流中记录真北指标的现状，涉及人员发展、质量、延迟以及资源消耗。只关注生产率或交货时间，容易遗漏人的发展和质量。结合第三章，学习单可以先选一项主要指标，同时记下还需关注的其他方面。例如资料交付的等待时间减少后，仍要检查返工有没有增加。这是整理者设计的应用例子。前后比较时保持对象、时间范围和单位一致，未知数据留待观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10_书籍/企业精益转型的领导之道/01_章节/CH04-S02 初始状态的 VSA 和真北指标.md#^llet-ch04-s02-p001</a:t>
            </a:r>
          </a:p>
          <a:p xmlns:a="http://schemas.openxmlformats.org/drawingml/2006/main">
            <a:r>
              <a:t>10_书籍/企业精益转型的领导之道/01_章节/CH04-S02 初始状态的 VSA 和真北指标.md#^llet-ch04-s02-p002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第4页。原书案例：ThedaCare的价值流。第四章以 ThedaCare 的初始价值流图说明，价值流分析并不限于制造现场。你可以从学习入口打开图四点一，观察一项服务如何经过多个步骤。作者建议用客户是否愿意为活动付费来帮助识别价值，并让管理者亲自参与初次分析。本讲借案例学习观察方法，不从图中推算未经核实的节省幅度。实际练习中，发现一个可疑步骤后，还要了解它为什么存在，不能只凭分类就决定删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10_书籍/企业精益转型的领导之道/01_章节/CH04-S00 章首导语.md#^llet-ch04-s00-p003</a:t>
            </a:r>
          </a:p>
          <a:p xmlns:a="http://schemas.openxmlformats.org/drawingml/2006/main">
            <a:r>
              <a:t>10_书籍/企业精益转型的领导之道/01_章节/CH04-S03 帮你发现浪费.md#^llet-ch04-s03-p001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5页。工作练习：一项交付的现状。现在暂停音频，打开共用工作学习单。选一项具体交付，写清从哪里开始、到哪里结束、谁接收。列出最近一次实际经过的步骤，圈出一处等待或返工，再写下你观察到的事实。如果只有猜测，明确标注待核实。最后补上一项现状指标，并注明记录来自哪里。练习不要求漂亮的流程图，一张让实际参与者能够补充和讨论的记录，就足以支持下一讲的学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10_书籍/企业精益转型的领导之道/01_章节/CH04-S01 创建一个初始状态的 VSA.md#^llet-ch04-s01-p001</a:t>
            </a:r>
          </a:p>
          <a:p xmlns:a="http://schemas.openxmlformats.org/drawingml/2006/main">
            <a:r>
              <a:t>10_书籍/企业精益转型的领导之道/01_章节/CH04-S02 初始状态的 VSA 和真北指标.md#^llet-ch04-s02-p001</a:t>
            </a:r>
          </a:p>
          <a:p xmlns:a="http://schemas.openxmlformats.org/drawingml/2006/main">
            <a:r>
              <a:t>10_书籍/企业精益转型的领导之道/01_章节/CH04-S07 工作计划和职责.md#^llet-ch04-s07-p003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6页。小结：现状是后续行动的依据。本讲的三个要点是：观察实际工作，让参与者共同补齐过程，记录能够用于后续比较的指标。自测一下，已经有流程文件，为什么还要到现场？因为实际步骤可能与文件不同，交接中的等待或返工也可能没有被完整记录。你的下一步是与一位实际参与者核对学习单，修正自己不清楚的地方。下一讲在这些事实基础上讨论理想状态和可实施的未来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10_书籍/企业精益转型的领导之道/01_章节/CH04-S01 创建一个初始状态的 VSA.md#^llet-ch04-s01-p001</a:t>
            </a:r>
          </a:p>
          <a:p xmlns:a="http://schemas.openxmlformats.org/drawingml/2006/main">
            <a:r>
              <a:t>10_书籍/企业精益转型的领导之道/01_章节/CH04-S01 创建一个初始状态的 VSA.md#^llet-ch04-s01-p002</a:t>
            </a:r>
          </a:p>
          <a:p xmlns:a="http://schemas.openxmlformats.org/drawingml/2006/main">
            <a:r>
              <a:t>10_书籍/企业精益转型的领导之道/01_章节/CH04-S02 初始状态的 VSA 和真北指标.md#^llet-ch04-s02-p001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abc0d5732c4b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0d031f70df438b" /><Relationship Type="http://schemas.openxmlformats.org/officeDocument/2006/relationships/slideLayout" Target="/ppt/slideLayouts/slideLayout1.xml" Id="R81c9e56020644f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c9e56020644f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f50bd35ef4cd2" /><Relationship Type="http://schemas.openxmlformats.org/officeDocument/2006/relationships/notesSlide" Target="/ppt/notesSlides/notesSlide1.xml" Id="Rd77e2f15028d49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0f797739bc413d" /><Relationship Type="http://schemas.openxmlformats.org/officeDocument/2006/relationships/notesSlide" Target="/ppt/notesSlides/notesSlide2.xml" Id="Rac0b0f19565141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1ce06ef46d46ad" /><Relationship Type="http://schemas.openxmlformats.org/officeDocument/2006/relationships/notesSlide" Target="/ppt/notesSlides/notesSlide3.xml" Id="Rf287ae414dc341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22950f82f647a1" /><Relationship Type="http://schemas.openxmlformats.org/officeDocument/2006/relationships/notesSlide" Target="/ppt/notesSlides/notesSlide4.xml" Id="R04b7ac60014749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eec370910453f" /><Relationship Type="http://schemas.openxmlformats.org/officeDocument/2006/relationships/notesSlide" Target="/ppt/notesSlides/notesSlide5.xml" Id="R4c682701101b4a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dc4c560af849bf" /><Relationship Type="http://schemas.openxmlformats.org/officeDocument/2006/relationships/notesSlide" Target="/ppt/notesSlides/notesSlide6.xml" Id="Rf3307928f43e4f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E7328-F057-47EC-9DBF-8477B0FC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价值流与本单元的学习路线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1B4590-A755-4A5A-9509-2454ED87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客户需要到得到满足的全过程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AEF811-0B4A-498D-9EC1-35F194D6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现状观察 → 未来状态 → 改善行动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F9902F-1452-4959-8CA8-59CB0059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三讲沿用同一个工作问题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B80D73-D80E-4D16-AA0A-7D9B66A5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流程与改善 · L11    1/6    原书第四章</a:t>
            </a:r>
          </a:p>
        </p:txBody>
      </p:sp>
    </p:spTree>
    <p:extLst>
      <p:ext uri="{BB962C8B-B14F-4D97-AF65-F5344CB8AC3E}">
        <p14:creationId xmlns:p14="http://schemas.microsoft.com/office/powerpoint/2010/main" val="15756610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E6C627-BFF2-4A6C-9375-FEA270D9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现状图来自实际工作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9E7D9E-9550-47FF-A6D4-7B635EE8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沿着工作逐步观察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038FD7-3800-4E66-AF71-9A971FC4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记录实际步骤与交接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2AB851-7A09-4B58-A6C3-ACA136E1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让参与者共同补齐过程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F4D555-3E8C-4FA7-9D6E-7EDFC31C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流程与改善 · L11    2/6    原书第四章</a:t>
            </a:r>
          </a:p>
        </p:txBody>
      </p:sp>
    </p:spTree>
    <p:extLst>
      <p:ext uri="{BB962C8B-B14F-4D97-AF65-F5344CB8AC3E}">
        <p14:creationId xmlns:p14="http://schemas.microsoft.com/office/powerpoint/2010/main" val="14539461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0EB2C-C23B-43B1-B4E9-0F44113D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现状还需要指标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6C6B55-15ED-46F5-8DB0-9FA20223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人员发展与质量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A93B51-DE0A-4E7A-A5D3-4605C31A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交付延迟与资源消耗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72489-0CF5-4EC7-8B58-E3DFE446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记录现状，保持前后口径一致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E74E7-6412-4B52-9D8F-9CEFF6E6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流程与改善 · L11    3/6    原书第四章</a:t>
            </a:r>
          </a:p>
        </p:txBody>
      </p:sp>
    </p:spTree>
    <p:extLst>
      <p:ext uri="{BB962C8B-B14F-4D97-AF65-F5344CB8AC3E}">
        <p14:creationId xmlns:p14="http://schemas.microsoft.com/office/powerpoint/2010/main" val="16565088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A68750-8992-42E2-9955-7EA9D360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原书案例：ThedaCare的价值流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61BDA0-96E5-450B-944A-C9A1662C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医疗服务同样有连续的工作步骤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1B1567-8826-4FB5-BBE9-C9D39D3C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现状图帮助团队看见整个过程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758747-6A1C-471A-BF83-D5092B80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逐步讨论哪些活动创造价值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4CBDDE-8FD1-4C1A-90CF-1BD59DD6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流程与改善 · L11    4/6    原书第四章</a:t>
            </a:r>
          </a:p>
        </p:txBody>
      </p:sp>
    </p:spTree>
    <p:extLst>
      <p:ext uri="{BB962C8B-B14F-4D97-AF65-F5344CB8AC3E}">
        <p14:creationId xmlns:p14="http://schemas.microsoft.com/office/powerpoint/2010/main" val="19643249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590517-85E9-4DD7-8DE1-F2114977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工作练习：一项交付的现状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0ACFCA-DEAC-477B-A106-0FF5BA55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写清开始、结束和接收者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95EDBA-C38C-4213-BD5E-44F537E8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列出实际步骤，圈出一处等待或返工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83408A-19D0-47E6-B981-66402887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补上一项现状指标和证据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A3253-5BCE-4788-9CCE-7D6D33A8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流程与改善 · L11    5/6    原书第四章</a:t>
            </a:r>
          </a:p>
        </p:txBody>
      </p:sp>
    </p:spTree>
    <p:extLst>
      <p:ext uri="{BB962C8B-B14F-4D97-AF65-F5344CB8AC3E}">
        <p14:creationId xmlns:p14="http://schemas.microsoft.com/office/powerpoint/2010/main" val="9822559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68861C-5331-464D-A7EA-318B3E82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小结：现状是后续行动的依据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4CEA2D-4480-42DE-898A-3C6EEE87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要点：看实际过程、共同观察、记录指标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4D8C0E-6669-4ABB-AEAC-ABEF6D24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自测：已有流程文件为何还要到现场？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B719C4-F9EF-4C82-9971-4D66C515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行动：与一位参与者核对现状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1AF1ED-D9A4-47FE-A572-8C44651A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流程与改善 · L11    6/6    原书第四章</a:t>
            </a:r>
          </a:p>
        </p:txBody>
      </p:sp>
    </p:spTree>
    <p:extLst>
      <p:ext uri="{BB962C8B-B14F-4D97-AF65-F5344CB8AC3E}">
        <p14:creationId xmlns:p14="http://schemas.microsoft.com/office/powerpoint/2010/main" val="15727728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2026-09-20T10:07:51.3580000Z</dcterms:created>
  <dcterms:modified xsi:type="dcterms:W3CDTF">2026-09-20T10:07:51.3580000Z</dcterms:modified>
</coreProperties>
</file>