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b9070ea0d824849" /><Relationship Type="http://schemas.openxmlformats.org/officeDocument/2006/relationships/extended-properties" Target="/docProps/app.xml" Id="R1e3d5647366f4878" /><Relationship Type="http://schemas.openxmlformats.org/officeDocument/2006/relationships/officeDocument" Target="/ppt/presentation.xml" Id="R31970286e2a347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a0245e8c19448d"/>
  </p:sldMasterIdLst>
  <p:notesMasterIdLst>
    <p:notesMasterId xmlns:r="http://schemas.openxmlformats.org/officeDocument/2006/relationships" r:id="R39a18acdeeda455b"/>
  </p:notesMasterIdLst>
  <p:sldIdLst>
    <p:sldId xmlns:r="http://schemas.openxmlformats.org/officeDocument/2006/relationships" id="256" r:id="R3220b43b2443451c"/>
    <p:sldId xmlns:r="http://schemas.openxmlformats.org/officeDocument/2006/relationships" id="257" r:id="Rcffe96536af446bd"/>
    <p:sldId xmlns:r="http://schemas.openxmlformats.org/officeDocument/2006/relationships" id="258" r:id="R02b07b34ce4e4d49"/>
    <p:sldId xmlns:r="http://schemas.openxmlformats.org/officeDocument/2006/relationships" id="259" r:id="R057261b9c860410f"/>
    <p:sldId xmlns:r="http://schemas.openxmlformats.org/officeDocument/2006/relationships" id="260" r:id="R47021d3f67c74df7"/>
    <p:sldId xmlns:r="http://schemas.openxmlformats.org/officeDocument/2006/relationships" id="261" r:id="R3008a0c8b68f428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8573b67b1f4dc6" /><Relationship Type="http://schemas.openxmlformats.org/officeDocument/2006/relationships/slideMaster" Target="/ppt/slideMasters/slideMaster1.xml" Id="R18a0245e8c19448d" /><Relationship Type="http://schemas.openxmlformats.org/officeDocument/2006/relationships/notesMaster" Target="/ppt/notesMasters/notesMaster1.xml" Id="R39a18acdeeda455b" /><Relationship Type="http://schemas.openxmlformats.org/officeDocument/2006/relationships/presProps" Target="/ppt/presProps.xml" Id="R53df106319644e0d" /><Relationship Type="http://schemas.openxmlformats.org/officeDocument/2006/relationships/tableStyles" Target="/ppt/tableStyles.xml" Id="R0a699069ddde4cf6" /><Relationship Type="http://schemas.openxmlformats.org/officeDocument/2006/relationships/slide" Target="/ppt/slides/slide1.xml" Id="R3220b43b2443451c" /><Relationship Type="http://schemas.openxmlformats.org/officeDocument/2006/relationships/slide" Target="/ppt/slides/slide2.xml" Id="Rcffe96536af446bd" /><Relationship Type="http://schemas.openxmlformats.org/officeDocument/2006/relationships/slide" Target="/ppt/slides/slide3.xml" Id="R02b07b34ce4e4d49" /><Relationship Type="http://schemas.openxmlformats.org/officeDocument/2006/relationships/slide" Target="/ppt/slides/slide4.xml" Id="R057261b9c860410f" /><Relationship Type="http://schemas.openxmlformats.org/officeDocument/2006/relationships/slide" Target="/ppt/slides/slide5.xml" Id="R47021d3f67c74df7" /><Relationship Type="http://schemas.openxmlformats.org/officeDocument/2006/relationships/slide" Target="/ppt/slides/slide6.xml" Id="R3008a0c8b68f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5c1aeb3fb49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16bac3bd18443a" /><Relationship Type="http://schemas.openxmlformats.org/officeDocument/2006/relationships/notesMaster" Target="/ppt/notesMasters/notesMaster1.xml" Id="R0d2bbdf8b4a849f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8fd64c2fd4d4c9f" /><Relationship Type="http://schemas.openxmlformats.org/officeDocument/2006/relationships/notesMaster" Target="/ppt/notesMasters/notesMaster1.xml" Id="R3abf2fc0cb5444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8824a18f94a81" /><Relationship Type="http://schemas.openxmlformats.org/officeDocument/2006/relationships/notesMaster" Target="/ppt/notesMasters/notesMaster1.xml" Id="R396dae1ccbaa4e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a6d9640fde4eba" /><Relationship Type="http://schemas.openxmlformats.org/officeDocument/2006/relationships/notesMaster" Target="/ppt/notesMasters/notesMaster1.xml" Id="R5ba0a1a31c7748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c0450157f64e74" /><Relationship Type="http://schemas.openxmlformats.org/officeDocument/2006/relationships/notesMaster" Target="/ppt/notesMasters/notesMaster1.xml" Id="R8251389a257d44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a8ff8474d14e59" /><Relationship Type="http://schemas.openxmlformats.org/officeDocument/2006/relationships/notesMaster" Target="/ppt/notesMasters/notesMaster1.xml" Id="Rb3ab8adbd9fe48d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。从客户遇到的问题开始。这一单元是全课程的起点。请先想一件你熟悉的工作：交付经常推迟，资料反复退回，或同样的错误不断出现。这里的情境是学习提示，不是书中的企业案例。作者在第二章把精益概括为以人员激励为本的改进系统，最终要建立持续解决客户问题的学习文化。学完本讲，你应能说明精益要改变什么，并选定一个后续课程持续观察的问题。先理解这个目的，再学习具体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10_书籍/企业精益转型的领导之道/01_章节/CH02-S06 本章总结.md#^llet-ch02-s06-p001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。持续改进与尊重人。原书从一个角度提出两大支柱：观念与实践的持续改进，以及尊重人而产生的动力。作者对尊重人的解释很具体：组织需要设计让人想改进的系统，教会改良工具，并让大家每天运用。由此理解，改善需要人的参与，也需要组织提供学习条件。联系自己的工作，可以问一问：同事发现问题时，是否有机会说明事实、参与试验和获得指导？这是整理者设计的思考问题，用来把书中的原则落到日常经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10_书籍/企业精益转型的领导之道/01_章节/CH02-S02 两大支柱.md#^llet-ch02-s02-p003-list</a:t>
            </a:r>
          </a:p>
          <a:p xmlns:a="http://schemas.openxmlformats.org/drawingml/2006/main">
            <a:r>
              <a:t>10_书籍/企业精益转型的领导之道/01_章节/CH02-S02 两大支柱.md#^llet-ch02-s02-p005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。从多个角度理解同一件事。第二章没有只给一个定义。作者还从识别浪费、发现问题和解决根源等角度说明精益。他讨论质量与精益两类方法的结合，强调人员发展。这里要分清：持续改进与尊重人是一种原则描述；本章后面的全面质量管理与丰田生产系统，是另一种方法框架描述。课程不把两组名称混成一套清单。对初学者，先抓住共同目的：让工作更好地满足客户需要，同时让参与者学会发现和解决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10_书籍/企业精益转型的领导之道/01_章节/CH02-S03 识别和消除浪费.md#^llet-ch02-s03-p001</a:t>
            </a:r>
          </a:p>
          <a:p xmlns:a="http://schemas.openxmlformats.org/drawingml/2006/main">
            <a:r>
              <a:t>10_书籍/企业精益转型的领导之道/01_章节/CH02-S04 一个问题识别和问题解决系统.md#^llet-ch02-s04-p001</a:t>
            </a:r>
          </a:p>
          <a:p xmlns:a="http://schemas.openxmlformats.org/drawingml/2006/main">
            <a:r>
              <a:t>10_书籍/企业精益转型的领导之道/01_章节/CH02-S05 六西格玛还是精益生产，或两者兼有？.md#^llet-ch02-s05-p002</a:t>
            </a:r>
          </a:p>
          <a:p xmlns:a="http://schemas.openxmlformats.org/drawingml/2006/main">
            <a:r>
              <a:t>10_书籍/企业精益转型的领导之道/01_章节/CH02-S05 六西格玛还是精益生产，或两者兼有？.md#^llet-ch02-s05-p004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。原书案例：杰克制动的改变。第一章的杰克制动案例，把这些原则放在具体经历中。作者描述，企业的交付与客户期望存在差距。团队调整生产流程后，仍有设置、质量、物料等许多问题需要解决。随后两年多，老师到现场指导改善，团队反复学习、重新设计流程。原书报告交货时间从超过三十天压缩到一天，并形成不断解决问题的学习文化。这是作者叙述的历史结果，不是本课程对其他企业的承诺。学习重点是流程调整之后持续解决问题的过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10_书籍/企业精益转型的领导之道/01_章节/CH01-S03 杰克制动（丹纳赫）（Jake Brake（Danaher））.md#^llet-ch01-s03-p001</a:t>
            </a:r>
          </a:p>
          <a:p xmlns:a="http://schemas.openxmlformats.org/drawingml/2006/main">
            <a:r>
              <a:t>10_书籍/企业精益转型的领导之道/01_章节/CH01-S03 杰克制动（丹纳赫）（Jake Brake（Danaher））.md#^llet-ch01-s03-p003</a:t>
            </a:r>
          </a:p>
          <a:p xmlns:a="http://schemas.openxmlformats.org/drawingml/2006/main">
            <a:r>
              <a:t>10_书籍/企业精益转型的领导之道/01_章节/CH01-S03 杰克制动（丹纳赫）（Jake Brake（Danaher））.md#^llet-ch01-s03-p006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。把案例联系到自己的工作。现在暂停音频，打开工作学习单。选一项你实际参与的交付，例如把完整资料交给下一个岗位。写清谁接收、对方需要什么，以及最近一次实际发生了什么。不要一开始就写同事态度不好或部门效率低，这些判断还不能代替过程事实。可以先写资料何时到、缺了什么、返还过几次；没有记录的地方就标为待观察。这是整理者练习，借用原书从客户问题出发、到现场了解工作的思路，不要求此时提出整改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10_书籍/企业精益转型的领导之道/01_章节/CH02-S06 本章总结.md#^llet-ch02-s06-p001</a:t>
            </a:r>
          </a:p>
          <a:p xmlns:a="http://schemas.openxmlformats.org/drawingml/2006/main">
            <a:r>
              <a:t>10_书籍/企业精益转型的领导之道/01_章节/CH02-S03 识别和消除浪费.md#^llet-ch02-s03-p007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。小结与下一讲。本讲记住三个要点：改善围绕客户的问题展开，人的参与需要学习条件，改变要靠持续发现和解决问题来延续。自测一下：为什么杰克制动调整设备和流程后，还需要老师指导和反复改善？可以从调整后仍暴露许多问题、团队需要继续学习来回答。你的下一步，是带着工作学习单上的一项交付去看实际过程。下一讲用浪费和根因解决的视角进一步观察；之后的目标与度量单元，再帮助你判断改善是否发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来源（Obsidian库内路径）：</a:t>
            </a:r>
          </a:p>
          <a:p xmlns:a="http://schemas.openxmlformats.org/drawingml/2006/main">
            <a:r>
              <a:t>10_书籍/企业精益转型的领导之道/01_章节/CH01-S03 杰克制动（丹纳赫）（Jake Brake（Danaher））.md#^llet-ch01-s03-p003</a:t>
            </a:r>
          </a:p>
          <a:p xmlns:a="http://schemas.openxmlformats.org/drawingml/2006/main">
            <a:r>
              <a:t>10_书籍/企业精益转型的领导之道/01_章节/CH01-S03 杰克制动（丹纳赫）（Jake Brake（Danaher））.md#^llet-ch01-s03-p006</a:t>
            </a:r>
          </a:p>
          <a:p xmlns:a="http://schemas.openxmlformats.org/drawingml/2006/main">
            <a:r>
              <a:t>10_书籍/企业精益转型的领导之道/01_章节/CH02-S02 两大支柱.md#^llet-ch02-s02-p005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95bc18f8b142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9f657e17164d19" /><Relationship Type="http://schemas.openxmlformats.org/officeDocument/2006/relationships/slideLayout" Target="/ppt/slideLayouts/slideLayout1.xml" Id="R5e51361b42c44d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51361b42c44d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876e78ea742f9" /><Relationship Type="http://schemas.openxmlformats.org/officeDocument/2006/relationships/notesSlide" Target="/ppt/notesSlides/notesSlide1.xml" Id="R71565605459d45e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45b7a79ef4e08" /><Relationship Type="http://schemas.openxmlformats.org/officeDocument/2006/relationships/notesSlide" Target="/ppt/notesSlides/notesSlide2.xml" Id="R049036553d3049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639f672da4a93" /><Relationship Type="http://schemas.openxmlformats.org/officeDocument/2006/relationships/notesSlide" Target="/ppt/notesSlides/notesSlide3.xml" Id="R414affbdaa3b483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1735d92bb475b" /><Relationship Type="http://schemas.openxmlformats.org/officeDocument/2006/relationships/notesSlide" Target="/ppt/notesSlides/notesSlide4.xml" Id="Ra98b8ab8c1894f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9c889c1c748bf" /><Relationship Type="http://schemas.openxmlformats.org/officeDocument/2006/relationships/notesSlide" Target="/ppt/notesSlides/notesSlide5.xml" Id="Rdd6f1ec5f5fd4f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65a61c55744c4" /><Relationship Type="http://schemas.openxmlformats.org/officeDocument/2006/relationships/notesSlide" Target="/ppt/notesSlides/notesSlide6.xml" Id="R6613eca7369f49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DBA9D-AA62-4E4C-90C9-6D404A01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从客户遇到的问题开始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C04EBC-CB58-4883-9EC2-D158A16D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以人的参与推动改进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6A07D-0EBE-472A-BCDB-E4FFAFBEB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适用于不同工作流程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BC27BE-7BBF-4C27-847E-691F77E4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目标是持续解决客户问题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0EE192-8C54-4AAA-A666-E25E27EC7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1/6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8180951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97B516-8412-4F09-A15B-B5B570BD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持续改进与尊重人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278E3-D1CA-49BC-BC31-818FBD0DE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持续改进观念和实践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562E4-C8E7-4AD1-8C6C-BC222426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创造愿意参与改善的条件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3AE9C-1D08-44F8-8D78-DFB14C6A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教会工具，并在日常工作中运用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12AAD-0B29-48A1-AF22-10DE8D2C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2/6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2280636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8440B-3DE4-4892-90AD-036373322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从多个角度理解同一件事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BF1B0-68B5-4016-BA7E-171975BD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看见并减少浪费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0DF648-88BD-4FF3-A865-31DF48B4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发现问题，追查根源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57CAC-DA9A-4C3E-8AE7-0C3F66B6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学习质量与流程改善的方法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C98CC-511A-41AC-83C0-91DACFB7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3/6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537858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CE8FF6-F53E-463F-BBEA-3BD642E1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原书案例：杰克制动的改变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B4683-FE86-46DB-AE3E-2AE93242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问题：交付与客户期望有差距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C903F-E659-4E5B-AB86-CDACAE0D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做法：调整流程，持续学习与解决问题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43F5DE-4A19-4206-AF2B-5EF5B781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原书报告：交货时间从超过30天降至1天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640B3-E489-4FC9-960D-DA0C160F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4/6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963861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38A1-6794-46B1-9510-021AD205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把案例联系到自己的工作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54DF3-C113-45E5-972E-0656DFD5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选一项具体交付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046517-0C15-4435-94EE-1529B6A7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写清接收者与期望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C57F9-5885-4C7F-849B-895904A8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记录实际差距，未知处留待观察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A60B4-3F61-4A72-B7FF-A84A938C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5/6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87795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E51AE-1B34-4F57-A049-340328A8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小结与下一讲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C3019-1478-42BF-A62E-07EE3378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三个要点：客户问题、人的参与、持续学习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843A86-2367-4029-B4BA-52C8B3C6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自测：一次流程调整为何还不够？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8B3D1D-9864-4FE5-B504-441FC007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73342"/>
                </a:solidFill>
                <a:latin typeface="Microsoft YaHei"/>
                <a:ea typeface="Microsoft YaHei"/>
                <a:cs typeface="Microsoft YaHei"/>
              </a:rPr>
              <a:t>行动：带着一个具体问题去观察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CABD2-ED42-4E15-BA75-088BEFD7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483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49636C"/>
                </a:solidFill>
                <a:latin typeface="Microsoft YaHei"/>
                <a:ea typeface="Microsoft YaHei"/>
                <a:cs typeface="Microsoft YaHei"/>
              </a:rPr>
              <a:t>理解精益 · L01    6/6    原书第1—2章及附录选读</a:t>
            </a:r>
          </a:p>
        </p:txBody>
      </p:sp>
    </p:spTree>
    <p:extLst>
      <p:ext uri="{BB962C8B-B14F-4D97-AF65-F5344CB8AC3E}">
        <p14:creationId xmlns:p14="http://schemas.microsoft.com/office/powerpoint/2010/main" val="1325247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2026-09-20T08:51:51.7250000Z</dcterms:created>
  <dcterms:modified xsi:type="dcterms:W3CDTF">2026-09-20T08:51:51.7250000Z</dcterms:modified>
</coreProperties>
</file>