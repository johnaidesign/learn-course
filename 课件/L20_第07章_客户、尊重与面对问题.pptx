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1cfa45cb034a5f" /><Relationship Type="http://schemas.openxmlformats.org/officeDocument/2006/relationships/extended-properties" Target="/docProps/app.xml" Id="R25e0e1a453a54860" /><Relationship Type="http://schemas.openxmlformats.org/officeDocument/2006/relationships/officeDocument" Target="/ppt/presentation.xml" Id="R4c01411ffe8c4f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cbb7d1ee9648b5"/>
  </p:sldMasterIdLst>
  <p:notesMasterIdLst>
    <p:notesMasterId xmlns:r="http://schemas.openxmlformats.org/officeDocument/2006/relationships" r:id="R387f2a2297514f55"/>
  </p:notesMasterIdLst>
  <p:sldIdLst>
    <p:sldId xmlns:r="http://schemas.openxmlformats.org/officeDocument/2006/relationships" id="256" r:id="R384f6a14bab0459d"/>
    <p:sldId xmlns:r="http://schemas.openxmlformats.org/officeDocument/2006/relationships" id="257" r:id="Rdc86be1c70514f2e"/>
    <p:sldId xmlns:r="http://schemas.openxmlformats.org/officeDocument/2006/relationships" id="258" r:id="R9bd058ee311545b5"/>
    <p:sldId xmlns:r="http://schemas.openxmlformats.org/officeDocument/2006/relationships" id="259" r:id="R7d2be028aa1a4af0"/>
    <p:sldId xmlns:r="http://schemas.openxmlformats.org/officeDocument/2006/relationships" id="260" r:id="R0da43f7ee2e041a3"/>
    <p:sldId xmlns:r="http://schemas.openxmlformats.org/officeDocument/2006/relationships" id="261" r:id="R26e30f10e76c4c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d81a68e48e4052" /><Relationship Type="http://schemas.openxmlformats.org/officeDocument/2006/relationships/slideMaster" Target="/ppt/slideMasters/slideMaster1.xml" Id="R41cbb7d1ee9648b5" /><Relationship Type="http://schemas.openxmlformats.org/officeDocument/2006/relationships/notesMaster" Target="/ppt/notesMasters/notesMaster1.xml" Id="R387f2a2297514f55" /><Relationship Type="http://schemas.openxmlformats.org/officeDocument/2006/relationships/presProps" Target="/ppt/presProps.xml" Id="R049b7cab01924950" /><Relationship Type="http://schemas.openxmlformats.org/officeDocument/2006/relationships/tableStyles" Target="/ppt/tableStyles.xml" Id="Rc7bdf44d710e478a" /><Relationship Type="http://schemas.openxmlformats.org/officeDocument/2006/relationships/slide" Target="/ppt/slides/slide1.xml" Id="R384f6a14bab0459d" /><Relationship Type="http://schemas.openxmlformats.org/officeDocument/2006/relationships/slide" Target="/ppt/slides/slide2.xml" Id="Rdc86be1c70514f2e" /><Relationship Type="http://schemas.openxmlformats.org/officeDocument/2006/relationships/slide" Target="/ppt/slides/slide3.xml" Id="R9bd058ee311545b5" /><Relationship Type="http://schemas.openxmlformats.org/officeDocument/2006/relationships/slide" Target="/ppt/slides/slide4.xml" Id="R7d2be028aa1a4af0" /><Relationship Type="http://schemas.openxmlformats.org/officeDocument/2006/relationships/slide" Target="/ppt/slides/slide5.xml" Id="R0da43f7ee2e041a3" /><Relationship Type="http://schemas.openxmlformats.org/officeDocument/2006/relationships/slide" Target="/ppt/slides/slide6.xml" Id="R26e30f10e76c4c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d9c89d5f0c43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4a7c8e4c1d4745" /><Relationship Type="http://schemas.openxmlformats.org/officeDocument/2006/relationships/notesMaster" Target="/ppt/notesMasters/notesMaster1.xml" Id="Rcb17f68c78a646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08643be70c4014" /><Relationship Type="http://schemas.openxmlformats.org/officeDocument/2006/relationships/notesMaster" Target="/ppt/notesMasters/notesMaster1.xml" Id="R224e6ad2ded04f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ce36b555aa4329" /><Relationship Type="http://schemas.openxmlformats.org/officeDocument/2006/relationships/notesMaster" Target="/ppt/notesMasters/notesMaster1.xml" Id="Rd90afaff975d46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22c02b2d254f16" /><Relationship Type="http://schemas.openxmlformats.org/officeDocument/2006/relationships/notesMaster" Target="/ppt/notesMasters/notesMaster1.xml" Id="Ra768eef9a65047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388fd4ed074976" /><Relationship Type="http://schemas.openxmlformats.org/officeDocument/2006/relationships/notesMaster" Target="/ppt/notesMasters/notesMaster1.xml" Id="R5a9d1f93170342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b8fc3eb4ea4872" /><Relationship Type="http://schemas.openxmlformats.org/officeDocument/2006/relationships/notesMaster" Target="/ppt/notesMasters/notesMaster1.xml" Id="R3c8e0b6ed34c4a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文化体现在每天怎样做事。本单元接着战略与推进，讨论怎样让改善成为日常工作方式。作者认为，企业文化与领导者的行事习惯密切相关，不能只靠口号来理解。三讲依次学习面对客户问题、现场学习与指导，以及行为怎样持续。请沿用前面的一项工作问题，观察自己或团队遇到问题时通常怎样反应。课程练习由整理者设计，帮助你选出一个能够改变的小行为，而不是立即评价整个企业的文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10_书籍/企业精益转型的领导之道/01_章节/CH07-S01 定义企业文化.md#^llet-ch07-s01-p001</a:t>
            </a:r>
          </a:p>
          <a:p xmlns:a="http://schemas.openxmlformats.org/drawingml/2006/main">
            <a:r>
              <a:t>10_书籍/企业精益转型的领导之道/01_章节/CH07-S03 服务客户／客户至上.md#^llet-ch07-s03-p001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客户需要与真实信息。原书把服务客户放在改善的出发点，同时强调信息可信。如果只报告好消息，团队就难以理解真实问题。作者还从谦逊谈到反省、挑战和改进：先承认还有可以做得更好的地方，才有继续学习的空间。联系工作时，可以说明一次交付对接收者产生了什么影响，再列出实际发生的事实。这样的表述是本课的应用安排，避免先把问题归结为某个人的态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10_书籍/企业精益转型的领导之道/01_章节/CH07-S03 服务客户／客户至上.md#^llet-ch07-s03-p001</a:t>
            </a:r>
          </a:p>
          <a:p xmlns:a="http://schemas.openxmlformats.org/drawingml/2006/main">
            <a:r>
              <a:t>10_书籍/企业精益转型的领导之道/01_章节/CH07-S04 无论如何，寻找正确的.md#^llet-ch07-s04-p001</a:t>
            </a:r>
          </a:p>
          <a:p xmlns:a="http://schemas.openxmlformats.org/drawingml/2006/main">
            <a:r>
              <a:t>10_书籍/企业精益转型的领导之道/01_章节/CH07-S06 直面不足.md#^llet-ch07-s06-p002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原书案例：HON/HNI的积极诚实。作者在HON/HNI的经历中，把积极的诚实解释为，不仅不说谎，还要有人讲出事实，即使事实可能带来消极影响。同一段还用坏消息优先来说明如何看待新建议中的问题。本讲借这个历史实例理解诚实报告的价值，不把它解释为先批评每个人。说出问题以后，还需要用尊重的方式讨论不足，并帮助参与者改进。对自己的工作，可以先练习把一个不利事实说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10_书籍/企业精益转型的领导之道/01_章节/CH07-S04 无论如何，寻找正确的.md#^llet-ch07-s04-p001</a:t>
            </a:r>
          </a:p>
          <a:p xmlns:a="http://schemas.openxmlformats.org/drawingml/2006/main">
            <a:r>
              <a:t>10_书籍/企业精益转型的领导之道/01_章节/CH07-S07 带着尊重，真诚表达.md#^llet-ch07-s07-p001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尊重地反馈，充分理解问题。原书强调，诚实与尊重同样重要。主管既要了解团队成员的长处和不足，也要以敬意帮助他们面对和改进不足。解决问题时，作者提出先充分理解问题，再寻找有效方案，并介绍五个为什么与A3思维。本讲只说明它们帮助思考的用途，不把问满五次或填满固定格子当作原因已证实。应用时应核对事实，并让参与者说明实际过程；这一步是本课程的练习提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10_书籍/企业精益转型的领导之道/01_章节/CH07-S07 带着尊重，真诚表达.md#^llet-ch07-s07-p001</a:t>
            </a:r>
          </a:p>
          <a:p xmlns:a="http://schemas.openxmlformats.org/drawingml/2006/main">
            <a:r>
              <a:t>10_书籍/企业精益转型的领导之道/01_章节/CH07-S05 谨慎决策，快速执行.md#^llet-ch07-s05-p001</a:t>
            </a:r>
          </a:p>
          <a:p xmlns:a="http://schemas.openxmlformats.org/drawingml/2006/main">
            <a:r>
              <a:t>10_书籍/企业精益转型的领导之道/01_章节/CH07-S05 谨慎决策，快速执行.md#^llet-ch07-s05-p002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工作练习：一次问题沟通。现在暂停音频，打开共用学习单。记录最近一次让客户或下一岗位受影响的问题，分别写明已知事实和仍待了解之处。然后拟一句准备对同事说的话，例如这次资料少了一项，我想和你一起了解交接时发生了什么。这句话是教学情境，不是原书案例。练习重点是说清现象、保留询问空间，并商量下一步如何了解过程，不要求一次谈话就找出全部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10_书籍/企业精益转型的领导之道/01_章节/CH07-S03 服务客户／客户至上.md#^llet-ch07-s03-p001</a:t>
            </a:r>
          </a:p>
          <a:p xmlns:a="http://schemas.openxmlformats.org/drawingml/2006/main">
            <a:r>
              <a:t>10_书籍/企业精益转型的领导之道/01_章节/CH07-S07 带着尊重，真诚表达.md#^llet-ch07-s07-p001</a:t>
            </a:r>
          </a:p>
          <a:p xmlns:a="http://schemas.openxmlformats.org/drawingml/2006/main">
            <a:r>
              <a:t>10_书籍/企业精益转型的领导之道/01_章节/CH07-S05 谨慎决策，快速执行.md#^llet-ch07-s05-p002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小结：问题可以被诚实地讨论。本讲记住三个要点：先看客户受到什么影响，如实说明问题，以尊重的方式讨论不足。自测一下，尊重是否意味着不能指出问题？按原书的理解，尊重与真诚表达应同时做到，目的是帮助人认识和改进不足。你的一个行动，是请相关同事核对学习单中的事实，看看是否有误解或遗漏。下一讲继续到实际工作地点观察，并学习如何帮助他人积累解决问题的经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10_书籍/企业精益转型的领导之道/01_章节/CH07-S03 服务客户／客户至上.md#^llet-ch07-s03-p001</a:t>
            </a:r>
          </a:p>
          <a:p xmlns:a="http://schemas.openxmlformats.org/drawingml/2006/main">
            <a:r>
              <a:t>10_书籍/企业精益转型的领导之道/01_章节/CH07-S04 无论如何，寻找正确的.md#^llet-ch07-s04-p001</a:t>
            </a:r>
          </a:p>
          <a:p xmlns:a="http://schemas.openxmlformats.org/drawingml/2006/main">
            <a:r>
              <a:t>10_书籍/企业精益转型的领导之道/01_章节/CH07-S07 带着尊重，真诚表达.md#^llet-ch07-s07-p001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4630f641849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0af2dd2eda4bd1" /><Relationship Type="http://schemas.openxmlformats.org/officeDocument/2006/relationships/slideLayout" Target="/ppt/slideLayouts/slideLayout1.xml" Id="R31262e8a3d9c43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262e8a3d9c43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3b2de46c643ca" /><Relationship Type="http://schemas.openxmlformats.org/officeDocument/2006/relationships/notesSlide" Target="/ppt/notesSlides/notesSlide1.xml" Id="R0d1cae8ca6bb48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334e296bf4883" /><Relationship Type="http://schemas.openxmlformats.org/officeDocument/2006/relationships/notesSlide" Target="/ppt/notesSlides/notesSlide2.xml" Id="R437f017f8c5042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f7f7e89674c00" /><Relationship Type="http://schemas.openxmlformats.org/officeDocument/2006/relationships/notesSlide" Target="/ppt/notesSlides/notesSlide3.xml" Id="R079f70f120b140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a689261174804" /><Relationship Type="http://schemas.openxmlformats.org/officeDocument/2006/relationships/notesSlide" Target="/ppt/notesSlides/notesSlide4.xml" Id="R4cd630126ae64f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60e9f59a34dda" /><Relationship Type="http://schemas.openxmlformats.org/officeDocument/2006/relationships/notesSlide" Target="/ppt/notesSlides/notesSlide5.xml" Id="R348c3772d1054f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9a069828c41fe" /><Relationship Type="http://schemas.openxmlformats.org/officeDocument/2006/relationships/notesSlide" Target="/ppt/notesSlides/notesSlide6.xml" Id="R32ed2b159c324e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36421-EB3C-4056-8520-504F12BB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文化体现在每天怎样做事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67098-952A-4B0D-9F27-88BA01C8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领导者的行为影响文化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D797D-37ED-4A91-9EA6-8EF6319F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客户影响是讨论改善的起点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E4734-CCA6-42E6-BB8A-6283ADB6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三讲联系自己的日常工作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9C931-877B-407E-B8D8-1F8BEBED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L20    1/6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10961588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5889F-6063-4768-9434-1947AFB8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客户需要与真实信息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616EC-FF22-44FE-9544-3D602E7E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讨论改变对客户有什么影响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57150-A853-4910-ACFB-E2D52119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如实说明问题和不利事实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6B8F3-E975-4224-A9B2-C3C65C9C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承认还有可以做得更好的地方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07EA8-4825-42FF-98C0-F9D092C2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L20    2/6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5310109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4396B-F1F4-4684-BF20-9A1F3813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原书案例：HON/HNI的积极诚实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47096-FBD9-4FAF-85AF-2457E152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诚信不仅意味着不说谎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6962B-6BAF-4CE6-BDD5-98729C76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即使不利，也需要讲出事实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1C942-E51C-425F-AD33-D1427EDE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问题得到说明，才有机会改进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B5A8C-8685-443A-AE6A-803962F3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L20    3/6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1371467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85F9E-6B28-40C0-ADF9-B5C819F0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尊重地反馈，充分理解问题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D1FE1-7FD4-4759-B3DC-B043931E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具体说明长处和不足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62067-02CA-4DFE-81BD-32433BA9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理解问题之后再讨论方案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BBA93-A2FC-41AA-9743-D81FBAB3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五个为什么和A3是思考的帮助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AB7F0-65F0-410B-80D9-F245A2AC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L20    4/6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246780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A6146-450D-4C66-AC39-94252B61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工作练习：一次问题沟通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CF9CA-4F9C-4315-AD12-07E32CCE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客户或接收者受到什么影响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8223E-6751-46F2-8AF4-5D7631E7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我知道哪些事实，哪些还不知道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A8A28-0EBB-4231-905D-4DF047B6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准备怎样尊重地提出问题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AD151-017E-4FDE-8377-FF92A186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L20    5/6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1494512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77736-CB91-4209-85D7-F178768C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小结：问题可以被诚实地讨论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BE816-250C-488B-96F8-0C259884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要点：关注客户、如实说明、尊重沟通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9D3F9-D20F-403A-AFE3-9F3F5735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自测：尊重是否意味着回避不足？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3F772-EEE2-4320-BAED-DFA093CA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行动：核对一次问题描述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F53D1-7F5A-4EEC-BA8A-496B2784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L20    6/6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580025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2026-09-20T10:49:12.6440000Z</dcterms:created>
  <dcterms:modified xsi:type="dcterms:W3CDTF">2026-09-20T10:49:12.6450000Z</dcterms:modified>
</coreProperties>
</file>