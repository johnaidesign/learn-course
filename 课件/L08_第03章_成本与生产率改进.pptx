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547054aa74544" /><Relationship Type="http://schemas.openxmlformats.org/officeDocument/2006/relationships/extended-properties" Target="/docProps/app.xml" Id="R145c82c92a7e4ed4" /><Relationship Type="http://schemas.openxmlformats.org/officeDocument/2006/relationships/officeDocument" Target="/ppt/presentation.xml" Id="R218eeda8b542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45d579c074435"/>
  </p:sldMasterIdLst>
  <p:notesMasterIdLst>
    <p:notesMasterId xmlns:r="http://schemas.openxmlformats.org/officeDocument/2006/relationships" r:id="Rdc5e62cf407a40b9"/>
  </p:notesMasterIdLst>
  <p:sldIdLst>
    <p:sldId xmlns:r="http://schemas.openxmlformats.org/officeDocument/2006/relationships" id="256" r:id="Rf169ee9233e64b0a"/>
    <p:sldId xmlns:r="http://schemas.openxmlformats.org/officeDocument/2006/relationships" id="257" r:id="R223e5bb02c5d4440"/>
    <p:sldId xmlns:r="http://schemas.openxmlformats.org/officeDocument/2006/relationships" id="258" r:id="Rf1b23807778749d5"/>
    <p:sldId xmlns:r="http://schemas.openxmlformats.org/officeDocument/2006/relationships" id="259" r:id="R21cd8783f603410e"/>
    <p:sldId xmlns:r="http://schemas.openxmlformats.org/officeDocument/2006/relationships" id="260" r:id="R004e4ebc51bf4005"/>
    <p:sldId xmlns:r="http://schemas.openxmlformats.org/officeDocument/2006/relationships" id="261" r:id="R6041eaf0c56c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6ef2727fd4b72" /><Relationship Type="http://schemas.openxmlformats.org/officeDocument/2006/relationships/slideMaster" Target="/ppt/slideMasters/slideMaster1.xml" Id="R5c845d579c074435" /><Relationship Type="http://schemas.openxmlformats.org/officeDocument/2006/relationships/notesMaster" Target="/ppt/notesMasters/notesMaster1.xml" Id="Rdc5e62cf407a40b9" /><Relationship Type="http://schemas.openxmlformats.org/officeDocument/2006/relationships/presProps" Target="/ppt/presProps.xml" Id="Rf66d7d09fa89400c" /><Relationship Type="http://schemas.openxmlformats.org/officeDocument/2006/relationships/tableStyles" Target="/ppt/tableStyles.xml" Id="Rc475ba20f5ca44ec" /><Relationship Type="http://schemas.openxmlformats.org/officeDocument/2006/relationships/slide" Target="/ppt/slides/slide1.xml" Id="Rf169ee9233e64b0a" /><Relationship Type="http://schemas.openxmlformats.org/officeDocument/2006/relationships/slide" Target="/ppt/slides/slide2.xml" Id="R223e5bb02c5d4440" /><Relationship Type="http://schemas.openxmlformats.org/officeDocument/2006/relationships/slide" Target="/ppt/slides/slide3.xml" Id="Rf1b23807778749d5" /><Relationship Type="http://schemas.openxmlformats.org/officeDocument/2006/relationships/slide" Target="/ppt/slides/slide4.xml" Id="R21cd8783f603410e" /><Relationship Type="http://schemas.openxmlformats.org/officeDocument/2006/relationships/slide" Target="/ppt/slides/slide5.xml" Id="R004e4ebc51bf4005" /><Relationship Type="http://schemas.openxmlformats.org/officeDocument/2006/relationships/slide" Target="/ppt/slides/slide6.xml" Id="R6041eaf0c56c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e069481e4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84871449541ff" /><Relationship Type="http://schemas.openxmlformats.org/officeDocument/2006/relationships/notesMaster" Target="/ppt/notesMasters/notesMaster1.xml" Id="Rd93c44664e3a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b7ec1208584963" /><Relationship Type="http://schemas.openxmlformats.org/officeDocument/2006/relationships/notesMaster" Target="/ppt/notesMasters/notesMaster1.xml" Id="R03a4269584984f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fe20396aa4beb" /><Relationship Type="http://schemas.openxmlformats.org/officeDocument/2006/relationships/notesMaster" Target="/ppt/notesMasters/notesMaster1.xml" Id="Raf7da120b19b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0f93532fd94c3c" /><Relationship Type="http://schemas.openxmlformats.org/officeDocument/2006/relationships/notesMaster" Target="/ppt/notesMasters/notesMaster1.xml" Id="R16c3886952a141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16d33293344c9" /><Relationship Type="http://schemas.openxmlformats.org/officeDocument/2006/relationships/notesMaster" Target="/ppt/notesMasters/notesMaster1.xml" Id="Rb7656d43f063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5a7891ebd4bf8" /><Relationship Type="http://schemas.openxmlformats.org/officeDocument/2006/relationships/notesMaster" Target="/ppt/notesMasters/notesMaster1.xml" Id="R13bbc44385e341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开场点明本讲进入成本与生产率这一真北指标。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读出“百分之九十”。强调是两类合计、作者说法，不是所有企业恒定结构，也不是外部采购独占。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点出 CEO 需要二十年积累的经验法则；说明成功也惠及竞争对手。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强调“不靠裁员承诺”：原书来自被迫减员教训，提出“增长不增员”思路；“90%以上”是作者说法，非恒定结构。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成本与生产率改进.md#^llet-ch03-s07-p003</a:t>
            </a:r>
          </a:p>
          <a:p xmlns:a="http://schemas.openxmlformats.org/drawingml/2006/main">
            <a:r>
              <a:t>证据：10_书籍/企业精益转型的领导之道/01_章节/CH03-S07 成本与生产率改进.md#^llet-ch03-s07-p004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说明维持单位价格让价格涨跌不干扰度量；强调要投入精力改进生产率，30%与70%口径有疑点，不作确定公式。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成本与生产率改进.md#^llet-ch03-s07-p007</a:t>
            </a:r>
          </a:p>
          <a:p xmlns:a="http://schemas.openxmlformats.org/drawingml/2006/main">
            <a:r>
              <a:t>证据：10_书籍/企业精益转型的领导之道/01_章节/CH03-S07 成本与生产率改进.md#^llet-ch03-s07-p008</a:t>
            </a:r>
          </a:p>
          <a:p xmlns:a="http://schemas.openxmlformats.org/drawingml/2006/main">
            <a:r>
              <a:t>证据：10_书籍/企业精益转型的领导之道/01_章节/CH03-S07 成本与生产率改进.md#^llet-ch03-s07-p010-list</a:t>
            </a:r>
          </a:p>
          <a:p xmlns:a="http://schemas.openxmlformats.org/drawingml/2006/main">
            <a:r>
              <a:t>证据：10_书籍/企业精益转型的领导之道/01_章节/CH03-S07 成本与生产率改进.md#^llet-ch03-s07-p011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说明这是整理者设计的练习，请学员填写，不预设答案，不引用具体企业数据。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证据：10_书籍/企业精益转型的领导之道/01_章节/CH03-S07 成本与生产率改进.md#^llet-ch03-s07-p010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202725093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4d27fc03d54af0" /><Relationship Type="http://schemas.openxmlformats.org/officeDocument/2006/relationships/slideLayout" Target="/ppt/slideLayouts/slideLayout1.xml" Id="R88583a4fef4147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83a4fef4147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87694ea91465a" /><Relationship Type="http://schemas.openxmlformats.org/officeDocument/2006/relationships/notesSlide" Target="/ppt/notesSlides/notesSlide1.xml" Id="R5b047b86c9c0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c8b8608e44eb1" /><Relationship Type="http://schemas.openxmlformats.org/officeDocument/2006/relationships/notesSlide" Target="/ppt/notesSlides/notesSlide2.xml" Id="R1a2d4572a16741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7d471d72c4955" /><Relationship Type="http://schemas.openxmlformats.org/officeDocument/2006/relationships/notesSlide" Target="/ppt/notesSlides/notesSlide3.xml" Id="R4afa07afa6b5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92c26f032405e" /><Relationship Type="http://schemas.openxmlformats.org/officeDocument/2006/relationships/notesSlide" Target="/ppt/notesSlides/notesSlide4.xml" Id="Rf667f5aea5a9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f04301cff4960" /><Relationship Type="http://schemas.openxmlformats.org/officeDocument/2006/relationships/notesSlide" Target="/ppt/notesSlides/notesSlide5.xml" Id="R0db7c92e37d2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27fd9892847b5" /><Relationship Type="http://schemas.openxmlformats.org/officeDocument/2006/relationships/notesSlide" Target="/ppt/notesSlides/notesSlide6.xml" Id="R8a751636ca5040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7AD6-64C1-43E1-B02F-A1D9153B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成本与生产率改进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4765F-77CB-412A-99AE-1123EF5C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283AF-ED73-4737-A1E8-E765B358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93C84-2E42-46C6-8681-EF5E4EE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成本的两大类：外部采购与人员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生产率是内部成本主要驱动力（作者说法）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生产率如何度量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8DB1-ADCB-40D9-A02F-3FE1CC9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LLET-CH03-S07-v01</a:t>
            </a:r>
          </a:p>
        </p:txBody>
      </p:sp>
    </p:spTree>
    <p:extLst>
      <p:ext uri="{BB962C8B-B14F-4D97-AF65-F5344CB8AC3E}">
        <p14:creationId xmlns:p14="http://schemas.microsoft.com/office/powerpoint/2010/main" val="1050738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3770E-E1A8-44DE-8F0F-CB2E96C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两类成本合计占90%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DA13B-0D21-469F-A81F-51E85FF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 ＋ 人员成本 = 90%（作者说法）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外部采购是单一最大部分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但很难从这里创造竞争优势</a:t>
            </a:r>
          </a:p>
        </p:txBody>
      </p:sp>
    </p:spTree>
    <p:extLst>
      <p:ext uri="{BB962C8B-B14F-4D97-AF65-F5344CB8AC3E}">
        <p14:creationId xmlns:p14="http://schemas.microsoft.com/office/powerpoint/2010/main" val="1263534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D822B-CEE1-42BF-9DA7-CE9D626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外部采购难创优势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0DE9D-FF20-4817-B74C-0F3C687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大宗采购受全球价格影响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特定组件由同行的行业专家生产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丰田靠持股绑定供应商，海外难复制</a:t>
            </a:r>
          </a:p>
        </p:txBody>
      </p:sp>
    </p:spTree>
    <p:extLst>
      <p:ext uri="{BB962C8B-B14F-4D97-AF65-F5344CB8AC3E}">
        <p14:creationId xmlns:p14="http://schemas.microsoft.com/office/powerpoint/2010/main" val="562538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F8463-DD52-402E-A7A5-41CD86E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人员与生产率驱动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9322E-D6B5-42C6-A711-CBE1CD0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罗克韦尔汽车崩溃后成本减半的教训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能否增长却不增员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生产率决定内部成本90%以上（作者说法）</a:t>
            </a:r>
          </a:p>
        </p:txBody>
      </p:sp>
    </p:spTree>
    <p:extLst>
      <p:ext uri="{BB962C8B-B14F-4D97-AF65-F5344CB8AC3E}">
        <p14:creationId xmlns:p14="http://schemas.microsoft.com/office/powerpoint/2010/main" val="178261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2846-FD72-47D3-A3FE-3652FCA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生产率：输出除以输入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30858-9B08-4CE8-816A-FCAEAB2B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输出＝价值（制动器／病人／起降频率）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输入＝工时；杰克制动：每个制动器所需时间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霍恩公司：每个成员每小时多少美元</a:t>
            </a:r>
          </a:p>
        </p:txBody>
      </p:sp>
    </p:spTree>
    <p:extLst>
      <p:ext uri="{BB962C8B-B14F-4D97-AF65-F5344CB8AC3E}">
        <p14:creationId xmlns:p14="http://schemas.microsoft.com/office/powerpoint/2010/main" val="1256723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22CFE-A378-4E31-89D5-2F1DAAC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0E7D4-3FDE-4CB3-A09F-4F26A07C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写下你们的输出单位与输入口径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记录实际精力放在质量／交付／人才／生产率的分配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写清每个指标的口径</a:t>
            </a:r>
          </a:p>
        </p:txBody>
      </p:sp>
    </p:spTree>
    <p:extLst>
      <p:ext uri="{BB962C8B-B14F-4D97-AF65-F5344CB8AC3E}">
        <p14:creationId xmlns:p14="http://schemas.microsoft.com/office/powerpoint/2010/main" val="1258193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2026-09-19T05:24:59.3480000Z</dcterms:created>
  <dcterms:modified xsi:type="dcterms:W3CDTF">2026-09-19T05:24:59.3480000Z</dcterms:modified>
</coreProperties>
</file>