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1802e2db0b415b" /><Relationship Type="http://schemas.openxmlformats.org/officeDocument/2006/relationships/extended-properties" Target="/docProps/app.xml" Id="R0a15ee39b12a433d" /><Relationship Type="http://schemas.openxmlformats.org/officeDocument/2006/relationships/officeDocument" Target="/ppt/presentation.xml" Id="R5b2940f9ed314e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b8a50c9594996"/>
  </p:sldMasterIdLst>
  <p:notesMasterIdLst>
    <p:notesMasterId xmlns:r="http://schemas.openxmlformats.org/officeDocument/2006/relationships" r:id="R7e371128a17b46f3"/>
  </p:notesMasterIdLst>
  <p:sldIdLst>
    <p:sldId xmlns:r="http://schemas.openxmlformats.org/officeDocument/2006/relationships" id="256" r:id="R01ccb42f0f1b40b1"/>
    <p:sldId xmlns:r="http://schemas.openxmlformats.org/officeDocument/2006/relationships" id="257" r:id="R3b18c629e51a47de"/>
    <p:sldId xmlns:r="http://schemas.openxmlformats.org/officeDocument/2006/relationships" id="258" r:id="R5eb70c21392f4ad7"/>
    <p:sldId xmlns:r="http://schemas.openxmlformats.org/officeDocument/2006/relationships" id="259" r:id="R3cdd850cd64247f5"/>
    <p:sldId xmlns:r="http://schemas.openxmlformats.org/officeDocument/2006/relationships" id="260" r:id="R1782637c6d9847e4"/>
    <p:sldId xmlns:r="http://schemas.openxmlformats.org/officeDocument/2006/relationships" id="261" r:id="R8ee8c605507745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8c794b8504cf6" /><Relationship Type="http://schemas.openxmlformats.org/officeDocument/2006/relationships/slideMaster" Target="/ppt/slideMasters/slideMaster1.xml" Id="R1bab8a50c9594996" /><Relationship Type="http://schemas.openxmlformats.org/officeDocument/2006/relationships/notesMaster" Target="/ppt/notesMasters/notesMaster1.xml" Id="R7e371128a17b46f3" /><Relationship Type="http://schemas.openxmlformats.org/officeDocument/2006/relationships/presProps" Target="/ppt/presProps.xml" Id="Rceebdb928996439f" /><Relationship Type="http://schemas.openxmlformats.org/officeDocument/2006/relationships/tableStyles" Target="/ppt/tableStyles.xml" Id="R1faf2d4b823340d0" /><Relationship Type="http://schemas.openxmlformats.org/officeDocument/2006/relationships/slide" Target="/ppt/slides/slide1.xml" Id="R01ccb42f0f1b40b1" /><Relationship Type="http://schemas.openxmlformats.org/officeDocument/2006/relationships/slide" Target="/ppt/slides/slide2.xml" Id="R3b18c629e51a47de" /><Relationship Type="http://schemas.openxmlformats.org/officeDocument/2006/relationships/slide" Target="/ppt/slides/slide3.xml" Id="R5eb70c21392f4ad7" /><Relationship Type="http://schemas.openxmlformats.org/officeDocument/2006/relationships/slide" Target="/ppt/slides/slide4.xml" Id="R3cdd850cd64247f5" /><Relationship Type="http://schemas.openxmlformats.org/officeDocument/2006/relationships/slide" Target="/ppt/slides/slide5.xml" Id="R1782637c6d9847e4" /><Relationship Type="http://schemas.openxmlformats.org/officeDocument/2006/relationships/slide" Target="/ppt/slides/slide6.xml" Id="R8ee8c605507745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219a87582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92e13df6a94745" /><Relationship Type="http://schemas.openxmlformats.org/officeDocument/2006/relationships/notesMaster" Target="/ppt/notesMasters/notesMaster1.xml" Id="R7ec40bc300b14a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f6f6d9eaa40f9" /><Relationship Type="http://schemas.openxmlformats.org/officeDocument/2006/relationships/notesMaster" Target="/ppt/notesMasters/notesMaster1.xml" Id="Rd2c2f651e077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d0249695e435a" /><Relationship Type="http://schemas.openxmlformats.org/officeDocument/2006/relationships/notesMaster" Target="/ppt/notesMasters/notesMaster1.xml" Id="Rca52b059afd7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c6f97a72654fe7" /><Relationship Type="http://schemas.openxmlformats.org/officeDocument/2006/relationships/notesMaster" Target="/ppt/notesMasters/notesMaster1.xml" Id="R6fb46f1f059a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0dd468c764f10" /><Relationship Type="http://schemas.openxmlformats.org/officeDocument/2006/relationships/notesMaster" Target="/ppt/notesMasters/notesMaster1.xml" Id="R82f0d91d0cb9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c02948497742ea" /><Relationship Type="http://schemas.openxmlformats.org/officeDocument/2006/relationships/notesMaster" Target="/ppt/notesMasters/notesMaster1.xml" Id="R22854963299d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开场点明真北指标是本章后续所有小节的地基。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逐项读出四个缩写，说明前三项衡量业务、第四项衡量人；C/P 读作“C 斜杠 P”。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丰田的真北指标.md#^llet-ch03-s02-p001-list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读出“百分之十到百分之三十”。强调只抓一项会抵消整体改进；数字是原书描述，非实践保证。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读出“百分之九十五到百分之九十九”。Aisin Seiki 案例是原书采访所述，不作“普遍可持续六十年”的保证。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丰田的真北指标.md#^llet-ch03-s02-p003</a:t>
            </a:r>
          </a:p>
          <a:p xmlns:a="http://schemas.openxmlformats.org/drawingml/2006/main">
            <a:r>
              <a:t>证据：10_书籍/企业精益转型的领导之道/01_章节/CH03-S02 丰田的真北指标.md#^llet-ch03-s02-p004</a:t>
            </a:r>
          </a:p>
          <a:p xmlns:a="http://schemas.openxmlformats.org/drawingml/2006/main">
            <a:r>
              <a:t>证据：10_书籍/企业精益转型的领导之道/01_章节/CH03-S02 丰田的真北指标.md#^llet-ch03-s02-p005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强调精益度量必须四项齐全，不能只看经营结果。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丰田的真北指标.md#^llet-ch03-s02-p006</a:t>
            </a:r>
          </a:p>
          <a:p xmlns:a="http://schemas.openxmlformats.org/drawingml/2006/main">
            <a:r>
              <a:t>证据：10_书籍/企业精益转型的领导之道/01_章节/CH03-S02 丰田的真北指标.md#^llet-ch03-s02-p007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说明这是整理者设计的练习，请学员填写，不预设答案。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证据：10_书籍/企业精益转型的领导之道/01_章节/CH03-S02 丰田的真北指标.md#^llet-ch03-s02-p002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df2847870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b482fb8e5946f6" /><Relationship Type="http://schemas.openxmlformats.org/officeDocument/2006/relationships/slideLayout" Target="/ppt/slideLayouts/slideLayout1.xml" Id="R04aaf157dc9e4d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af157dc9e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cca2a64e64ffe" /><Relationship Type="http://schemas.openxmlformats.org/officeDocument/2006/relationships/notesSlide" Target="/ppt/notesSlides/notesSlide1.xml" Id="R585537fbb46b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d811a4cd74837" /><Relationship Type="http://schemas.openxmlformats.org/officeDocument/2006/relationships/notesSlide" Target="/ppt/notesSlides/notesSlide2.xml" Id="R592f4f941919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0896e173c42ca" /><Relationship Type="http://schemas.openxmlformats.org/officeDocument/2006/relationships/notesSlide" Target="/ppt/notesSlides/notesSlide3.xml" Id="Re8a9c6ec2cba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cf18ffd024c48" /><Relationship Type="http://schemas.openxmlformats.org/officeDocument/2006/relationships/notesSlide" Target="/ppt/notesSlides/notesSlide4.xml" Id="Reded518f0ba4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0418e791646ec" /><Relationship Type="http://schemas.openxmlformats.org/officeDocument/2006/relationships/notesSlide" Target="/ppt/notesSlides/notesSlide5.xml" Id="R3377da6c6bbb40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3dd9360904beb" /><Relationship Type="http://schemas.openxmlformats.org/officeDocument/2006/relationships/notesSlide" Target="/ppt/notesSlides/notesSlide6.xml" Id="R8814baa937a9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92A88-F787-4BDB-8449-6D5CEE7D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丰田的真北指标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8B90D-1A20-48B4-9F71-952BBE5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9C529-2107-496F-A349-4040BBE5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56C1F-9060-4FBB-AA65-23393AD2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认识丰田“真北指标”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记住 Q、D、C/P、HD 四个缩写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理解长期目标与年度目标的区别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55394-99BD-4608-A404-E95B853F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LLET-CH03-S02-v01</a:t>
            </a:r>
          </a:p>
        </p:txBody>
      </p:sp>
    </p:spTree>
    <p:extLst>
      <p:ext uri="{BB962C8B-B14F-4D97-AF65-F5344CB8AC3E}">
        <p14:creationId xmlns:p14="http://schemas.microsoft.com/office/powerpoint/2010/main" val="526939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D3A91-F4E4-4A8E-A19C-1168D0A0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四个真北指标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4F23-B436-43A0-A86C-56AF3037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质量改进 Q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运输／交付周期／流程改进 D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成本／生产率改进 C/P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400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400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 HD</a:t>
            </a:r>
          </a:p>
        </p:txBody>
      </p:sp>
    </p:spTree>
    <p:extLst>
      <p:ext uri="{BB962C8B-B14F-4D97-AF65-F5344CB8AC3E}">
        <p14:creationId xmlns:p14="http://schemas.microsoft.com/office/powerpoint/2010/main" val="230470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D7C11-84D7-4D04-A4DD-495F722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零缺陷与两位数改善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46662-6A35-497A-A184-DACCA65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质量真北：零缺陷（每件事、每天、每个国家）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年度目标：每项改善 10%~30%（原书描述）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四个维度必须同时提高</a:t>
            </a:r>
          </a:p>
        </p:txBody>
      </p:sp>
    </p:spTree>
    <p:extLst>
      <p:ext uri="{BB962C8B-B14F-4D97-AF65-F5344CB8AC3E}">
        <p14:creationId xmlns:p14="http://schemas.microsoft.com/office/powerpoint/2010/main" val="200665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762BE-48AC-4F5D-A76C-82707E25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大企业病与百分之百增值时间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A244B-10F8-4372-BEA8-704B6FF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大企业病：傲慢 → 自满 → 失败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交付周期真北：100% 增值时间（长期方向）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原书描述典型流程 95%~99% 是非增值</a:t>
            </a:r>
          </a:p>
        </p:txBody>
      </p:sp>
    </p:spTree>
    <p:extLst>
      <p:ext uri="{BB962C8B-B14F-4D97-AF65-F5344CB8AC3E}">
        <p14:creationId xmlns:p14="http://schemas.microsoft.com/office/powerpoint/2010/main" val="861054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4D037-4819-43A7-9DEB-3A3FBB3A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人才培育：先造人后造物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E784F-0430-492E-B026-970D96DF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人才培育支撑前三项指标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不只提高表现，还要改进工作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在造物之前先造人</a:t>
            </a:r>
          </a:p>
        </p:txBody>
      </p:sp>
    </p:spTree>
    <p:extLst>
      <p:ext uri="{BB962C8B-B14F-4D97-AF65-F5344CB8AC3E}">
        <p14:creationId xmlns:p14="http://schemas.microsoft.com/office/powerpoint/2010/main" val="17712008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A9B1F-0E9A-469E-A576-83302212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A7AFD-5C34-4C4E-AB64-5D15F82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对照四个真北指标，列出你们在度量什么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哪些有年度目标，哪些没有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是否只偏重其中一两项</a:t>
            </a:r>
          </a:p>
        </p:txBody>
      </p:sp>
    </p:spTree>
    <p:extLst>
      <p:ext uri="{BB962C8B-B14F-4D97-AF65-F5344CB8AC3E}">
        <p14:creationId xmlns:p14="http://schemas.microsoft.com/office/powerpoint/2010/main" val="928188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2026-09-19T05:13:24.8930000Z</dcterms:created>
  <dcterms:modified xsi:type="dcterms:W3CDTF">2026-09-19T05:13:24.8930000Z</dcterms:modified>
</coreProperties>
</file>