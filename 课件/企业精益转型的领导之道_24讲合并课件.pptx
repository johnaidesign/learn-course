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theme/theme2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6" r:id="rId9"/>
    <p:sldMasterId id="2147483668" r:id="rId10"/>
    <p:sldMasterId id="2147483670" r:id="rId11"/>
    <p:sldMasterId id="2147483672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  <p:sldMasterId id="2147483686" r:id="rId19"/>
    <p:sldMasterId id="2147483688" r:id="rId20"/>
    <p:sldMasterId id="2147483690" r:id="rId21"/>
    <p:sldMasterId id="2147483692" r:id="rId22"/>
    <p:sldMasterId id="2147483694" r:id="rId23"/>
    <p:sldMasterId id="2147483696" r:id="rId24"/>
  </p:sldMasterIdLst>
  <p:notesMasterIdLst>
    <p:notesMasterId r:id="rId173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6" r:id="rId45"/>
    <p:sldId id="277" r:id="rId46"/>
    <p:sldId id="278" r:id="rId47"/>
    <p:sldId id="279" r:id="rId48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299" r:id="rId68"/>
    <p:sldId id="300" r:id="rId69"/>
    <p:sldId id="301" r:id="rId70"/>
    <p:sldId id="302" r:id="rId71"/>
    <p:sldId id="303" r:id="rId72"/>
    <p:sldId id="304" r:id="rId73"/>
    <p:sldId id="305" r:id="rId74"/>
    <p:sldId id="306" r:id="rId75"/>
    <p:sldId id="307" r:id="rId76"/>
    <p:sldId id="308" r:id="rId77"/>
    <p:sldId id="309" r:id="rId78"/>
    <p:sldId id="310" r:id="rId79"/>
    <p:sldId id="311" r:id="rId80"/>
    <p:sldId id="312" r:id="rId81"/>
    <p:sldId id="313" r:id="rId82"/>
    <p:sldId id="314" r:id="rId83"/>
    <p:sldId id="315" r:id="rId84"/>
    <p:sldId id="316" r:id="rId85"/>
    <p:sldId id="317" r:id="rId86"/>
    <p:sldId id="318" r:id="rId87"/>
    <p:sldId id="319" r:id="rId88"/>
    <p:sldId id="320" r:id="rId89"/>
    <p:sldId id="321" r:id="rId90"/>
    <p:sldId id="322" r:id="rId91"/>
    <p:sldId id="323" r:id="rId92"/>
    <p:sldId id="324" r:id="rId93"/>
    <p:sldId id="325" r:id="rId94"/>
    <p:sldId id="326" r:id="rId95"/>
    <p:sldId id="327" r:id="rId96"/>
    <p:sldId id="328" r:id="rId97"/>
    <p:sldId id="329" r:id="rId98"/>
    <p:sldId id="330" r:id="rId99"/>
    <p:sldId id="331" r:id="rId100"/>
    <p:sldId id="332" r:id="rId101"/>
    <p:sldId id="333" r:id="rId102"/>
    <p:sldId id="334" r:id="rId103"/>
    <p:sldId id="335" r:id="rId104"/>
    <p:sldId id="336" r:id="rId105"/>
    <p:sldId id="337" r:id="rId106"/>
    <p:sldId id="338" r:id="rId107"/>
    <p:sldId id="339" r:id="rId108"/>
    <p:sldId id="340" r:id="rId109"/>
    <p:sldId id="341" r:id="rId110"/>
    <p:sldId id="342" r:id="rId111"/>
    <p:sldId id="343" r:id="rId112"/>
    <p:sldId id="344" r:id="rId113"/>
    <p:sldId id="345" r:id="rId114"/>
    <p:sldId id="346" r:id="rId115"/>
    <p:sldId id="347" r:id="rId116"/>
    <p:sldId id="348" r:id="rId117"/>
    <p:sldId id="349" r:id="rId118"/>
    <p:sldId id="350" r:id="rId119"/>
    <p:sldId id="351" r:id="rId120"/>
    <p:sldId id="352" r:id="rId121"/>
    <p:sldId id="353" r:id="rId122"/>
    <p:sldId id="354" r:id="rId123"/>
    <p:sldId id="355" r:id="rId124"/>
    <p:sldId id="356" r:id="rId125"/>
    <p:sldId id="357" r:id="rId126"/>
    <p:sldId id="358" r:id="rId127"/>
    <p:sldId id="359" r:id="rId128"/>
    <p:sldId id="360" r:id="rId129"/>
    <p:sldId id="361" r:id="rId130"/>
    <p:sldId id="362" r:id="rId131"/>
    <p:sldId id="363" r:id="rId132"/>
    <p:sldId id="364" r:id="rId133"/>
    <p:sldId id="365" r:id="rId134"/>
    <p:sldId id="366" r:id="rId135"/>
    <p:sldId id="367" r:id="rId136"/>
    <p:sldId id="368" r:id="rId137"/>
    <p:sldId id="369" r:id="rId138"/>
    <p:sldId id="370" r:id="rId139"/>
    <p:sldId id="371" r:id="rId140"/>
    <p:sldId id="372" r:id="rId141"/>
    <p:sldId id="373" r:id="rId142"/>
    <p:sldId id="374" r:id="rId143"/>
    <p:sldId id="375" r:id="rId144"/>
    <p:sldId id="376" r:id="rId145"/>
    <p:sldId id="377" r:id="rId146"/>
    <p:sldId id="378" r:id="rId147"/>
    <p:sldId id="379" r:id="rId148"/>
    <p:sldId id="380" r:id="rId149"/>
    <p:sldId id="381" r:id="rId150"/>
    <p:sldId id="382" r:id="rId151"/>
    <p:sldId id="383" r:id="rId152"/>
    <p:sldId id="384" r:id="rId153"/>
    <p:sldId id="385" r:id="rId154"/>
    <p:sldId id="386" r:id="rId155"/>
    <p:sldId id="387" r:id="rId156"/>
    <p:sldId id="388" r:id="rId157"/>
    <p:sldId id="389" r:id="rId158"/>
    <p:sldId id="390" r:id="rId159"/>
    <p:sldId id="391" r:id="rId160"/>
    <p:sldId id="392" r:id="rId161"/>
    <p:sldId id="393" r:id="rId162"/>
    <p:sldId id="394" r:id="rId163"/>
    <p:sldId id="395" r:id="rId164"/>
    <p:sldId id="396" r:id="rId165"/>
    <p:sldId id="397" r:id="rId166"/>
    <p:sldId id="398" r:id="rId167"/>
    <p:sldId id="399" r:id="rId168"/>
    <p:sldId id="400" r:id="rId169"/>
    <p:sldId id="401" r:id="rId170"/>
    <p:sldId id="402" r:id="rId171"/>
    <p:sldId id="403" r:id="rId17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00 · 全书导学 · 导学：从一个工作问题开始" id="{F1FB2339-7E69-4F68-B23E-05740A2D545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L01 · 第01—02章 · 精益是什么，要解决什么问题" id="{60108ADC-426A-4425-8E59-F8D90C550E3F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02 · 第02章 · 识别浪费与解决问题" id="{F1F23EC6-DB7E-4A57-AF68-0C88D91EC89B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L03 · 第03章 · 了解财务指标：个人的例子" id="{8CD93765-4F83-43B3-9A14-E9323C70231D}">
          <p14:sldIdLst>
            <p14:sldId id="274"/>
            <p14:sldId id="275"/>
            <p14:sldId id="276"/>
            <p14:sldId id="277"/>
            <p14:sldId id="278"/>
          </p14:sldIdLst>
        </p14:section>
        <p14:section name="L04 · 第03章 · 丰田的真北指标" id="{5D2E38E0-6B13-4A7C-9D04-4793AA664E98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L05 · 第03章 · 多高才算高" id="{D8B2579F-1D9C-482A-904B-6A2E5283B3C4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L06 · 第03章 · 质量改进" id="{D039696D-EC09-4496-A475-A9C42479F0C1}">
          <p14:sldIdLst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L07 · 第03章 · 交付时间与流程改进" id="{48DE2729-619C-454F-AE2D-0B636225725A}">
          <p14:sldIdLst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L08 · 第03章 · 成本与生产率改进" id="{D922CB5C-1223-4172-8A7D-611B6E87EC2B}">
          <p14:sldIdLst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L09 · 第03章 · 人才培育" id="{A54932F9-2D7E-4DC3-8C95-75507D8FBB12}">
          <p14:sldIdLst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L10 · 第03章 · 将真北指标与财务指标相关联" id="{B040AD6A-8A14-40A6-B08C-43B17A0573F9}">
          <p14:sldIdLst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L11 · 第04章 · 从现状价值流识别浪费" id="{615A1AF1-6FCA-4CCD-A7D3-93D19213462D}">
          <p14:sldIdLst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L12 · 第04章 · 从理想状态到未来状态和计划" id="{CAB4F061-761A-44B9-A5A4-2EBB0DC1C705}">
          <p14:sldIdLst>
            <p14:sldId id="332"/>
            <p14:sldId id="333"/>
            <p14:sldId id="334"/>
            <p14:sldId id="335"/>
            <p14:sldId id="336"/>
            <p14:sldId id="337"/>
          </p14:sldIdLst>
        </p14:section>
        <p14:section name="L13 · 第04章 · 通过改善活动落实计划" id="{9DF0E994-E4BE-41C2-AF1F-11230184A1AC}">
          <p14:sldIdLst>
            <p14:sldId id="338"/>
            <p14:sldId id="339"/>
            <p14:sldId id="340"/>
            <p14:sldId id="341"/>
            <p14:sldId id="342"/>
            <p14:sldId id="343"/>
          </p14:sldIdLst>
        </p14:section>
        <p14:section name="L14 · 第05章 · 改善活动怎样获得人员支持" id="{60B9DDB8-4910-42BA-AE3B-8F381ABA7719}">
          <p14:sldIdLst>
            <p14:sldId id="344"/>
            <p14:sldId id="345"/>
            <p14:sldId id="346"/>
            <p14:sldId id="347"/>
            <p14:sldId id="348"/>
            <p14:sldId id="349"/>
          </p14:sldIdLst>
        </p14:section>
        <p14:section name="L15 · 第05章 · 怎样选择成员和领导者" id="{04F00D58-B61A-4C47-BC98-F114BD9E8889}">
          <p14:sldIdLst>
            <p14:sldId id="350"/>
            <p14:sldId id="351"/>
            <p14:sldId id="352"/>
            <p14:sldId id="353"/>
            <p14:sldId id="354"/>
            <p14:sldId id="355"/>
          </p14:sldIdLst>
        </p14:section>
        <p14:section name="L16 · 第05章 · Watlow经验与持续培养" id="{1CC9053D-CED4-43E1-BF6C-ECA8984FF17F}">
          <p14:sldIdLst>
            <p14:sldId id="356"/>
            <p14:sldId id="357"/>
            <p14:sldId id="358"/>
            <p14:sldId id="359"/>
            <p14:sldId id="360"/>
            <p14:sldId id="361"/>
          </p14:sldIdLst>
        </p14:section>
        <p14:section name="L17 · 第06章 · 领导参与、沟通与指导联盟" id="{ED60E868-056F-4ACA-82B4-F02F287F07F2}">
          <p14:sldIdLst>
            <p14:sldId id="362"/>
            <p14:sldId id="363"/>
            <p14:sldId id="364"/>
            <p14:sldId id="365"/>
            <p14:sldId id="366"/>
            <p14:sldId id="367"/>
          </p14:sldIdLst>
        </p14:section>
        <p14:section name="L18 · 第06章 · 战略部署与可视化管理" id="{730E9CCD-F8BB-497C-8B32-B9E274B3102E}">
          <p14:sldIdLst>
            <p14:sldId id="368"/>
            <p14:sldId id="369"/>
            <p14:sldId id="370"/>
            <p14:sldId id="371"/>
            <p14:sldId id="372"/>
            <p14:sldId id="373"/>
          </p14:sldIdLst>
        </p14:section>
        <p14:section name="L19 · 第06章 · 持续推进与转型阶段" id="{9E1F4C07-AB59-4972-8EEC-B6F492E6179F}">
          <p14:sldIdLst>
            <p14:sldId id="374"/>
            <p14:sldId id="375"/>
            <p14:sldId id="376"/>
            <p14:sldId id="377"/>
            <p14:sldId id="378"/>
            <p14:sldId id="379"/>
          </p14:sldIdLst>
        </p14:section>
        <p14:section name="L20 · 第07章 · 客户、尊重与面对问题" id="{3B1762FD-E37D-414E-8E81-CE86A23F4C3E}">
          <p14:sldIdLst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L21 · 第07章 · 现场学习、指导与日常改善" id="{1B186414-7FAA-48AC-B6C0-A59E775D79DA}">
          <p14:sldIdLst>
            <p14:sldId id="386"/>
            <p14:sldId id="387"/>
            <p14:sldId id="388"/>
            <p14:sldId id="389"/>
            <p14:sldId id="390"/>
            <p14:sldId id="391"/>
          </p14:sldIdLst>
        </p14:section>
        <p14:section name="L22 · 第07章 · 让行为与文化持续改变" id="{878949C0-5584-4F89-A021-C7106B7BEC5F}">
          <p14:sldIdLst>
            <p14:sldId id="392"/>
            <p14:sldId id="393"/>
            <p14:sldId id="394"/>
            <p14:sldId id="395"/>
            <p14:sldId id="396"/>
            <p14:sldId id="397"/>
          </p14:sldIdLst>
        </p14:section>
        <p14:section name="L23 · 全书回顾 · 回顾：形成我的工作改善行动草案" id="{399554CB-62E8-44CC-A0EF-F166348CABFB}">
          <p14:sldIdLst>
            <p14:sldId id="398"/>
            <p14:sldId id="399"/>
            <p14:sldId id="400"/>
            <p14:sldId id="401"/>
            <p14:sldId id="402"/>
            <p14:sldId id="4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93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18.xml"/><Relationship Id="rId63" Type="http://schemas.openxmlformats.org/officeDocument/2006/relationships/slide" Target="slides/slide39.xml"/><Relationship Id="rId84" Type="http://schemas.openxmlformats.org/officeDocument/2006/relationships/slide" Target="slides/slide60.xml"/><Relationship Id="rId138" Type="http://schemas.openxmlformats.org/officeDocument/2006/relationships/slide" Target="slides/slide114.xml"/><Relationship Id="rId159" Type="http://schemas.openxmlformats.org/officeDocument/2006/relationships/slide" Target="slides/slide135.xml"/><Relationship Id="rId170" Type="http://schemas.openxmlformats.org/officeDocument/2006/relationships/slide" Target="slides/slide146.xml"/><Relationship Id="rId107" Type="http://schemas.openxmlformats.org/officeDocument/2006/relationships/slide" Target="slides/slide83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8.xml"/><Relationship Id="rId53" Type="http://schemas.openxmlformats.org/officeDocument/2006/relationships/slide" Target="slides/slide29.xml"/><Relationship Id="rId74" Type="http://schemas.openxmlformats.org/officeDocument/2006/relationships/slide" Target="slides/slide50.xml"/><Relationship Id="rId128" Type="http://schemas.openxmlformats.org/officeDocument/2006/relationships/slide" Target="slides/slide104.xml"/><Relationship Id="rId149" Type="http://schemas.openxmlformats.org/officeDocument/2006/relationships/slide" Target="slides/slide125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71.xml"/><Relationship Id="rId160" Type="http://schemas.openxmlformats.org/officeDocument/2006/relationships/slide" Target="slides/slide136.xml"/><Relationship Id="rId22" Type="http://schemas.openxmlformats.org/officeDocument/2006/relationships/slideMaster" Target="slideMasters/slideMaster22.xml"/><Relationship Id="rId43" Type="http://schemas.openxmlformats.org/officeDocument/2006/relationships/slide" Target="slides/slide19.xml"/><Relationship Id="rId64" Type="http://schemas.openxmlformats.org/officeDocument/2006/relationships/slide" Target="slides/slide40.xml"/><Relationship Id="rId118" Type="http://schemas.openxmlformats.org/officeDocument/2006/relationships/slide" Target="slides/slide94.xml"/><Relationship Id="rId139" Type="http://schemas.openxmlformats.org/officeDocument/2006/relationships/slide" Target="slides/slide115.xml"/><Relationship Id="rId85" Type="http://schemas.openxmlformats.org/officeDocument/2006/relationships/slide" Target="slides/slide61.xml"/><Relationship Id="rId150" Type="http://schemas.openxmlformats.org/officeDocument/2006/relationships/slide" Target="slides/slide126.xml"/><Relationship Id="rId171" Type="http://schemas.openxmlformats.org/officeDocument/2006/relationships/slide" Target="slides/slide147.xml"/><Relationship Id="rId12" Type="http://schemas.openxmlformats.org/officeDocument/2006/relationships/slideMaster" Target="slideMasters/slideMaster12.xml"/><Relationship Id="rId33" Type="http://schemas.openxmlformats.org/officeDocument/2006/relationships/slide" Target="slides/slide9.xml"/><Relationship Id="rId108" Type="http://schemas.openxmlformats.org/officeDocument/2006/relationships/slide" Target="slides/slide84.xml"/><Relationship Id="rId129" Type="http://schemas.openxmlformats.org/officeDocument/2006/relationships/slide" Target="slides/slide105.xml"/><Relationship Id="rId54" Type="http://schemas.openxmlformats.org/officeDocument/2006/relationships/slide" Target="slides/slide30.xml"/><Relationship Id="rId75" Type="http://schemas.openxmlformats.org/officeDocument/2006/relationships/slide" Target="slides/slide51.xml"/><Relationship Id="rId96" Type="http://schemas.openxmlformats.org/officeDocument/2006/relationships/slide" Target="slides/slide72.xml"/><Relationship Id="rId140" Type="http://schemas.openxmlformats.org/officeDocument/2006/relationships/slide" Target="slides/slide116.xml"/><Relationship Id="rId161" Type="http://schemas.openxmlformats.org/officeDocument/2006/relationships/slide" Target="slides/slide137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4.xml"/><Relationship Id="rId49" Type="http://schemas.openxmlformats.org/officeDocument/2006/relationships/slide" Target="slides/slide25.xml"/><Relationship Id="rId114" Type="http://schemas.openxmlformats.org/officeDocument/2006/relationships/slide" Target="slides/slide90.xml"/><Relationship Id="rId119" Type="http://schemas.openxmlformats.org/officeDocument/2006/relationships/slide" Target="slides/slide95.xml"/><Relationship Id="rId44" Type="http://schemas.openxmlformats.org/officeDocument/2006/relationships/slide" Target="slides/slide20.xml"/><Relationship Id="rId60" Type="http://schemas.openxmlformats.org/officeDocument/2006/relationships/slide" Target="slides/slide36.xml"/><Relationship Id="rId65" Type="http://schemas.openxmlformats.org/officeDocument/2006/relationships/slide" Target="slides/slide41.xml"/><Relationship Id="rId81" Type="http://schemas.openxmlformats.org/officeDocument/2006/relationships/slide" Target="slides/slide57.xml"/><Relationship Id="rId86" Type="http://schemas.openxmlformats.org/officeDocument/2006/relationships/slide" Target="slides/slide62.xml"/><Relationship Id="rId130" Type="http://schemas.openxmlformats.org/officeDocument/2006/relationships/slide" Target="slides/slide106.xml"/><Relationship Id="rId135" Type="http://schemas.openxmlformats.org/officeDocument/2006/relationships/slide" Target="slides/slide111.xml"/><Relationship Id="rId151" Type="http://schemas.openxmlformats.org/officeDocument/2006/relationships/slide" Target="slides/slide127.xml"/><Relationship Id="rId156" Type="http://schemas.openxmlformats.org/officeDocument/2006/relationships/slide" Target="slides/slide132.xml"/><Relationship Id="rId177" Type="http://schemas.openxmlformats.org/officeDocument/2006/relationships/tableStyles" Target="tableStyles.xml"/><Relationship Id="rId172" Type="http://schemas.openxmlformats.org/officeDocument/2006/relationships/slide" Target="slides/slide14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5.xml"/><Relationship Id="rId109" Type="http://schemas.openxmlformats.org/officeDocument/2006/relationships/slide" Target="slides/slide85.xml"/><Relationship Id="rId34" Type="http://schemas.openxmlformats.org/officeDocument/2006/relationships/slide" Target="slides/slide10.xml"/><Relationship Id="rId50" Type="http://schemas.openxmlformats.org/officeDocument/2006/relationships/slide" Target="slides/slide26.xml"/><Relationship Id="rId55" Type="http://schemas.openxmlformats.org/officeDocument/2006/relationships/slide" Target="slides/slide31.xml"/><Relationship Id="rId76" Type="http://schemas.openxmlformats.org/officeDocument/2006/relationships/slide" Target="slides/slide52.xml"/><Relationship Id="rId97" Type="http://schemas.openxmlformats.org/officeDocument/2006/relationships/slide" Target="slides/slide73.xml"/><Relationship Id="rId104" Type="http://schemas.openxmlformats.org/officeDocument/2006/relationships/slide" Target="slides/slide80.xml"/><Relationship Id="rId120" Type="http://schemas.openxmlformats.org/officeDocument/2006/relationships/slide" Target="slides/slide96.xml"/><Relationship Id="rId125" Type="http://schemas.openxmlformats.org/officeDocument/2006/relationships/slide" Target="slides/slide101.xml"/><Relationship Id="rId141" Type="http://schemas.openxmlformats.org/officeDocument/2006/relationships/slide" Target="slides/slide117.xml"/><Relationship Id="rId146" Type="http://schemas.openxmlformats.org/officeDocument/2006/relationships/slide" Target="slides/slide122.xml"/><Relationship Id="rId167" Type="http://schemas.openxmlformats.org/officeDocument/2006/relationships/slide" Target="slides/slide143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7.xml"/><Relationship Id="rId92" Type="http://schemas.openxmlformats.org/officeDocument/2006/relationships/slide" Target="slides/slide68.xml"/><Relationship Id="rId162" Type="http://schemas.openxmlformats.org/officeDocument/2006/relationships/slide" Target="slides/slide13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5.xml"/><Relationship Id="rId24" Type="http://schemas.openxmlformats.org/officeDocument/2006/relationships/slideMaster" Target="slideMasters/slideMaster24.xml"/><Relationship Id="rId40" Type="http://schemas.openxmlformats.org/officeDocument/2006/relationships/slide" Target="slides/slide16.xml"/><Relationship Id="rId45" Type="http://schemas.openxmlformats.org/officeDocument/2006/relationships/slide" Target="slides/slide21.xml"/><Relationship Id="rId66" Type="http://schemas.openxmlformats.org/officeDocument/2006/relationships/slide" Target="slides/slide42.xml"/><Relationship Id="rId87" Type="http://schemas.openxmlformats.org/officeDocument/2006/relationships/slide" Target="slides/slide63.xml"/><Relationship Id="rId110" Type="http://schemas.openxmlformats.org/officeDocument/2006/relationships/slide" Target="slides/slide86.xml"/><Relationship Id="rId115" Type="http://schemas.openxmlformats.org/officeDocument/2006/relationships/slide" Target="slides/slide91.xml"/><Relationship Id="rId131" Type="http://schemas.openxmlformats.org/officeDocument/2006/relationships/slide" Target="slides/slide107.xml"/><Relationship Id="rId136" Type="http://schemas.openxmlformats.org/officeDocument/2006/relationships/slide" Target="slides/slide112.xml"/><Relationship Id="rId157" Type="http://schemas.openxmlformats.org/officeDocument/2006/relationships/slide" Target="slides/slide133.xml"/><Relationship Id="rId61" Type="http://schemas.openxmlformats.org/officeDocument/2006/relationships/slide" Target="slides/slide37.xml"/><Relationship Id="rId82" Type="http://schemas.openxmlformats.org/officeDocument/2006/relationships/slide" Target="slides/slide58.xml"/><Relationship Id="rId152" Type="http://schemas.openxmlformats.org/officeDocument/2006/relationships/slide" Target="slides/slide128.xml"/><Relationship Id="rId173" Type="http://schemas.openxmlformats.org/officeDocument/2006/relationships/notesMaster" Target="notesMasters/notesMaster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56" Type="http://schemas.openxmlformats.org/officeDocument/2006/relationships/slide" Target="slides/slide32.xml"/><Relationship Id="rId77" Type="http://schemas.openxmlformats.org/officeDocument/2006/relationships/slide" Target="slides/slide53.xml"/><Relationship Id="rId100" Type="http://schemas.openxmlformats.org/officeDocument/2006/relationships/slide" Target="slides/slide76.xml"/><Relationship Id="rId105" Type="http://schemas.openxmlformats.org/officeDocument/2006/relationships/slide" Target="slides/slide81.xml"/><Relationship Id="rId126" Type="http://schemas.openxmlformats.org/officeDocument/2006/relationships/slide" Target="slides/slide102.xml"/><Relationship Id="rId147" Type="http://schemas.openxmlformats.org/officeDocument/2006/relationships/slide" Target="slides/slide123.xml"/><Relationship Id="rId168" Type="http://schemas.openxmlformats.org/officeDocument/2006/relationships/slide" Target="slides/slide144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7.xml"/><Relationship Id="rId72" Type="http://schemas.openxmlformats.org/officeDocument/2006/relationships/slide" Target="slides/slide48.xml"/><Relationship Id="rId93" Type="http://schemas.openxmlformats.org/officeDocument/2006/relationships/slide" Target="slides/slide69.xml"/><Relationship Id="rId98" Type="http://schemas.openxmlformats.org/officeDocument/2006/relationships/slide" Target="slides/slide74.xml"/><Relationship Id="rId121" Type="http://schemas.openxmlformats.org/officeDocument/2006/relationships/slide" Target="slides/slide97.xml"/><Relationship Id="rId142" Type="http://schemas.openxmlformats.org/officeDocument/2006/relationships/slide" Target="slides/slide118.xml"/><Relationship Id="rId163" Type="http://schemas.openxmlformats.org/officeDocument/2006/relationships/slide" Target="slides/slide139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.xml"/><Relationship Id="rId46" Type="http://schemas.openxmlformats.org/officeDocument/2006/relationships/slide" Target="slides/slide22.xml"/><Relationship Id="rId67" Type="http://schemas.openxmlformats.org/officeDocument/2006/relationships/slide" Target="slides/slide43.xml"/><Relationship Id="rId116" Type="http://schemas.openxmlformats.org/officeDocument/2006/relationships/slide" Target="slides/slide92.xml"/><Relationship Id="rId137" Type="http://schemas.openxmlformats.org/officeDocument/2006/relationships/slide" Target="slides/slide113.xml"/><Relationship Id="rId158" Type="http://schemas.openxmlformats.org/officeDocument/2006/relationships/slide" Target="slides/slide134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7.xml"/><Relationship Id="rId62" Type="http://schemas.openxmlformats.org/officeDocument/2006/relationships/slide" Target="slides/slide38.xml"/><Relationship Id="rId83" Type="http://schemas.openxmlformats.org/officeDocument/2006/relationships/slide" Target="slides/slide59.xml"/><Relationship Id="rId88" Type="http://schemas.openxmlformats.org/officeDocument/2006/relationships/slide" Target="slides/slide64.xml"/><Relationship Id="rId111" Type="http://schemas.openxmlformats.org/officeDocument/2006/relationships/slide" Target="slides/slide87.xml"/><Relationship Id="rId132" Type="http://schemas.openxmlformats.org/officeDocument/2006/relationships/slide" Target="slides/slide108.xml"/><Relationship Id="rId153" Type="http://schemas.openxmlformats.org/officeDocument/2006/relationships/slide" Target="slides/slide129.xml"/><Relationship Id="rId174" Type="http://schemas.openxmlformats.org/officeDocument/2006/relationships/presProps" Target="presProps.xml"/><Relationship Id="rId15" Type="http://schemas.openxmlformats.org/officeDocument/2006/relationships/slideMaster" Target="slideMasters/slideMaster15.xml"/><Relationship Id="rId36" Type="http://schemas.openxmlformats.org/officeDocument/2006/relationships/slide" Target="slides/slide12.xml"/><Relationship Id="rId57" Type="http://schemas.openxmlformats.org/officeDocument/2006/relationships/slide" Target="slides/slide33.xml"/><Relationship Id="rId106" Type="http://schemas.openxmlformats.org/officeDocument/2006/relationships/slide" Target="slides/slide82.xml"/><Relationship Id="rId127" Type="http://schemas.openxmlformats.org/officeDocument/2006/relationships/slide" Target="slides/slide103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7.xml"/><Relationship Id="rId52" Type="http://schemas.openxmlformats.org/officeDocument/2006/relationships/slide" Target="slides/slide28.xml"/><Relationship Id="rId73" Type="http://schemas.openxmlformats.org/officeDocument/2006/relationships/slide" Target="slides/slide49.xml"/><Relationship Id="rId78" Type="http://schemas.openxmlformats.org/officeDocument/2006/relationships/slide" Target="slides/slide54.xml"/><Relationship Id="rId94" Type="http://schemas.openxmlformats.org/officeDocument/2006/relationships/slide" Target="slides/slide70.xml"/><Relationship Id="rId99" Type="http://schemas.openxmlformats.org/officeDocument/2006/relationships/slide" Target="slides/slide75.xml"/><Relationship Id="rId101" Type="http://schemas.openxmlformats.org/officeDocument/2006/relationships/slide" Target="slides/slide77.xml"/><Relationship Id="rId122" Type="http://schemas.openxmlformats.org/officeDocument/2006/relationships/slide" Target="slides/slide98.xml"/><Relationship Id="rId143" Type="http://schemas.openxmlformats.org/officeDocument/2006/relationships/slide" Target="slides/slide119.xml"/><Relationship Id="rId148" Type="http://schemas.openxmlformats.org/officeDocument/2006/relationships/slide" Target="slides/slide124.xml"/><Relationship Id="rId164" Type="http://schemas.openxmlformats.org/officeDocument/2006/relationships/slide" Target="slides/slide140.xml"/><Relationship Id="rId169" Type="http://schemas.openxmlformats.org/officeDocument/2006/relationships/slide" Target="slides/slide14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2.xml"/><Relationship Id="rId47" Type="http://schemas.openxmlformats.org/officeDocument/2006/relationships/slide" Target="slides/slide23.xml"/><Relationship Id="rId68" Type="http://schemas.openxmlformats.org/officeDocument/2006/relationships/slide" Target="slides/slide44.xml"/><Relationship Id="rId89" Type="http://schemas.openxmlformats.org/officeDocument/2006/relationships/slide" Target="slides/slide65.xml"/><Relationship Id="rId112" Type="http://schemas.openxmlformats.org/officeDocument/2006/relationships/slide" Target="slides/slide88.xml"/><Relationship Id="rId133" Type="http://schemas.openxmlformats.org/officeDocument/2006/relationships/slide" Target="slides/slide109.xml"/><Relationship Id="rId154" Type="http://schemas.openxmlformats.org/officeDocument/2006/relationships/slide" Target="slides/slide130.xml"/><Relationship Id="rId175" Type="http://schemas.openxmlformats.org/officeDocument/2006/relationships/viewProps" Target="viewProps.xml"/><Relationship Id="rId16" Type="http://schemas.openxmlformats.org/officeDocument/2006/relationships/slideMaster" Target="slideMasters/slideMaster16.xml"/><Relationship Id="rId37" Type="http://schemas.openxmlformats.org/officeDocument/2006/relationships/slide" Target="slides/slide13.xml"/><Relationship Id="rId58" Type="http://schemas.openxmlformats.org/officeDocument/2006/relationships/slide" Target="slides/slide34.xml"/><Relationship Id="rId79" Type="http://schemas.openxmlformats.org/officeDocument/2006/relationships/slide" Target="slides/slide55.xml"/><Relationship Id="rId102" Type="http://schemas.openxmlformats.org/officeDocument/2006/relationships/slide" Target="slides/slide78.xml"/><Relationship Id="rId123" Type="http://schemas.openxmlformats.org/officeDocument/2006/relationships/slide" Target="slides/slide99.xml"/><Relationship Id="rId144" Type="http://schemas.openxmlformats.org/officeDocument/2006/relationships/slide" Target="slides/slide120.xml"/><Relationship Id="rId90" Type="http://schemas.openxmlformats.org/officeDocument/2006/relationships/slide" Target="slides/slide66.xml"/><Relationship Id="rId165" Type="http://schemas.openxmlformats.org/officeDocument/2006/relationships/slide" Target="slides/slide141.xml"/><Relationship Id="rId27" Type="http://schemas.openxmlformats.org/officeDocument/2006/relationships/slide" Target="slides/slide3.xml"/><Relationship Id="rId48" Type="http://schemas.openxmlformats.org/officeDocument/2006/relationships/slide" Target="slides/slide24.xml"/><Relationship Id="rId69" Type="http://schemas.openxmlformats.org/officeDocument/2006/relationships/slide" Target="slides/slide45.xml"/><Relationship Id="rId113" Type="http://schemas.openxmlformats.org/officeDocument/2006/relationships/slide" Target="slides/slide89.xml"/><Relationship Id="rId134" Type="http://schemas.openxmlformats.org/officeDocument/2006/relationships/slide" Target="slides/slide110.xml"/><Relationship Id="rId80" Type="http://schemas.openxmlformats.org/officeDocument/2006/relationships/slide" Target="slides/slide56.xml"/><Relationship Id="rId155" Type="http://schemas.openxmlformats.org/officeDocument/2006/relationships/slide" Target="slides/slide131.xml"/><Relationship Id="rId176" Type="http://schemas.openxmlformats.org/officeDocument/2006/relationships/theme" Target="theme/theme1.xml"/><Relationship Id="rId17" Type="http://schemas.openxmlformats.org/officeDocument/2006/relationships/slideMaster" Target="slideMasters/slideMaster17.xml"/><Relationship Id="rId38" Type="http://schemas.openxmlformats.org/officeDocument/2006/relationships/slide" Target="slides/slide14.xml"/><Relationship Id="rId59" Type="http://schemas.openxmlformats.org/officeDocument/2006/relationships/slide" Target="slides/slide35.xml"/><Relationship Id="rId103" Type="http://schemas.openxmlformats.org/officeDocument/2006/relationships/slide" Target="slides/slide79.xml"/><Relationship Id="rId124" Type="http://schemas.openxmlformats.org/officeDocument/2006/relationships/slide" Target="slides/slide100.xml"/><Relationship Id="rId70" Type="http://schemas.openxmlformats.org/officeDocument/2006/relationships/slide" Target="slides/slide46.xml"/><Relationship Id="rId91" Type="http://schemas.openxmlformats.org/officeDocument/2006/relationships/slide" Target="slides/slide67.xml"/><Relationship Id="rId145" Type="http://schemas.openxmlformats.org/officeDocument/2006/relationships/slide" Target="slides/slide121.xml"/><Relationship Id="rId166" Type="http://schemas.openxmlformats.org/officeDocument/2006/relationships/slide" Target="slides/slide14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课程目标与学习成果。欢迎学习企业精益转型的领导之道。本课程把全书整理成六个学习单元，加上导学和最后回顾，共二十四讲。请先选一个自己熟悉的工作问题，例如资料交接常常需要补充。随着课程推进，你会逐步说明问题、观察过程、思考指标，并写出需要谁支持的行动草案。这是整理者设计的学习路线。作者在第一章提醒，领导实践来自不断试验，学习需要长期积累。完成课程是实践的起点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  <a:p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六单元学习地图。六个单元共同回答一项改善需要考虑的问题。理解精益帮助认识价值与浪费，目标与度量帮助判断效果，流程与改善帮助观察工作怎样流动。团队与人才讨论谁参与以及怎样培养，战略与推进讨论方向和支持安排，领导与文化讨论日常行为怎样持续。六单元名称和相互关系是课程导航的教学整理，不能当作原书另立的管理模型。第一次建议按顺序学习，复习时可以按工作问题返回对应单元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HON的持续学习。第一章中，作者回忆在HON公司推动精益实践，外部老师定期指导团队运用工具，自己承担长期变化的管理工作。作者介绍了当时的改善目标，也明确不建议刚开始转型的公司照搬那样的节奏。学习这个案例时，可以关注工具学习、领导支持与持续实践的联系，不必复制案例的目标数字。这是作者的历史叙述，并不说明这些企业今天的状况，也不能保证其他团队取得相同结果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10_书籍/企业精益转型的领导之道/01_章节/CH01-S04 HON公司.md#^llet-ch01-s04-p001</a:t>
            </a:r>
          </a:p>
          <a:p>
            <a:r>
              <a:t>10_书籍/企业精益转型的领导之道/01_章节/CH01-S04 HON公司.md#^llet-ch01-s04-p003</a:t>
            </a:r>
          </a:p>
          <a:p>
            <a:r>
              <a:t>10_书籍/企业精益转型的领导之道/01_章节/CH01-S05 本章总结.md#^llet-ch01-s05-p002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学习入口与知识入口。课程首页提供六个单元的入口。进入一讲后，打开PPT并播放配套音频，听到页码提示时翻页，遇到练习可以暂停。第三章沿用已有课程媒体，请按该单元说明使用。遇到陌生概念，可以从单元页面进入知识卡，再查看原文。图谱用于了解关联，文件卡片可右键选择在新标签页中打开。学习路线解决先学什么，知识入口帮助查询概念与来源。请先练习找到一讲和它的原文入口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我的起点。请打开导学与回顾工作学习单，写下最近发生的一次具体问题。以资料交接为例，可以写接收者发现资料缺项，需要返回询问。这个例子是整理者设计的情境，没有预设原因，也没有虚构改善效果。请填写发生在哪个过程、谁受到影响、现在有哪些事实，再写出你希望通过课程学会什么。暂时不知道的地方标明待观察即可。后续单元尽量沿用同一个问题，减少重复填写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导学小结与第一站。导学到这里结束。你已经知道课程的六个单元，也知道从课程入口查找PPT、音频、知识卡和原文。开始第一讲前，请检查自己能否完成两件事：说清一个工作问题，以及找到理解精益单元的第一讲。学习时不必一次记住所有工具名称，把与自己工作有关的概念写到学习单上，再用原文核对含义。现在返回课程首页，进入理解精益，从第一讲继续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  <a:p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从客户遇到的问题开始。这一单元是全课程的起点。请先想一件你熟悉的工作：交付经常推迟，资料反复退回，或同样的错误不断出现。这里的情境是学习提示，不是书中的企业案例。作者在第二章把精益概括为以人员激励为本的改进系统，最终要建立持续解决客户问题的学习文化。学完本讲，你应能说明精益要改变什么，并选定一个后续课程持续观察的问题。先理解这个目的，再学习具体工具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10_书籍/企业精益转型的领导之道/01_章节/CH02-S06 本章总结.md#^llet-ch02-s06-p001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7425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持续改进与尊重人。原书从一个角度提出两大支柱：观念与实践的持续改进，以及尊重人而产生的动力。作者对尊重人的解释很具体：组织需要设计让人想改进的系统，教会改良工具，并让大家每天运用。由此理解，改善需要人的参与，也需要组织提供学习条件。联系自己的工作，可以问一问：同事发现问题时，是否有机会说明事实、参与试验和获得指导？这是整理者设计的思考问题，用来把书中的原则落到日常经历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10_书籍/企业精益转型的领导之道/01_章节/CH02-S02 两大支柱.md#^llet-ch02-s02-p003-list</a:t>
            </a:r>
          </a:p>
          <a:p>
            <a:r>
              <a:t>10_书籍/企业精益转型的领导之道/01_章节/CH02-S02 两大支柱.md#^llet-ch02-s02-p005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8454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从多个角度理解同一件事。第二章没有只给一个定义。作者还从识别浪费、发现问题和解决根源等角度说明精益。他讨论质量与精益两类方法的结合，强调人员发展。这里要分清：持续改进与尊重人是一种原则描述；本章后面的全面质量管理与丰田生产系统，是另一种方法框架描述。课程不把两组名称混成一套清单。对初学者，先抓住共同目的：让工作更好地满足客户需要，同时让参与者学会发现和解决问题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10_书籍/企业精益转型的领导之道/01_章节/CH02-S03 识别和消除浪费.md#^llet-ch02-s03-p001</a:t>
            </a:r>
          </a:p>
          <a:p>
            <a:r>
              <a:t>10_书籍/企业精益转型的领导之道/01_章节/CH02-S04 一个问题识别和问题解决系统.md#^llet-ch02-s04-p001</a:t>
            </a:r>
          </a:p>
          <a:p>
            <a:r>
              <a:t>10_书籍/企业精益转型的领导之道/01_章节/CH02-S05 六西格玛还是精益生产，或两者兼有？.md#^llet-ch02-s05-p002</a:t>
            </a:r>
          </a:p>
          <a:p>
            <a:r>
              <a:t>10_书籍/企业精益转型的领导之道/01_章节/CH02-S05 六西格玛还是精益生产，或两者兼有？.md#^llet-ch02-s05-p004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865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原书案例：杰克制动的改变。第一章的杰克制动案例，把这些原则放在具体经历中。作者描述，企业的交付与客户期望存在差距。团队调整生产流程后，仍有设置、质量、物料等许多问题需要解决。随后两年多，老师到现场指导改善，团队反复学习、重新设计流程。原书报告交货时间从超过三十天压缩到一天，并形成不断解决问题的学习文化。这是作者叙述的历史结果，不是本课程对其他企业的承诺。学习重点是流程调整之后持续解决问题的过程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10_书籍/企业精益转型的领导之道/01_章节/CH01-S03 杰克制动（丹纳赫）（Jake Brake（Danaher））.md#^llet-ch01-s03-p001</a:t>
            </a:r>
          </a:p>
          <a:p>
            <a:r>
              <a:t>10_书籍/企业精益转型的领导之道/01_章节/CH01-S03 杰克制动（丹纳赫）（Jake Brake（Danaher））.md#^llet-ch01-s03-p003</a:t>
            </a:r>
          </a:p>
          <a:p>
            <a:r>
              <a:t>10_书籍/企业精益转型的领导之道/01_章节/CH01-S03 杰克制动（丹纳赫）（Jake Brake（Danaher））.md#^llet-ch01-s03-p006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3081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把案例联系到自己的工作。现在暂停音频，打开工作学习单。选一项你实际参与的交付，例如把完整资料交给下一个岗位。写清谁接收、对方需要什么，以及最近一次实际发生了什么。不要一开始就写同事态度不好或部门效率低，这些判断还不能代替过程事实。可以先写资料何时到、缺了什么、返还过几次；没有记录的地方就标为待观察。这是整理者练习，借用原书从客户问题出发、到现场了解工作的思路，不要求此时提出整改方案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10_书籍/企业精益转型的领导之道/01_章节/CH02-S06 本章总结.md#^llet-ch02-s06-p001</a:t>
            </a:r>
          </a:p>
          <a:p>
            <a:r>
              <a:t>10_书籍/企业精益转型的领导之道/01_章节/CH02-S03 识别和消除浪费.md#^llet-ch02-s03-p007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913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与下一讲。本讲记住三个要点：改善围绕客户的问题展开，人的参与需要学习条件，改变要靠持续发现和解决问题来延续。自测一下：为什么杰克制动调整设备和流程后，还需要老师指导和反复改善？可以从调整后仍暴露许多问题、团队需要继续学习来回答。你的下一步，是带着工作学习单上的一项交付去看实际过程。下一讲用浪费和根因解决的视角进一步观察；之后的目标与度量单元，再帮助你判断改善是否发生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10_书籍/企业精益转型的领导之道/01_章节/CH01-S03 杰克制动（丹纳赫）（Jake Brake（Danaher））.md#^llet-ch01-s03-p003</a:t>
            </a:r>
          </a:p>
          <a:p>
            <a:r>
              <a:t>10_书籍/企业精益转型的领导之道/01_章节/CH01-S03 杰克制动（丹纳赫）（Jake Brake（Danaher））.md#^llet-ch01-s03-p006</a:t>
            </a:r>
          </a:p>
          <a:p>
            <a:r>
              <a:t>10_书籍/企业精益转型的领导之道/01_章节/CH02-S02 两大支柱.md#^llet-ch02-s02-p005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829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从忙碌中看见过程。上一讲已经选定一个具体工作问题。这一讲练习看见过程中的浪费，并区分暂时处理和根源解决。作者认为，七大浪费的价值在于帮助我们改变看工作的角度。仅凭一张分类表，并不能知道自己现场的问题。先记录一项工作经历哪些步骤、发生哪些交接，再看每一步怎样影响客户需要。这里的现场可以是车间，也可以是实际处理资料和交付服务的工作位置。练习的目标是形成一个可以继续查证的问题描述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10_书籍/企业精益转型的领导之道/01_章节/CH02-S03 识别和消除浪费.md#^llet-ch02-s03-p004</a:t>
            </a:r>
          </a:p>
          <a:p>
            <a:r>
              <a:t>10_书籍/企业精益转型的领导之道/01_章节/CH02-S03 识别和消除浪费.md#^llet-ch02-s03-p005</a:t>
            </a:r>
          </a:p>
          <a:p>
            <a:r>
              <a:t>10_书籍/企业精益转型的领导之道/01_章节/CH02-S03 识别和消除浪费.md#^llet-ch02-s03-p007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6295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七大浪费：帮助自己观察。原书列出七类：生产过剩、产品缺陷、搬运或运输、库存、过度加工、等待时间、不必要的动作。先不急着给每个步骤贴标签。以资料交付为学习情境，资料反复返还可以提示我们观察缺陷和返工，排队等待处理可以提示我们记录等待，重复录入则需要进一步了解它的用途。这些是整理者举的观察例子，不是原书企业的测量结果。同一步可能有不同解释，分类只是提出问题的起点，仍要查看真实过程及接收者的需要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10_书籍/企业精益转型的领导之道/01_章节/CH02-S03 识别和消除浪费.md#^llet-ch02-s03-p003-list</a:t>
            </a:r>
          </a:p>
          <a:p>
            <a:r>
              <a:t>10_书籍/企业精益转型的领导之道/01_章节/CH02-S03 识别和消除浪费.md#^llet-ch02-s03-p004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2408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诊所流程中的非增值活动。原书用医院集团的诊所流程说明如何识别非增值活动，图二点一可从本讲的知识入口查看。作者建议思考：客户是否愿意为这一步付费，如果做两次，客户是否愿意支付两次费用。同时，他明确提醒，并非所有非增值步骤都能删除。因此本讲只用案例学习逐步观察，不从图中的底纹直接推断哪些步骤必须取消，也不编造减少了多少时间。回到自己的工作，先写下一项值得追问的步骤，再了解它为什么存在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10_书籍/企业精益转型的领导之道/01_章节/CH02-S03 识别和消除浪费.md#^llet-ch02-s03-p006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474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暂时控制与根因解决。第二章强调，表面问题处理后反复出现，说明还需要在根源层面解决。附录中的企业案例提供了进一步的理解：临时控制是为了防止问题继续影响公司和客户，要保持到团队能证明根源已排除；寻找根因需要训练和指导，不能一开始就带着预设答案。本页摘取附录八步方法中的几个环节帮助理解，不是用三个要点替代完整方法。附录A的五个为什么也可作为追问的工具；整理者提醒，连续追问之后仍要核实事实和评估结果，不能只凭问了五遍宣布问题解决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10_书籍/企业精益转型的领导之道/01_章节/CH02-S04 一个问题识别和问题解决系统.md#^llet-ch02-s04-p001</a:t>
            </a:r>
          </a:p>
          <a:p>
            <a:r>
              <a:t>10_书籍/企业精益转型的领导之道/01_章节/APG-S09 第三步：实施控制行动.md#^llet-apG-s09-p001</a:t>
            </a:r>
          </a:p>
          <a:p>
            <a:r>
              <a:t>10_书籍/企业精益转型的领导之道/01_章节/APG-S10 第四步：确定根本原因.md#^llet-apG-s10-p003</a:t>
            </a:r>
          </a:p>
          <a:p>
            <a:r>
              <a:t>10_书籍/企业精益转型的领导之道/01_章节/APG-S12 第六步：评估结果.md#^llet-apG-s12-p001</a:t>
            </a:r>
          </a:p>
          <a:p>
            <a:r>
              <a:t>10_书籍/企业精益转型的领导之道/01_章节/APA-S07 五个为什么.md#^llet-apA-s07-p001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8770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把问题说清楚。请暂停音频，继续使用上一讲的工作问题。附录G描述问题时提出四个问题：问题是什么，我们怎么度量，怎样定义问题解决，以及当前流程或产品处于什么状态。用这四个问题补齐学习单。再写上上次采取了什么处理，后来是否复发。原因还不清楚时，写成待验证的猜测，并列出下一步准备观察什么。把事实和猜测分开记录，是本课的练习安排。此时不需要复杂报表，能让另一个人看懂问题与判断依据，就可以继续学习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10_书籍/企业精益转型的领导之道/01_章节/APG-S08 第二步：描述问题.md#^llet-apG-s08-p001</a:t>
            </a:r>
          </a:p>
          <a:p>
            <a:r>
              <a:t>10_书籍/企业精益转型的领导之道/01_章节/APG-S08 第二步：描述问题.md#^llet-apG-s08-p002-list</a:t>
            </a:r>
          </a:p>
          <a:p>
            <a:r>
              <a:t>10_书籍/企业精益转型的领导之道/01_章节/APG-S08 第二步：描述问题.md#^llet-apG-s08-p003</a:t>
            </a:r>
          </a:p>
          <a:p>
            <a:r>
              <a:t>10_书籍/企业精益转型的领导之道/01_章节/APG-S10 第四步：确定根本原因.md#^llet-apG-s10-p003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9827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单元小结与下一步。理解精益这个单元，到这里先收在三个动作上：看实际过程，追问问题原因，用结果检查改善。自测一下，资料漏发后立刻补发，是否就证明根因解决？补发可能先控制了影响，是否解决根因，还要看漏发原因有没有查明，以及后续结果是否支持判断。这个例子是教学练习。下一步，请记录一次真实交付，保留现状与后续观察，不急着承诺改善幅度。接着进入目标与度量单元，用更清楚的指标来描述问题和检查变化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10_书籍/企业精益转型的领导之道/01_章节/APG-S09 第三步：实施控制行动.md#^llet-apG-s09-p001</a:t>
            </a:r>
          </a:p>
          <a:p>
            <a:r>
              <a:t>10_书籍/企业精益转型的领导之道/01_章节/APG-S12 第六步：评估结果.md#^llet-apG-s12-p001</a:t>
            </a:r>
          </a:p>
          <a:p>
            <a:r>
              <a:t>10_书籍/企业精益转型的领导之道/01_章节/CH02-S04 一个问题识别和问题解决系统.md#^llet-ch02-s04-p001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3259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开场讲作者在罗克韦尔的经历：追踪一百多种指标，却因不知行动会负面影响哪些指标而没有真正提高。这是作者当年处境，不作绝对结论。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证据：10_书籍/企业精益转型的领导之道/01_章节/CH03-S00 章首导语.md#^llet-ch03-s00-p001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491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强调这是作者当年的困境，不泛化成“指标多等于没度量”的绝对口号。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证据：10_书籍/企业精益转型的领导之道/01_章节/CH03-S00 章首导语.md#^llet-ch03-s00-p001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0582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介绍吉恩·斯科特纳斯交付任务的背景，点出“追问而非直接教学”的指导方式。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证据：10_书籍/企业精益转型的领导之道/01_章节/CH03-S01 了解财务指标：个人的例子.md#^llet-ch03-s01-p001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1978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逐层讲解因素链，第五问“太阳黑子”属原书自嘲式叙述，不是结论。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证据：10_书籍/企业精益转型的领导之道/01_章节/CH03-S01 了解财务指标：个人的例子.md#^llet-ch03-s01-p003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46327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说明这是整理者设计的练习，请学员填写，不预设答案。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证据：10_书籍/企业精益转型的领导之道/01_章节/CH03-S01 了解财务指标：个人的例子.md#^llet-ch03-s01-p003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285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开场点明真北指标是本章后续所有小节的地基。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证据：10_书籍/企业精益转型的领导之道/01_章节/CH03-S02 丰田的真北指标.md#^llet-ch03-s02-p001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807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逐项读出四个缩写，说明前三项衡量业务、第四项衡量人；C/P 读作“C 斜杠 P”。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证据：10_书籍/企业精益转型的领导之道/01_章节/CH03-S02 丰田的真北指标.md#^llet-ch03-s02-p001-list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70627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读出“百分之十到百分之三十”。强调只抓一项会抵消整体改进；数字是原书描述，非实践保证。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证据：10_书籍/企业精益转型的领导之道/01_章节/CH03-S02 丰田的真北指标.md#^llet-ch03-s02-p002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04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读出“百分之九十五到百分之九十九”。Aisin Seiki 案例是原书采访所述，不作“普遍可持续六十年”的保证。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证据：10_书籍/企业精益转型的领导之道/01_章节/CH03-S02 丰田的真北指标.md#^llet-ch03-s02-p003</a:t>
            </a:r>
          </a:p>
          <a:p>
            <a:r>
              <a:t>证据：10_书籍/企业精益转型的领导之道/01_章节/CH03-S02 丰田的真北指标.md#^llet-ch03-s02-p004</a:t>
            </a:r>
          </a:p>
          <a:p>
            <a:r>
              <a:t>证据：10_书籍/企业精益转型的领导之道/01_章节/CH03-S02 丰田的真北指标.md#^llet-ch03-s02-p005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03069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强调精益度量必须四项齐全，不能只看经营结果。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证据：10_书籍/企业精益转型的领导之道/01_章节/CH03-S02 丰田的真北指标.md#^llet-ch03-s02-p006</a:t>
            </a:r>
          </a:p>
          <a:p>
            <a:r>
              <a:t>证据：10_书籍/企业精益转型的领导之道/01_章节/CH03-S02 丰田的真北指标.md#^llet-ch03-s02-p007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01466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说明这是整理者设计的练习，请学员填写，不预设答案。</a:t>
            </a:r>
          </a:p>
          <a:p>
            <a:r>
              <a:t>对应片段：05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证据：10_书籍/企业精益转型的领导之道/01_章节/CH03-S02 丰田的真北指标.md#^llet-ch03-s02-p002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39144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开场概括本讲是第三章的核心证据小节。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24520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读出“每百万约一万个次品”“每百万约一百个次品”；强调“百分之四十”预期与实际“百分之四百”的差距；提示“是四倍”与“增加400%”是原书不同表述，不作同义。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多高才算高.md#^llet-ch03-s03-p002</a:t>
            </a:r>
          </a:p>
          <a:p>
            <a:r>
              <a:t>证据：10_书籍/企业精益转型的领导之道/01_章节/CH03-S03 多高才算高.md#^llet-ch03-s03-p004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0592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读“千分之零点一，也就是百万分之一百”；“百分之一，也就是百万分之一万”。存货周转率读“三倍与三十倍，具体时间口径未列”。图内“每年2%”与正文“每月2%”差异按原书保留。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多高才算高.md#^llet-ch03-s03-p001</a:t>
            </a:r>
          </a:p>
          <a:p>
            <a:r>
              <a:t>证据：10_书籍/企业精益转型的领导之道/01_章节/CH03-S03 多高才算高.md#^llet-ch03-s03-p002</a:t>
            </a:r>
          </a:p>
          <a:p>
            <a:r>
              <a:t>图表出处：10_书籍/企业精益转型的领导之道/03_图表/图3.1.md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4904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读出“每月百分之二”“百分之三十”。说明六年目标四倍拆成每月2%是作者近似安排，非精确换算。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多高才算高.md#^llet-ch03-s03-p007</a:t>
            </a:r>
          </a:p>
          <a:p>
            <a:r>
              <a:t>图表出处：10_书籍/企业精益转型的领导之道/03_图表/图3.2.md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34991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271% 的基期口径，读出“百分之二百七十一”；1998年精益十周年超起始点 470%。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多高才算高.md#^llet-ch03-s03-p008</a:t>
            </a:r>
          </a:p>
          <a:p>
            <a:r>
              <a:t>证据：10_书籍/企业精益转型的领导之道/01_章节/CH03-S03 多高才算高.md#^llet-ch03-s03-p009</a:t>
            </a:r>
          </a:p>
          <a:p>
            <a:r>
              <a:t>图表出处：10_书籍/企业精益转型的领导之道/03_图表/图3.3.md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905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读出“百分之八十”。说明早期收益来自消除非增值步骤，维持增长需真正改善质量。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多高才算高.md#^llet-ch03-s03-p010</a:t>
            </a:r>
          </a:p>
          <a:p>
            <a:r>
              <a:t>图表出处：10_书籍/企业精益转型的领导之道/03_图表/图3.4.md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33997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读出“百分之百每天准时交货”。强调月批次逐步到日批次的多轮压缩，不给精确轮次公式。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多高才算高.md#^llet-ch03-s03-p011</a:t>
            </a:r>
          </a:p>
          <a:p>
            <a:r>
              <a:t>证据：10_书籍/企业精益转型的领导之道/01_章节/CH03-S03 多高才算高.md#^llet-ch03-s03-p012</a:t>
            </a:r>
          </a:p>
          <a:p>
            <a:r>
              <a:t>证据：10_书籍/企业精益转型的领导之道/01_章节/CH03-S03 多高才算高.md#^llet-ch03-s03-p013</a:t>
            </a:r>
          </a:p>
          <a:p>
            <a:r>
              <a:t>图表出处：10_书籍/企业精益转型的领导之道/03_图表/图3.5.md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525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说明拉里·卡尔普是原书写作时的情况；练习由整理者设计，请学员填写，不预设答案。</a:t>
            </a:r>
          </a:p>
          <a:p>
            <a:r>
              <a:t>对应片段：05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证据：10_书籍/企业精益转型的领导之道/01_章节/CH03-S03 多高才算高.md#^llet-ch03-s03-p006</a:t>
            </a:r>
          </a:p>
          <a:p>
            <a:r>
              <a:t>证据：10_书籍/企业精益转型的领导之道/01_章节/CH03-S03 多高才算高.md#^llet-ch03-s03-p014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51112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开场点明本讲承接“详述真北指标”过渡句，先讲质量。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证据：10_书籍/企业精益转型的领导之道/01_章节/CH03-S04 详述真北指标.md#^llet-ch03-s04-p001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22015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点出“妈妈做的苹果派”比喻。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证据：10_书籍/企业精益转型的领导之道/01_章节/CH03-S05 质量改进.md#^llet-ch03-s05-p001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4836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读出“百分之二十七”“百分之二十”“百分之三十八”。强调这些是图中对应格值，显示关联而非保证回报。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证据：10_书籍/企业精益转型的领导之道/01_章节/CH03-S05 质量改进.md#^llet-ch03-s05-p002</a:t>
            </a:r>
          </a:p>
          <a:p>
            <a:r>
              <a:t>图表出处：10_书籍/企业精益转型的领导之道/03_图表/图3.6.md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67241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读出“百分之九十”“百分之八十五”“百分之十五”。点出“金块”比喻；说明这条引用对应参考文献[2]，原书标注为来源不详（Source unknown）。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证据：10_书籍/企业精益转型的领导之道/01_章节/CH03-S05 质量改进.md#^llet-ch03-s05-p003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3831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读出“六分之一”。强调这些是原书引用和作者观点，非已验证普适规律；谈增长策略先考虑精益。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证据：10_书籍/企业精益转型的领导之道/01_章节/CH03-S05 质量改进.md#^llet-ch03-s05-p004</a:t>
            </a:r>
          </a:p>
          <a:p>
            <a:r>
              <a:t>证据：10_书籍/企业精益转型的领导之道/01_章节/CH03-S05 质量改进.md#^llet-ch03-s05-p005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08280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说明这是整理者设计的练习，请学员填写；明确图3.6分档与样本限制，勿推测本企业落点。</a:t>
            </a:r>
          </a:p>
          <a:p>
            <a:r>
              <a:t>对应片段：05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证据：10_书籍/企业精益转型的领导之道/01_章节/CH03-S05 质量改进.md#^llet-ch03-s05-p002</a:t>
            </a:r>
          </a:p>
          <a:p>
            <a:r>
              <a:t>图表出处：10_书籍/企业精益转型的领导之道/03_图表/图3.6.md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9010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对应教学稿片段01。学习目标：理解客户响应能力、图3.7和Watlow案例，并区分不同指标。材料属于学习解释，不替代原文。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51688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证据段落：llet-ch03-s06-p001、p010。对应音频片段01。作者将降低库存与客户响应价值相联系。起止点例子是整理者解释，不是原书定义。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66001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证据：llet-ch03-s06-p002；图3.7逐项视觉核验。图题2–4倍与首行5倍不同，原样保留。图片来源：原PDF第45页300DPI裁切，坐标见图3.7裁切记录.json。对应片段02。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53013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证据：llet-ch03-s06-p002与图3.7。对应片段02。保留原表四列与三行，不把5倍转换成增长500%。图题2–4倍与表格5倍不一致的范围保留。此页为依据原图整理的可编辑数据表。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49953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证据段落：llet-ch03-s06-p004、p005、p006。对应片段03。改善前每阶段约一个月，改善后约一周。原书“三遍研究、剩余50%、减少75%”有计算表述疑点，本表不重构算法。胜率15%左右与业务增长率3%到超过15%是不同指标。历史结果未外部独立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86749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证据段落：llet-ch03-s06-p003、p007、p008、p009、p010。对应片段04。HON有机增长率约4%到超过12%。ThedaCare错误约-80%，等待与住宿成本各约-30%，处理能力约+30%。皇家海军“免费的航母”是能力价值类比，不是实际新增军舰。不可将这些不同指标相加或推出普适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7566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证据段落：llet-ch03-s06-p002、p003、p005。对应音频02、03。原书“行业3%、增加6%～12%”有歧义。不能改为百分点。三次各减半数学上为87.5%，但原书同时写减少75%，不据此改写原书。教学仅使用清楚的时间对照和已核图表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07878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来源：《企业精益转型的领导之道》原PDF第44–47页，书内第24–27页。</a:t>
            </a:r>
          </a:p>
          <a:p>
            <a:r>
              <a:t>对应音频片段05，原理依据llet-ch03-s06-p001、p005、p009、p010。以下练习是整理者建议，不是海顺现状或原书案例。选询价到报价等流程，记录起止事件、等待与处理步骤，观察时间和差错。复习：胜率与增长率定义不同；客户经历完整流程而不是单岗位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08258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开场点明本讲进入成本与生产率这一真北指标。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证据：10_书籍/企业精益转型的领导之道/01_章节/CH03-S07 成本与生产率改进.md#^llet-ch03-s07-p001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0282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读出“百分之九十”。强调是两类合计、作者说法，不是所有企业恒定结构，也不是外部采购独占。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证据：10_书籍/企业精益转型的领导之道/01_章节/CH03-S07 成本与生产率改进.md#^llet-ch03-s07-p001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31134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点出 CEO 需要二十年积累的经验法则；说明成功也惠及竞争对手。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证据：10_书籍/企业精益转型的领导之道/01_章节/CH03-S07 成本与生产率改进.md#^llet-ch03-s07-p002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24511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强调“不靠裁员承诺”：原书来自被迫减员教训，提出“增长不增员”思路；“90%以上”是作者说法，非恒定结构。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证据：10_书籍/企业精益转型的领导之道/01_章节/CH03-S07 成本与生产率改进.md#^llet-ch03-s07-p003</a:t>
            </a:r>
          </a:p>
          <a:p>
            <a:r>
              <a:t>证据：10_书籍/企业精益转型的领导之道/01_章节/CH03-S07 成本与生产率改进.md#^llet-ch03-s07-p004</a:t>
            </a:r>
          </a:p>
          <a:p>
            <a:r>
              <a:t>证据：10_书籍/企业精益转型的领导之道/01_章节/CH03-S07 成本与生产率改进.md#^llet-ch03-s07-p005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06379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说明维持单位价格让价格涨跌不干扰度量；强调要投入精力改进生产率，30%与70%口径有疑点，不作确定公式。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证据：10_书籍/企业精益转型的领导之道/01_章节/CH03-S07 成本与生产率改进.md#^llet-ch03-s07-p007</a:t>
            </a:r>
          </a:p>
          <a:p>
            <a:r>
              <a:t>证据：10_书籍/企业精益转型的领导之道/01_章节/CH03-S07 成本与生产率改进.md#^llet-ch03-s07-p008</a:t>
            </a:r>
          </a:p>
          <a:p>
            <a:r>
              <a:t>证据：10_书籍/企业精益转型的领导之道/01_章节/CH03-S07 成本与生产率改进.md#^llet-ch03-s07-p010-list</a:t>
            </a:r>
          </a:p>
          <a:p>
            <a:r>
              <a:t>证据：10_书籍/企业精益转型的领导之道/01_章节/CH03-S07 成本与生产率改进.md#^llet-ch03-s07-p011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82340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说明这是整理者设计的练习，请学员填写，不预设答案，不引用具体企业数据。</a:t>
            </a:r>
          </a:p>
          <a:p>
            <a:r>
              <a:t>对应片段：05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证据：10_书籍/企业精益转型的领导之道/01_章节/CH03-S07 成本与生产率改进.md#^llet-ch03-s07-p010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01407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开场点明人才培育是四个真北指标中“人”的一项。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证据：10_书籍/企业精益转型的领导之道/01_章节/CH03-S08 人才培育.md#^llet-ch03-s08-p001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44265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强调人才培育是所有真北指标背后的支撑。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证据：10_书籍/企业精益转型的领导之道/01_章节/CH03-S08 人才培育.md#^llet-ch03-s08-p001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0965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说明“自主研”是作者认为最有效、甚至唯一的办法；三件事是原书期望目标，非每次必有效。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证据：10_书籍/企业精益转型的领导之道/01_章节/CH03-S08 人才培育.md#^llet-ch03-s08-p003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22856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读出“百分之九十五”。强调这是原书描述，不是你企业的测量结果；“讨论精益”与“亲眼看浪费”是两回事。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证据：10_书籍/企业精益转型的领导之道/01_章节/CH03-S08 人才培育.md#^llet-ch03-s08-p004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35774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说明参与度是转型期人才发展的重要指标；参与次数与学习效果需区分，这是原书报告的经验。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证据：10_书籍/企业精益转型的领导之道/01_章节/CH03-S08 人才培育.md#^llet-ch03-s08-p005</a:t>
            </a:r>
          </a:p>
          <a:p>
            <a:r>
              <a:t>证据：10_书籍/企业精益转型的领导之道/01_章节/CH03-S08 人才培育.md#^llet-ch03-s08-p006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28017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说明这是整理者设计的练习，请学员填写，不预设答案。</a:t>
            </a:r>
          </a:p>
          <a:p>
            <a:r>
              <a:t>对应片段：05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证据：10_书籍/企业精益转型的领导之道/01_章节/CH03-S08 人才培育.md#^llet-ch03-s08-p006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66776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开场点明本讲是全章收官，把经营指标落到财务。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证据：10_书籍/企业精益转型的领导之道/01_章节/CH03-S09 将真北指标与财务指标相关联.md#^llet-ch03-s09-p001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81555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读出“SGA”，不展开英文全称；说明生产率翻倍使成本减半是原书论述，可能需几年。</a:t>
            </a:r>
          </a:p>
          <a:p>
            <a:r>
              <a:t>对应片段：01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证据：10_书籍/企业精益转型的领导之道/01_章节/CH03-S09 将真北指标与财务指标相关联.md#^llet-ch03-s09-p001-list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692934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读出“六点九分”，说明原书未说明单位，课程不推算；资本密集度是原书论述，不对企业许诺。</a:t>
            </a:r>
          </a:p>
          <a:p>
            <a:r>
              <a:t>对应片段：02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证据：10_书籍/企业精益转型的领导之道/01_章节/CH03-S09 将真北指标与财务指标相关联.md#^llet-ch03-s09-p002-list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51909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读出“营业收入百分比这一项标注正百分之二百二十一”，按图面原项目名完整保留，不作百分点/收入金额推断；斯坦·阿斯克伦的任职在正文、是原书时点。</a:t>
            </a:r>
          </a:p>
          <a:p>
            <a:r>
              <a:t>对应片段：03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证据：10_书籍/企业精益转型的领导之道/01_章节/CH03-S09 将真北指标与财务指标相关联.md#^llet-ch03-s09-p003</a:t>
            </a:r>
          </a:p>
          <a:p>
            <a:r>
              <a:t>证据：10_书籍/企业精益转型的领导之道/01_章节/CH03-S09 将真北指标与财务指标相关联.md#^llet-ch03-s09-p004</a:t>
            </a:r>
          </a:p>
          <a:p>
            <a:r>
              <a:t>图表出处：10_书籍/企业精益转型的领导之道/03_图表/图3.8.md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290234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说明“G”原书未展开，课程按原样保留；协同效应带来ROI成倍增长；“最好时机”是原书论述，不对企业许诺。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证据：10_书籍/企业精益转型的领导之道/01_章节/CH03-S09 将真北指标与财务指标相关联.md#^llet-ch03-s09-p005</a:t>
            </a:r>
          </a:p>
          <a:p>
            <a:r>
              <a:t>证据：10_书籍/企业精益转型的领导之道/01_章节/CH03-S09 将真北指标与财务指标相关联.md#^llet-ch03-s09-p006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30887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读出“四倍”“百分之九十九”“百分之九十五”。强调这些是作者提出的转型目标，与原书其他小节口径不尽相同，绝非普适要求或十年结果保证。</a:t>
            </a:r>
          </a:p>
          <a:p>
            <a:r>
              <a:t>对应片段：04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证据：10_书籍/企业精益转型的领导之道/01_章节/CH03-S10 本章总结.md#^llet-ch03-s10-p001</a:t>
            </a:r>
          </a:p>
          <a:p>
            <a:r>
              <a:t>证据：10_书籍/企业精益转型的领导之道/01_章节/CH03-S10 本章总结.md#^llet-ch03-s10-p002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96128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说明这是整理者设计的练习，请学员填写，不预设答案。</a:t>
            </a:r>
          </a:p>
          <a:p>
            <a:r>
              <a:t>对应片段：05</a:t>
            </a:r>
          </a:p>
          <a:p>
            <a:r>
              <a:t>source_revision：LLET-TEXT-v04</a:t>
            </a:r>
          </a:p>
          <a:p>
            <a:r>
              <a:t>证据：10_书籍/企业精益转型的领导之道/01_章节/CH03-S09 将真北指标与财务指标相关联.md#^llet-ch03-s09-p006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61539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价值流与本单元的学习路线。第三章帮助我们用指标说明问题，这一单元进一步观察问题发生在哪些工作步骤。作者把价值流理解为客户提出需要到需要得到满足的一系列步骤。它既适用于产品，也适用于服务。三讲依次学习现状、未来状态和改善行动。请沿用前面选定的一个工作问题，最后形成一项有负责人和回看时间的行动。学习单由整理者设计，帮助你把原书方法联系到日常工作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10_书籍/企业精益转型的领导之道/01_章节/CH04-S00 章首导语.md#^llet-ch04-s00-p001</a:t>
            </a:r>
          </a:p>
          <a:p>
            <a:r>
              <a:t>10_书籍/企业精益转型的领导之道/01_章节/CH04-S00 章首导语.md#^llet-ch04-s00-p003</a:t>
            </a:r>
          </a:p>
          <a:p>
            <a:r>
              <a:t>10_书籍/企业精益转型的领导之道/01_章节/CH04-S11 本章总结.md#^llet-ch04-s11-p001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852471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现状图来自实际工作。作者提醒，实际工作往往与纸面或电脑中的流程不同，也很少有人知道一项工作经历的全部步骤。因此，现状图需要沿着真实过程逐步观察，并请参与者一起补齐。练习时可以先写每一步做什么、交给谁，在哪里等待或返工。暂时不知道的内容标为待观察，不要凭印象补成完整图。这些记录栏目是本课程的简化安排，目的是让讨论建立在实际过程上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10_书籍/企业精益转型的领导之道/01_章节/CH04-S01 创建一个初始状态的 VSA.md#^llet-ch04-s01-p001</a:t>
            </a:r>
          </a:p>
          <a:p>
            <a:r>
              <a:t>10_书籍/企业精益转型的领导之道/01_章节/CH04-S01 创建一个初始状态的 VSA.md#^llet-ch04-s01-p002</a:t>
            </a:r>
          </a:p>
          <a:p>
            <a:r>
              <a:t>10_书籍/企业精益转型的领导之道/01_章节/CH04-S07 工作计划和职责.md#^llet-ch04-s07-p003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593439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现状还需要指标。原书要求在初始价值流中记录真北指标的现状，涉及人员发展、质量、延迟以及资源消耗。只关注生产率或交货时间，容易遗漏人的发展和质量。结合第三章，学习单可以先选一项主要指标，同时记下还需关注的其他方面。例如资料交付的等待时间减少后，仍要检查返工有没有增加。这是整理者设计的应用例子。前后比较时保持对象、时间范围和单位一致，未知数据留待观察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10_书籍/企业精益转型的领导之道/01_章节/CH04-S02 初始状态的 VSA 和真北指标.md#^llet-ch04-s02-p001</a:t>
            </a:r>
          </a:p>
          <a:p>
            <a:r>
              <a:t>10_书籍/企业精益转型的领导之道/01_章节/CH04-S02 初始状态的 VSA 和真北指标.md#^llet-ch04-s02-p002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77789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第4页。原书案例：ThedaCare的价值流。第四章以 ThedaCare 的初始价值流图说明，价值流分析并不限于制造现场。你可以从学习入口打开图四点一，观察一项服务如何经过多个步骤。作者建议用客户是否愿意为活动付费来帮助识别价值，并让管理者亲自参与初次分析。本讲借案例学习观察方法，不从图中推算未经核实的节省幅度。实际练习中，发现一个可疑步骤后，还要了解它为什么存在，不能只凭分类就决定删除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10_书籍/企业精益转型的领导之道/01_章节/CH04-S00 章首导语.md#^llet-ch04-s00-p003</a:t>
            </a:r>
          </a:p>
          <a:p>
            <a:r>
              <a:t>10_书籍/企业精益转型的领导之道/01_章节/CH04-S03 帮你发现浪费.md#^llet-ch04-s03-p001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869713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一项交付的现状。现在暂停音频，打开共用工作学习单。选一项具体交付，写清从哪里开始、到哪里结束、谁接收。列出最近一次实际经过的步骤，圈出一处等待或返工，再写下你观察到的事实。如果只有猜测，明确标注待核实。最后补上一项现状指标，并注明记录来自哪里。练习不要求漂亮的流程图，一张让实际参与者能够补充和讨论的记录，就足以支持下一讲的学习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10_书籍/企业精益转型的领导之道/01_章节/CH04-S01 创建一个初始状态的 VSA.md#^llet-ch04-s01-p001</a:t>
            </a:r>
          </a:p>
          <a:p>
            <a:r>
              <a:t>10_书籍/企业精益转型的领导之道/01_章节/CH04-S02 初始状态的 VSA 和真北指标.md#^llet-ch04-s02-p001</a:t>
            </a:r>
          </a:p>
          <a:p>
            <a:r>
              <a:t>10_书籍/企业精益转型的领导之道/01_章节/CH04-S07 工作计划和职责.md#^llet-ch04-s07-p003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092874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：现状是后续行动的依据。本讲的三个要点是：观察实际工作，让参与者共同补齐过程，记录能够用于后续比较的指标。自测一下，已经有流程文件，为什么还要到现场？因为实际步骤可能与文件不同，交接中的等待或返工也可能没有被完整记录。你的下一步是与一位实际参与者核对学习单，修正自己不清楚的地方。下一讲在这些事实基础上讨论理想状态和可实施的未来状态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10_书籍/企业精益转型的领导之道/01_章节/CH04-S01 创建一个初始状态的 VSA.md#^llet-ch04-s01-p001</a:t>
            </a:r>
          </a:p>
          <a:p>
            <a:r>
              <a:t>10_书籍/企业精益转型的领导之道/01_章节/CH04-S01 创建一个初始状态的 VSA.md#^llet-ch04-s01-p002</a:t>
            </a:r>
          </a:p>
          <a:p>
            <a:r>
              <a:t>10_书籍/企业精益转型的领导之道/01_章节/CH04-S02 初始状态的 VSA 和真北指标.md#^llet-ch04-s02-p001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285864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理想状态与未来状态。有了现状记录，下一步是思考工作怎样变得更好。原书先通过头脑风暴想象没有非增值活动的理想状态，再建立未来状态。两者用途不同：理想状态打开思路，未来状态要形成可以执行的改进计划。作者提出六到十八个月的计划视野，这是书中的安排，不是所有组织必须采用的期限。本课程练习先选一项能够核实和实施的改变，不要求一次重做整个流程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10_书籍/企业精益转型的领导之道/01_章节/CH04-S04 用头脑风暴法来建立理想状态价值流.md#^llet-ch04-s04-p001</a:t>
            </a:r>
          </a:p>
          <a:p>
            <a:r>
              <a:t>10_书籍/企业精益转型的领导之道/01_章节/CH04-S05 创建一个未来状态的价值流.md#^llet-ch04-s05-p001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6166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未来状态需要对应的目标。作者要求为未来状态中的真北指标设置改进目标，并确保行动计划可以实现。他用坏的减半、好的双倍表达挑战性目标。学习时要把这个表达与具体现场区分开：它不是无需测量就能成立的结果，也不是统一的人员削减要求。本课程建议先说明准备改变哪个步骤、怎样判断有效，同时查看质量、交付和人员方面是否出现不希望的变化。这是便于初学者应用的练习安排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10_书籍/企业精益转型的领导之道/01_章节/CH04-S06 改进目标.md#^llet-ch04-s06-p001</a:t>
            </a:r>
          </a:p>
          <a:p>
            <a:r>
              <a:t>10_书籍/企业精益转型的领导之道/01_章节/CH04-S06 改进目标.md#^llet-ch04-s06-p002</a:t>
            </a:r>
          </a:p>
          <a:p>
            <a:r>
              <a:t>10_书籍/企业精益转型的领导之道/01_章节/CH04-S02 初始状态的 VSA 和真北指标.md#^llet-ch04-s02-p002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436195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计划中的三类工作。原书把未来状态中的工作分为三类：可以由个人直接处理的快速改进，少数需要按项目推进的工作，以及集中开展的一周改善活动。分类有助于给行动安排合适的推进方式，不意味着所有事情都要开一次活动。落实到计划，还需要写明任务和日期。练习中再补上负责人和回看依据，让团队知道下一步由谁推进，以及用什么事实检查变化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10_书籍/企业精益转型的领导之道/01_章节/CH04-S05 创建一个未来状态的价值流.md#^llet-ch04-s05-p002</a:t>
            </a:r>
          </a:p>
          <a:p>
            <a:r>
              <a:t>10_书籍/企业精益转型的领导之道/01_章节/CH04-S07 工作计划和职责.md#^llet-ch04-s07-p001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412610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第4页。原书案例：ThedaCare重新设计工作。原书叙述，ThedaCare 在开展精益数年后重新研究已有价值流，发展模型线。在这一过程中，医生、药师和护士等共同参与工作方式的设计，工作安排与楼层布局也一起调整。这个案例说明，未来状态涉及多个岗位之间如何协同，不能只由画图者独自决定。本讲只采用原书对参与和设计过程的描述，不把案例报告的改善比例作为其他团队的承诺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10_书籍/企业精益转型的领导之道/01_章节/CH04-S09 典型价值流.md#^llet-ch04-s09-p009</a:t>
            </a:r>
          </a:p>
          <a:p>
            <a:r>
              <a:t>10_书籍/企业精益转型的领导之道/01_章节/CH04-S09 典型价值流.md#^llet-ch04-s09-p011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524856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一项未来状态方案。请继续使用上一讲的学习单。针对圈出的等待或返工，提出一项改变，说明为什么它可能改善现状。判断这是可以直接处理的事项，还是需要跨岗位协调的项目或改善活动。写下拟定负责人、日期和判断结果的指标，并把尚未确认的条件列出来。这个方案是供实际参与者讨论的草案，不代表你已经获得了实施权限。先完成讨论，再按所在组织的职责安排推进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10_书籍/企业精益转型的领导之道/01_章节/CH04-S05 创建一个未来状态的价值流.md#^llet-ch04-s05-p002</a:t>
            </a:r>
          </a:p>
          <a:p>
            <a:r>
              <a:t>10_书籍/企业精益转型的领导之道/01_章节/CH04-S06 改进目标.md#^llet-ch04-s06-p001</a:t>
            </a:r>
          </a:p>
          <a:p>
            <a:r>
              <a:t>10_书籍/企业精益转型的领导之道/01_章节/CH04-S07 工作计划和职责.md#^llet-ch04-s07-p001</a:t>
            </a:r>
          </a:p>
          <a:p>
            <a:r>
              <a:t>10_书籍/企业精益转型的领导之道/01_章节/CH04-S07 工作计划和职责.md#^llet-ch04-s07-p003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801739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：图要转化为行动。本讲的三个要点是：用理想状态打开思路，用未来状态明确可执行的目标，把改变落实到任务和日期。自测一下，画好未来状态为什么还不算完成？因为如果没有真正实施和检查，图只是记录，不能证明工作已经改善。你的下一步是请相关岗位讨论学习单上的一项方案，核实它的条件和责任安排。下一讲学习改善活动怎样推进实施，以及为什么一次活动后仍需继续回看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10_书籍/企业精益转型的领导之道/01_章节/CH04-S04 用头脑风暴法来建立理想状态价值流.md#^llet-ch04-s04-p001</a:t>
            </a:r>
          </a:p>
          <a:p>
            <a:r>
              <a:t>10_书籍/企业精益转型的领导之道/01_章节/CH04-S05 创建一个未来状态的价值流.md#^llet-ch04-s05-p001</a:t>
            </a:r>
          </a:p>
          <a:p>
            <a:r>
              <a:t>10_书籍/企业精益转型的领导之道/01_章节/CH04-S07 工作计划和职责.md#^llet-ch04-s07-p001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1925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改善活动的作用。前两讲得到现状和未来状态计划，这一讲讨论怎样推进其中的改善活动。作者介绍的一周改善活动，把分析、重新设计和实施集中在一段时间内，减少长期讨论却没有行动的情况。活动结束后还需要跟进，不能把结束会议当作问题已经解决的证据。课程借用这一思路，帮助你说明一项活动准备改什么、谁参与，以及之后如何检查结果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10_书籍/企业精益转型的领导之道/01_章节/CH04-S10 一周改善活动的动力.md#^llet-ch04-s10-p002</a:t>
            </a:r>
          </a:p>
          <a:p>
            <a:r>
              <a:t>10_书籍/企业精益转型的领导之道/01_章节/CH04-S10 一周改善活动的动力.md#^llet-ch04-s10-p005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746377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人员、指导与持续跟进。原书讨论小团队专注开展改善活动，并强调有经验的指导者在现场帮助学习。具体人数和时间要放回作者描述的情境理解，本课不将其规定为所有团队的统一标准。作者还回顾了早期活动的压力，后来逐渐学会以更少压力完成工作，因此没有必要把加班本身当作改善要求。练习时关注参与条件、指导支持和后续跟进；人员选择的细节，下一单元团队与人才会继续展开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10_书籍/企业精益转型的领导之道/01_章节/CH04-S10 一周改善活动的动力.md#^llet-ch04-s10-p003</a:t>
            </a:r>
          </a:p>
          <a:p>
            <a:r>
              <a:t>10_书籍/企业精益转型的领导之道/01_章节/CH04-S10 一周改善活动的动力.md#^llet-ch04-s10-p005</a:t>
            </a:r>
          </a:p>
          <a:p>
            <a:r>
              <a:t>10_书籍/企业精益转型的领导之道/01_章节/CH04-S10 一周改善活动的动力.md#^llet-ch04-s10-p006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80967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第3页。原书案例：FNOK持续回到同一区域。原书的 FNOK 案例描述，团队第一次改善取得进展后，没有马上离开这个区域，而是多次回到同一过程重新研究。案例帮助我们理解，第一次改善不是终点，新状态还会暴露进一步的机会。原书有关多轮增长的数字与图表口径需要结合原始材料核对，本讲不把这些比例相乘，也不推算学员能够达到多少倍增长。学习重点是保留结果、重新观察，再决定下一轮行动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10_书籍/企业精益转型的领导之道/01_章节/CH04-S09 典型价值流.md#^llet-ch04-s09-p006</a:t>
            </a:r>
          </a:p>
          <a:p>
            <a:r>
              <a:t>10_书籍/企业精益转型的领导之道/01_章节/CH04-S09 典型价值流.md#^llet-ch04-s09-p007</a:t>
            </a:r>
          </a:p>
          <a:p>
            <a:r>
              <a:t>10_书籍/企业精益转型的领导之道/01_章节/CH04-S08 5 倍规则.md#^llet-ch04-s08-p002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90097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五倍规则与活动的三类收获。作者提出五倍规则，指计划多次研究同一价值流的工作过程，而不是保证产出增长五倍。他还总结改善活动的三类收获：运营结果，工具、原则和方法的学习，以及文化变化。由此看，检查活动不能只问办了几场，还要看实际工作是否变化、参与者学到了什么。作者把日常持续改善视为长期方向。一周活动可以推动学习，但不替代后续的日常改进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10_书籍/企业精益转型的领导之道/01_章节/CH04-S08 5 倍规则.md#^llet-ch04-s08-p002</a:t>
            </a:r>
          </a:p>
          <a:p>
            <a:r>
              <a:t>10_书籍/企业精益转型的领导之道/01_章节/CH04-S10 一周改善活动的动力.md#^llet-ch04-s10-p010</a:t>
            </a:r>
          </a:p>
          <a:p>
            <a:r>
              <a:t>10_书籍/企业精益转型的领导之道/01_章节/CH04-S10 一周改善活动的动力.md#^llet-ch04-s10-p004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15164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行动后的回看。现在暂停音频，完成学习单的最后一部分。针对上一讲的方案，写明需要哪些岗位参与，是否需要指导，以及行动前要保留哪些记录。约定一个回看日期，比较同一口径的指标，并记录还有什么问题没有解决。再写一条自己或团队学到的方法。以上是课程设计的简化检查表，用来把原书强调的实施、跟进和学习连接起来，不要求增加一套复杂报告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10_书籍/企业精益转型的领导之道/01_章节/CH04-S10 一周改善活动的动力.md#^llet-ch04-s10-p005</a:t>
            </a:r>
          </a:p>
          <a:p>
            <a:r>
              <a:t>10_书籍/企业精益转型的领导之道/01_章节/CH04-S10 一周改善活动的动力.md#^llet-ch04-s10-p006</a:t>
            </a:r>
          </a:p>
          <a:p>
            <a:r>
              <a:t>10_书籍/企业精益转型的领导之道/01_章节/CH04-S10 一周改善活动的动力.md#^llet-ch04-s10-p010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28155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单元回顾与下一站。流程与改善单元可以沿一条路线回顾：先看实际现状和指标，再讨论未来状态，最后落实行动并回看结果。自测一下，改善活动结束，是否说明流程问题已经解决？还需要检查结果和未完成事项，并根据新现状继续研究。请保留这张工作学习单，写下你愿意推进的一项行动及回看日期。下一站是团队与人才，进一步学习怎样获得人员支持、选择成员和领导者，以及持续培养改善能力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10_书籍/企业精益转型的领导之道/01_章节/CH04-S11 本章总结.md#^llet-ch04-s11-p001</a:t>
            </a:r>
          </a:p>
          <a:p>
            <a:r>
              <a:t>10_书籍/企业精益转型的领导之道/01_章节/CH04-S10 一周改善活动的动力.md#^llet-ch04-s10-p005</a:t>
            </a:r>
          </a:p>
          <a:p>
            <a:r>
              <a:t>10_书籍/企业精益转型的领导之道/01_章节/CH04-S08 5 倍规则.md#^llet-ch04-s08-p002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03242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活动结束后，谁继续支持？。这一讲承接流程改善的学习，回答为什么活动办完了，新的方法却没有留下来。作者把改善速度、参与人员和后续支持放在一起讨论。学习时，请想着自己参与过的一次流程调整：活动结束后，谁还在解决现场的问题？这是联系工作的提问，不是原书新增案例。我们先理解三者的关系，再用一张工作学习单找出自己需要补上的支持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10_书籍/企业精益转型的领导之道/01_章节/CH05-S00 章首导语.md#^llet-ch05-s00-p001</a:t>
            </a:r>
          </a:p>
          <a:p>
            <a:r>
              <a:t>10_书籍/企业精益转型的领导之道/01_章节/CH05-S03 关键活动失效模式.md#^llet-ch05-s03-p001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41100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n/10：活动节奏的经验参考。请看活动节奏。按照原书的人数与活动例子理解，n指选定价值流或转型范围内的人数。n除以十，是年度改善活动数量的经验参考。原书用一千人对应每年约一百次活动来说明。这里算的是活动次数，不是每次参加多少人，更不是新增人数。原译文有一句把单位写成人数，我们依据同段例子解释，不改原文。作者强调真正的过程研究和改变，不能只凑次数，也不能保证活动办满就获得固定增长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10_书籍/企业精益转型的领导之道/01_章节/CH05-S01 n／10 规则.md#^llet-ch05-s01-p001</a:t>
            </a:r>
          </a:p>
          <a:p>
            <a:r>
              <a:t>10_书籍/企业精益转型的领导之道/01_章节/CH05-S01 n／10 规则.md#^llet-ch05-s01-p002</a:t>
            </a:r>
          </a:p>
          <a:p>
            <a:r>
              <a:t>10_书籍/企业精益转型的领导之道/01_章节/CH05-S01 n／10 规则.md#^llet-ch05-s01-p005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08630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FNOK逐年建立节奏。原书中的FNOK约有五千人，采用更高的n除以五目标，对应每年一千次活动。它没有在第一年就达到目标：一九九二年年中启动，开展二百次；一九九三年六百次；一九九四年达到一千次。学习重点是逐步建立研究和改善的能力。它的n除以五不同于一般的n除以十参考，不能混为一谈。这组历史经验也不能证明活动数量是收益变化的唯一原因。本课保留必要的活动数字，详细年度财务数据可回到原书查询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10_书籍/企业精益转型的领导之道/01_章节/CH05-S01 n／10 规则.md#^llet-ch05-s01-p007</a:t>
            </a:r>
          </a:p>
          <a:p>
            <a:r>
              <a:t>10_书籍/企业精益转型的领导之道/01_章节/CH05-S01 n／10 规则.md#^llet-ch05-s01-p009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164187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活动团队与专职支持，职责不同。现在区分两类安排。活动团队围绕一个具体过程共同研究，作者在设计团队一节建议六到九人，既有熟悉现场的人，也有经验成员和为学习而参加的人。专职支持则把活动前准备、活动中帮助和活动后问题解决接起来。作者给出的规模经验约为选定范围员工的百分之三，并强调这些资源不能总被日常救急挤占。这是作者的经验法则，不是对每家企业立即下达的编制要求。团队人数与专职人员比例，分母和用途也不同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10_书籍/企业精益转型的领导之道/01_章节/CH05-S02 设计改进团队.md#^llet-ch05-s02-p001</a:t>
            </a:r>
          </a:p>
          <a:p>
            <a:r>
              <a:t>10_书籍/企业精益转型的领导之道/01_章节/CH05-S02 设计改进团队.md#^llet-ch05-s02-p002-list</a:t>
            </a:r>
          </a:p>
          <a:p>
            <a:r>
              <a:t>10_书籍/企业精益转型的领导之道/01_章节/CH05-S04 3% 方针.md#^llet-ch05-s04-p001</a:t>
            </a:r>
          </a:p>
          <a:p>
            <a:r>
              <a:t>10_书籍/企业精益转型的领导之道/01_章节/CH05-S04 3% 方针.md#^llet-ch05-s04-p002</a:t>
            </a:r>
          </a:p>
          <a:p>
            <a:r>
              <a:t>10_书籍/企业精益转型的领导之道/01_章节/CH05-S04 3% 方针.md#^llet-ch05-s04-p003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536597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把后续问题放进计划。原书描述，有时大部分变化已经完成，少量事项还需要材料或工具。书中用百分之九十五和百分之五说明这种情形，不是要求所有项目按这个比例验收。更关键的是，减少原来的浪费后，过去被遮住的小问题会暴露。新流程遇到问题，不能只宣布活动失败，也不能放着不管。作者主张随后数周留下有经验的支持，继续解决根因。整理者把它转成三个实用问题：剩余事项是什么，谁跟进，何时看结果？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10_书籍/企业精益转型的领导之道/01_章节/CH05-S03 关键活动失效模式.md#^llet-ch05-s03-p002</a:t>
            </a:r>
          </a:p>
          <a:p>
            <a:r>
              <a:t>10_书籍/企业精益转型的领导之道/01_章节/CH05-S03 关键活动失效模式.md#^llet-ch05-s03-p003</a:t>
            </a:r>
          </a:p>
          <a:p>
            <a:r>
              <a:t>10_书籍/企业精益转型的领导之道/01_章节/CH05-S03 关键活动失效模式.md#^llet-ch05-s03-p004</a:t>
            </a:r>
          </a:p>
          <a:p>
            <a:r>
              <a:t>10_书籍/企业精益转型的领导之道/01_章节/CH05-S04 3% 方针.md#^llet-ch05-s04-p004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151557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工作联系与小结。请暂停，在工作学习单写下一次真实改善的范围、一个仍未解决的问题，以及需要谁提供什么支持。不要先计算全公司的编制，可以从一条流程开始观察。回顾三个要点：节奏来自持续研究，角色需要互补，活动后支持不能断。自测答案是：年度活动数描述活动节奏，专职人数描述支持资源，二者不同。你的小行动是为一个未完成事项提出跟进人和复查时间，再与相关同事讨论。这是整理者设计的练习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10_书籍/企业精益转型的领导之道/01_章节/CH05-S01 n／10 规则.md#^llet-ch05-s01-p002</a:t>
            </a:r>
          </a:p>
          <a:p>
            <a:r>
              <a:t>10_书籍/企业精益转型的领导之道/01_章节/CH05-S04 3% 方针.md#^llet-ch05-s04-p003</a:t>
            </a:r>
          </a:p>
          <a:p>
            <a:r>
              <a:t>10_书籍/企业精益转型的领导之道/01_章节/CH05-S11 本章总结.md#^llet-ch05-s11-p002-list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47561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先分清三种角色。这一讲回答谁参加、谁带领，以及谁支持办公室里的流程。三类安排容易混在一起：一个人提供某次活动的经验，不代表他已是长期专职成员；一个高级经理也不必担任活动组长。我们沿着原书的团队设计、成员与领导选择、管理团队几节，分别理解这些角色。学完后，请为自己熟悉的一项工作提出角色建议，而不是直接列一张人员任命表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10_书籍/企业精益转型的领导之道/01_章节/CH05-S02 设计改进团队.md#^llet-ch05-s02-p003</a:t>
            </a:r>
          </a:p>
          <a:p>
            <a:r>
              <a:t>10_书籍/企业精益转型的领导之道/01_章节/CH05-S05 为全职改进团队挑选成员.md#^llet-ch05-s05-p001</a:t>
            </a:r>
          </a:p>
          <a:p>
            <a:r>
              <a:t>10_书籍/企业精益转型的领导之道/01_章节/CH05-S08 管理团队.md#^llet-ch05-s08-p001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605806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让现场经验和改善经验相遇。作者在团队设计一节建议六到九人的团队。活动团队中有本领域主管和两到三名本领域成员，也有一到两名经验丰富的成员，另外可安排一到两名学习者，但学习者人数不应超过有经验的成员。原书给出范围，不要求把每个上限都填满。经验成员适合引导研究，区域主管要理解新过程并在活动后接手。作者还提醒，高级管理者应作为全程参与的成员学习，不因职位高就自然成为活动领导。只参加一会儿又离开，会影响自己的学习和团队配合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10_书籍/企业精益转型的领导之道/01_章节/CH05-S02 设计改进团队.md#^llet-ch05-s02-p002-list</a:t>
            </a:r>
          </a:p>
          <a:p>
            <a:r>
              <a:t>10_书籍/企业精益转型的领导之道/01_章节/CH05-S02 设计改进团队.md#^llet-ch05-s02-p003</a:t>
            </a:r>
          </a:p>
          <a:p>
            <a:r>
              <a:t>10_书籍/企业精益转型的领导之道/01_章节/CH05-S02 设计改进团队.md#^llet-ch05-s02-p005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381095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专职成员：看见问题，也能一起解决。选择专职成员时，作者列出学习、认识和解决问题、团队合作、沟通这几方面。他特别区分认识问题与解决问题：没有看见问题，掌握工具也难以发挥作用。这里不是挑当前最空闲的人。书中还讨论制造场景的技术知识，以及未来管理者和内部导师的不同培养路径。本课不要求背诵所有比例和年限，而要理解人选应与问题和培养方向相配。整理者建议，用一次具体行为说明某项能力，比只写沟通能力强更有帮助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10_书籍/企业精益转型的领导之道/01_章节/CH05-S05 为全职改进团队挑选成员.md#^llet-ch05-s05-p001</a:t>
            </a:r>
          </a:p>
          <a:p>
            <a:r>
              <a:t>10_书籍/企业精益转型的领导之道/01_章节/CH05-S05 为全职改进团队挑选成员.md#^llet-ch05-s05-p002-list</a:t>
            </a:r>
          </a:p>
          <a:p>
            <a:r>
              <a:t>10_书籍/企业精益转型的领导之道/01_章节/CH05-S05 为全职改进团队挑选成员.md#^llet-ch05-s05-p003</a:t>
            </a:r>
          </a:p>
          <a:p>
            <a:r>
              <a:t>10_书籍/企业精益转型的领导之道/01_章节/CH05-S05 为全职改进团队挑选成员.md#^llet-ch05-s05-p004</a:t>
            </a:r>
          </a:p>
          <a:p>
            <a:r>
              <a:t>10_书籍/企业精益转型的领导之道/01_章节/CH05-S05 为全职改进团队挑选成员.md#^llet-ch05-s05-p006</a:t>
            </a:r>
          </a:p>
          <a:p>
            <a:r>
              <a:t>10_书籍/企业精益转型的领导之道/01_章节/CH05-S05 为全职改进团队挑选成员.md#^llet-ch05-s05-p007</a:t>
            </a:r>
          </a:p>
          <a:p>
            <a:r>
              <a:t>10_书籍/企业精益转型的领导之道/01_章节/CH05-S05 为全职改进团队挑选成员.md#^llet-ch05-s05-p008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763090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领导者：把精益放进接班与发展安排。作者担心一种情形：现任总经理积极推动精益，几年后换人，继任者没有亲身参与，转型可能中断。因此，他建议由工厂或业务单元的继任人选领导专职团队，让重要管理人才在实践中学习，而不是找一个恰好可用的人占位置。这是作者的组织发展建议，不是只凭职位名称就保证成功。专职团队还承担培养内部导师的作用，经验需要在持续改善活动中积累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10_书籍/企业精益转型的领导之道/01_章节/CH05-S06 为专职精益团队挑选领导.md#^llet-ch05-s06-p001</a:t>
            </a:r>
          </a:p>
          <a:p>
            <a:r>
              <a:t>10_书籍/企业精益转型的领导之道/01_章节/CH05-S06 为专职精益团队挑选领导.md#^llet-ch05-s06-p002</a:t>
            </a:r>
          </a:p>
          <a:p>
            <a:r>
              <a:t>10_书籍/企业精益转型的领导之道/01_章节/CH05-S06 为专职精益团队挑选领导.md#^llet-ch05-s06-p004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531679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原书案例：办公室的报告也能改善。原书引述HON一九九八年的活动邮件。团队通过帕累托分析确定主要使用者，逐项查看报告使用情况，并问五个为什么。两个小组的年报告数量从一千九百二十减少到一千二百三十六，书中写减少百分之三十六，按数量计算约百分之三十五点六。对象是报告数量，不是全公司生产率。这个案例提醒我们，办公室的信息传递也值得研究，懂信息系统或财务流程的人可能是重要成员。原书未在这段提供完整对照研究，不能把这些数字当成任意流程的预期收益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10_书籍/企业精益转型的领导之道/01_章节/CH05-S08 管理团队.md#^llet-ch05-s08-p007</a:t>
            </a:r>
          </a:p>
          <a:p>
            <a:r>
              <a:t>10_书籍/企业精益转型的领导之道/01_章节/CH05-S08 管理团队.md#^llet-ch05-s08-p008</a:t>
            </a:r>
          </a:p>
          <a:p>
            <a:r>
              <a:t>10_书籍/企业精益转型的领导之道/01_章节/CH05-S08 管理团队.md#^llet-ch05-s08-p009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80597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工作联系与小结。请暂停，选择一个真实问题，例如订单信息反复补填。这是练习情境，不是书中案例。写出谁了解当前工作，谁有改善经验，谁理解相关系统，再写自己最需要向谁学习。回顾三个要点：角色要互补，领导者通过实践发展能力，管理工作也要沿流程找问题。职位最高者不一定适合做活动组长，还要看经验和学习角色。你的小行动是提出角色建议并沟通，不凭本课直接作人员任命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10_书籍/企业精益转型的领导之道/01_章节/CH05-S02 设计改进团队.md#^llet-ch05-s02-p005</a:t>
            </a:r>
          </a:p>
          <a:p>
            <a:r>
              <a:t>10_书籍/企业精益转型的领导之道/01_章节/CH05-S05 为全职改进团队挑选成员.md#^llet-ch05-s05-p002-list</a:t>
            </a:r>
          </a:p>
          <a:p>
            <a:r>
              <a:t>10_书籍/企业精益转型的领导之道/01_章节/CH05-S08 管理团队.md#^llet-ch05-s08-p003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129153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让支持、培养与调配连起来。这是本单元最后一讲。前两讲讨论活动节奏与团队人选，现在要把支持、培养和调配连起来。先看第五章的Watlow经验，再看人员调配与培训。第三章也有这家企业的报价和样件流程案例，但本讲的年度人员支持记录是另一组材料，不能拼成同一次实验。学完后，你要能为自己的工作提出一个小范围学习与支持安排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10_书籍/企业精益转型的领导之道/01_章节/CH05-S07 Watlow 的 3% 经验.md#^llet-ch05-s07-p002</a:t>
            </a:r>
          </a:p>
          <a:p>
            <a:r>
              <a:t>10_书籍/企业精益转型的领导之道/01_章节/CH05-S09 调配.md#^llet-ch05-s09-p003</a:t>
            </a:r>
          </a:p>
          <a:p>
            <a:r>
              <a:t>10_书籍/企业精益转型的领导之道/01_章节/CH05-S10 其他精益培训.md#^llet-ch05-s10-p001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760278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Watlow：全职支持比例逐年变化。原书报告，全职精益团队占员工的比例，二〇〇五年百分之一点四，二〇〇六年百分之一点七，二〇〇七年百分之二点三，二〇〇八年百分之二点七，二〇〇九年百分之三点一。书中还说明二〇〇九年五月达到百分之三目标。这是一段逐步建立支持能力的过程。数字是人员比例，不是利润率，也不是改善达成率。保留年份是为了看清过程，而不是让学员背下五个数字套用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10_书籍/企业精益转型的领导之道/01_章节/CH05-S07 Watlow 的 3% 经验.md#^llet-ch05-s07-p003</a:t>
            </a:r>
          </a:p>
          <a:p>
            <a:r>
              <a:t>10_书籍/企业精益转型的领导之道/01_章节/CH05-S07 Watlow 的 3% 经验.md#^llet-ch05-s07-p004</a:t>
            </a:r>
          </a:p>
          <a:p>
            <a:r>
              <a:t>10_书籍/企业精益转型的领导之道/01_章节/CH05-S07 Watlow 的 3% 经验.md#^llet-ch05-s07-p005</a:t>
            </a:r>
          </a:p>
          <a:p>
            <a:r>
              <a:t>10_书籍/企业精益转型的领导之道/01_章节/CH05-S07 Watlow 的 3% 经验.md#^llet-ch05-s07-p006</a:t>
            </a:r>
          </a:p>
          <a:p>
            <a:r>
              <a:t>10_书籍/企业精益转型的领导之道/01_章节/CH05-S07 Watlow 的 3% 经验.md#^llet-ch05-s07-p007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932247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数量之外，还要看能力能否接续。二〇〇七年的记述提到文化与人才培育，二〇〇八年把真北指标、目标和工作责任连接起来，二〇〇九年则提到成员晋升后，支持和教学承受压力。支持能力不仅是人数，还包括经验能否积累、导师能否接续。作者用这些经验说明专职支持的重要性，但不能据此断言每个组织达到百分之三必定成功，或者不足百分之三必定失败。原书本节有一个未给全称的缩写，本课直接讲支持和教学，不替它编造名称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10_书籍/企业精益转型的领导之道/01_章节/CH05-S07 Watlow 的 3% 经验.md#^llet-ch05-s07-p005</a:t>
            </a:r>
          </a:p>
          <a:p>
            <a:r>
              <a:t>10_书籍/企业精益转型的领导之道/01_章节/CH05-S07 Watlow 的 3% 经验.md#^llet-ch05-s07-p006</a:t>
            </a:r>
          </a:p>
          <a:p>
            <a:r>
              <a:t>10_书籍/企业精益转型的领导之道/01_章节/CH05-S07 Watlow 的 3% 经验.md#^llet-ch05-s07-p007</a:t>
            </a:r>
          </a:p>
          <a:p>
            <a:r>
              <a:t>10_书籍/企业精益转型的领导之道/01_章节/CH05-S07 Watlow 的 3% 经验.md#^llet-ch05-s07-p008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5949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调配：改善之后，能力去哪里？。原书介绍的一种思路，是过程改善释放人员能力后，把优秀成员安排到新的工作或改善任务，让团队看到发展机会。暂时没有合适岗位时，可参加专职改善小组或为未来岗位培训。我们学习的是改善之后考虑人员发展和能力去向，而不只计算少用了多少人。同节译文有解雇措辞和一处未完成的句子，与重新部署的叙述需要区分。本课不据此讲裁员步骤，也不补造缺失结论；实际人员安排应在具体组织中充分沟通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10_书籍/企业精益转型的领导之道/01_章节/CH05-S09 调配.md#^llet-ch05-s09-p003</a:t>
            </a:r>
          </a:p>
          <a:p>
            <a:r>
              <a:t>10_书籍/企业精益转型的领导之道/01_章节/CH05-S09 调配.md#^llet-ch05-s09-p005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828497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培训：三类对象，共同落到实践。作者建议所有员工学习基本原则和概念，可以分散在几个星期或几个月中；专职团队要理解新角色和工作，也需要老师指导；高层领导可以阅读、讨论和参加研讨，但最深学习仍来自活动中的亲身经验。书中HON的学习路线图是一种游戏板式教学安排，和本课程的可点击导航不是同一件工具。我们借鉴便于理解和联系工作的目的，不宣称复刻原书整套培训产品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10_书籍/企业精益转型的领导之道/01_章节/CH05-S10 其他精益培训.md#^llet-ch05-s10-p002</a:t>
            </a:r>
          </a:p>
          <a:p>
            <a:r>
              <a:t>10_书籍/企业精益转型的领导之道/01_章节/CH05-S10 其他精益培训.md#^llet-ch05-s10-p003</a:t>
            </a:r>
          </a:p>
          <a:p>
            <a:r>
              <a:t>10_书籍/企业精益转型的领导之道/01_章节/CH05-S10 其他精益培训.md#^llet-ch05-s10-p004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6281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单元收尾：一个人、一个问题、一次复盘。最后把三讲连起来：持续改善需要稳定支持，支持过程也应培养人才，释放出来的能力需要新的用途。请暂停，在工作学习单选择一个真实问题，写下要学的技能、可以请教的人和一次小范围观察或实践安排。不要虚构成果，未知写待观察。自测答案是：听完课、看完PPT不等于掌握改善，还要观察、尝试并复盘。你的下一步可以是与有经验的同事共同观察一次流程，约定何时讨论问题。这是整理者设计的学习行动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10_书籍/企业精益转型的领导之道/01_章节/CH05-S10 其他精益培训.md#^llet-ch05-s10-p004</a:t>
            </a:r>
          </a:p>
          <a:p>
            <a:r>
              <a:t>10_书籍/企业精益转型的领导之道/01_章节/CH05-S11 本章总结.md#^llet-ch05-s11-p002-list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184510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战略推进与本单元路线。前面已经学习怎样观察流程、组织改善和支持人员。这一单元进一步回答，组织怎样让这些行动围绕同一个方向持续进行。原书第六章强调，领导者需要改变看待和组织工作的方式。三讲依次学习领导参与、战略部署和持续推进。请继续使用你熟悉的工作问题，思考它与组织方向有什么关系，需要谁支持。本单元练习由整理者设计，用来形成一份简明的推进草案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10_书籍/企业精益转型的领导之道/01_章节/CH06-S00 章首导语.md#^llet-ch06-s00-p001</a:t>
            </a:r>
          </a:p>
          <a:p>
            <a:r>
              <a:t>10_书籍/企业精益转型的领导之道/01_章节/CH06-S13 本章总结.md#^llet-ch06-s13-p001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282863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领导参与需要实践和指导。作者把精益学习描述为需要个人努力的实践型学习。领导者学习工具之后，还要在工作中积累经验，才能改变看问题的方式。第六章提出，在有经验者指导下制定学习计划，以精益方式组织自己的工作。对学员而言，可以先问自己，最近亲自观察过哪个过程，从哪里发现问题，遇到困难时向谁学习。这些是课程设计的练习问题，不要求所有岗位采用相同的培训时长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10_书籍/企业精益转型的领导之道/01_章节/CH06-S02 浸入式管理.md#^llet-ch06-s02-p001</a:t>
            </a:r>
          </a:p>
          <a:p>
            <a:r>
              <a:t>10_书籍/企业精益转型的领导之道/01_章节/CH06-S02 浸入式管理.md#^llet-ch06-s02-p005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389188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HON/HNI的浸入式学习。原书描述，HON/HNI的新管理人员在第一年参加四次为期一周的改善活动，依次涉及生产区的标准工作、价值流分析、管理工作，以及产品和工艺设计。这个历史案例说明，领导者不是只听一次介绍，而是在不同工作中学习发现浪费。这里沿用原书的企业并称，不把次数和周数当作所有组织必须遵守的标准，也不承诺活动一定消除某个比例的浪费。可借鉴的是有计划地安排实践和学习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10_书籍/企业精益转型的领导之道/01_章节/CH06-S02 浸入式管理.md#^llet-ch06-s02-p002</a:t>
            </a:r>
          </a:p>
          <a:p>
            <a:r>
              <a:t>10_书籍/企业精益转型的领导之道/01_章节/CH06-S02 浸入式管理.md#^llet-ch06-s02-p003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357343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指导联盟与共同沟通。原书中的指导联盟，是支持和引导转型的高级管理小组。它需要学习并帮助其他领导者成长，选择重要价值流，安排推进所需资源。沟通部分则提出四个问题：为什么需要改变，为什么选择这种方式，预期产生什么效果，每个人承担什么职责。把信息告诉大家一次，并不等于已经形成共同理解。本课采用这些问题帮助梳理沟通，不采用原书中缺少来源口径的记忆百分比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10_书籍/企业精益转型的领导之道/01_章节/CH06-S03 指导联盟.md#^llet-ch06-s03-p001</a:t>
            </a:r>
          </a:p>
          <a:p>
            <a:r>
              <a:t>10_书籍/企业精益转型的领导之道/01_章节/CH06-S03 指导联盟.md#^llet-ch06-s03-p003</a:t>
            </a:r>
          </a:p>
          <a:p>
            <a:r>
              <a:t>10_书籍/企业精益转型的领导之道/01_章节/CH06-S03 指导联盟.md#^llet-ch06-s03-p006</a:t>
            </a:r>
          </a:p>
          <a:p>
            <a:r>
              <a:t>10_书籍/企业精益转型的领导之道/01_章节/CH06-S04 沟通（信息共享）.md#^llet-ch06-s04-p002</a:t>
            </a:r>
          </a:p>
          <a:p>
            <a:r>
              <a:t>10_书籍/企业精益转型的领导之道/01_章节/CH06-S04 沟通（信息共享）.md#^llet-ch06-s04-p003-list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451356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一项改善需要谁支持。请暂停音频，打开共用学习单。沿用前面的一项改善，写出它为什么值得做，以及与客户需要或组织方向有什么联系。列出谁负责推进，需要哪些岗位参与，谁能提供指导或协调资源。再用本讲的四个沟通问题，写一段同事能听懂的说明。不确定的效果写成待验证目标，不把计划写成已经发生的成果。完成后，请一位相关同事反馈他是否理解目的和自己的职责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10_书籍/企业精益转型的领导之道/01_章节/CH06-S03 指导联盟.md#^llet-ch06-s03-p006</a:t>
            </a:r>
          </a:p>
          <a:p>
            <a:r>
              <a:t>10_书籍/企业精益转型的领导之道/01_章节/CH06-S03 指导联盟.md#^llet-ch06-s03-p007-list</a:t>
            </a:r>
          </a:p>
          <a:p>
            <a:r>
              <a:t>10_书籍/企业精益转型的领导之道/01_章节/CH06-S04 沟通（信息共享）.md#^llet-ch06-s04-p003-list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550725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：方向需要有人共同推进。本讲记住三个要点：领导者需要亲自学习，多位管理者需要共同支持推进，沟通要围绕改变的原因和职责持续展开。自测一下，发出通知是否就等于形成共识？还需要了解参与者是否理解为什么做、怎样做和自己承担什么。你的一个行动是请一位实际参与者复述学习单上的安排，并补齐不清楚之处。下一讲把这些支持与组织目标、价值流行动和月度回顾连接起来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10_书籍/企业精益转型的领导之道/01_章节/CH06-S02 浸入式管理.md#^llet-ch06-s02-p005</a:t>
            </a:r>
          </a:p>
          <a:p>
            <a:r>
              <a:t>10_书籍/企业精益转型的领导之道/01_章节/CH06-S03 指导联盟.md#^llet-ch06-s03-p001</a:t>
            </a:r>
          </a:p>
          <a:p>
            <a:r>
              <a:t>10_书籍/企业精益转型的领导之道/01_章节/CH06-S04 沟通（信息共享）.md#^llet-ch06-s04-p002</a:t>
            </a:r>
          </a:p>
          <a:p>
            <a:r>
              <a:t>10_书籍/企业精益转型的领导之道/01_章节/CH06-S04 沟通（信息共享）.md#^llet-ch06-s04-p003-list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374725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战略部署的连接关系。作者介绍战略部署时，强调把组织方向、真北指标、改善途径和每月复查机制连起来。它不只是把年度数字分到各部门，还要说明哪些过程改变能够帮助实现目标。学习时可以沿一条简明路线思考：组织要解决什么问题，用哪些指标判断，准备改哪个价值流，行动后怎样回顾。这条路线是课程对原书正文的教学整理，帮助初学者理解各部分之间的关系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10_书籍/企业精益转型的领导之道/01_章节/CH06-S06 战略部署.md#^llet-ch06-s06-p001</a:t>
            </a:r>
          </a:p>
          <a:p>
            <a:r>
              <a:t>10_书籍/企业精益转型的领导之道/01_章节/CH06-S06 战略部署.md#^llet-ch06-s06-p003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014812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目标需要具体的价值流行动。原书提出，改善目标需要逐层落实，在创造价值的层面形成工作计划。典型问题包括，要进行什么价值流改进，需要哪些活动，活动聚焦什么，以及谁支持这些活动。学员练习先从一项目标和一项行动开始，避免为了填表列出很多没有联系的任务。行动安排是否足够，还需要结合现状、资源和实施结果判断，不能仅凭活动数量证明目标能够实现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10_书籍/企业精益转型的领导之道/01_章节/CH06-S06 战略部署.md#^llet-ch06-s06-p003</a:t>
            </a:r>
          </a:p>
          <a:p>
            <a:r>
              <a:t>10_书籍/企业精益转型的领导之道/01_章节/CH06-S06 战略部署.md#^llet-ch06-s06-p004-list</a:t>
            </a:r>
          </a:p>
          <a:p>
            <a:r>
              <a:t>10_书籍/企业精益转型的领导之道/01_章节/CH06-S06 战略部署.md#^llet-ch06-s06-p007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77441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月度回顾关注原因与下一步。原书的月度回顾先简要查看目标是否达到，再讨论上个月实施了哪些重点改善，学到了什么。如果目标没有完成，团队需要提出补救行动，并检查下个月的计划是否足够。管理者的作用包括帮助识别整改步骤和协调支持。本课保留这种回顾顺序，不把书中的会议时长或时间比例规定为统一标准。回顾的结果应让参与者知道下一步做什么，而不只是重复报数字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10_书籍/企业精益转型的领导之道/01_章节/CH06-S06 战略部署.md#^llet-ch06-s06-p006</a:t>
            </a:r>
          </a:p>
          <a:p>
            <a:r>
              <a:t>10_书籍/企业精益转型的领导之道/01_章节/CH06-S06 战略部署.md#^llet-ch06-s06-p007</a:t>
            </a:r>
          </a:p>
          <a:p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31422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原书实例：Watlow任务控制室入口。第六章介绍转型工作控制室时，指向附录C的Watlow任务控制室案例。正文建议把转型分析、领导者发展计划、战略部署计划、重点价值流计划和真北指标直观展示在共同空间。本讲只采用第六章对控制室用途和资料组成的介绍，附录C作为进一步选读，不据此编造案例成效。学员可以先理解，共同可见的资料是为了帮助团队讨论行动与进展，漂亮的展示本身不能证明改善发生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10_书籍/企业精益转型的领导之道/01_章节/CH06-S03 指导联盟.md#^llet-ch06-s03-p011</a:t>
            </a:r>
          </a:p>
          <a:p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892200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一页推进与回顾记录。请继续使用同一张学习单。写下一项目标、一项可以观察的指标和一项价值流行动，注明负责人、支持需求和回顾日期。行动发生后，再补实际结果、对原因的认识和下一步。把事实与猜测分开，没有记录的地方留空并标明待观察。这张一页记录是整理者设计的简化练习，用来体验目标与行动之间的联系，不替代所在组织正式的战略决策或完整年度规划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10_书籍/企业精益转型的领导之道/01_章节/CH06-S06 战略部署.md#^llet-ch06-s06-p003</a:t>
            </a:r>
          </a:p>
          <a:p>
            <a:r>
              <a:t>10_书籍/企业精益转型的领导之道/01_章节/CH06-S06 战略部署.md#^llet-ch06-s06-p004-list</a:t>
            </a:r>
          </a:p>
          <a:p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6632879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：用回顾支持目标实现。本讲的三个要点是，把目标连接到具体行动，让相关计划和结果共同可见，通过回顾学习原因并调整工作。自测一下，发现指标没有达到后，除了再次报出差距，还应讨论什么？可以回顾实施了哪些行动，哪些条件没有满足，需要什么补救，以及下一步由谁支持。请与参与者约定一次简短回顾。下一讲讨论为什么转型过程会反复，以及如何面对疑问和保持后续学习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10_书籍/企业精益转型的领导之道/01_章节/CH06-S03 指导联盟.md#^llet-ch06-s03-p011</a:t>
            </a:r>
          </a:p>
          <a:p>
            <a:r>
              <a:t>10_书籍/企业精益转型的领导之道/01_章节/CH06-S06 战略部署.md#^llet-ch06-s06-p007</a:t>
            </a:r>
          </a:p>
          <a:p>
            <a:r>
              <a:t>10_书籍/企业精益转型的领导之道/01_章节/CH06-S06 战略部署.md#^llet-ch06-s06-p008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509320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持续推进需要时间与经验。原书把精益转型描述为需要持续努力的学习过程。早期可能已经出现局部成果，但组织的整体表现和工作习惯未必同步改变。作者用四年的阶段描述帮助读者理解这个过程。本课把它作为作者的经验概括，不作为每个组织的固定工期或收益承诺。学习重点是观察参与者的经验、行动的持续性以及工作方式是否改变，不能仅按经过了几年判断已经完成转型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10_书籍/企业精益转型的领导之道/01_章节/CH06-S08 年复一年的精益改革.md#^llet-ch06-s08-p001</a:t>
            </a:r>
          </a:p>
          <a:p>
            <a:r>
              <a:t>10_书籍/企业精益转型的领导之道/01_章节/CH06-S09 第一年.md#^llet-ch06-s09-p001</a:t>
            </a:r>
          </a:p>
          <a:p>
            <a:r>
              <a:t>10_书籍/企业精益转型的领导之道/01_章节/CH06-S12 第四年.md#^llet-ch06-s12-p002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826629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原书的四个阶段。原书描述，第一年常见边做边学和前进后退；第二年仍会面对阻力，许多人尚未积累直接经验；第三年经验与成果逐渐巩固；第四年持续改变逐渐成为新的常态。这是帮助理解长期变化的阶段叙述，不意味着每家组织都按同样日历发展。本讲不引用缺少统计口径的员工或价值流覆盖比例作为验收标准。回到实际工作，应检查行为和过程的证据，而不是只给自己贴一个阶段名称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10_书籍/企业精益转型的领导之道/01_章节/CH06-S09 第一年.md#^llet-ch06-s09-p002</a:t>
            </a:r>
          </a:p>
          <a:p>
            <a:r>
              <a:t>10_书籍/企业精益转型的领导之道/01_章节/CH06-S10 第二年.md#^llet-ch06-s10-p002</a:t>
            </a:r>
          </a:p>
          <a:p>
            <a:r>
              <a:t>10_书籍/企业精益转型的领导之道/01_章节/CH06-S11 第三年.md#^llet-ch06-s11-p001</a:t>
            </a:r>
          </a:p>
          <a:p>
            <a:r>
              <a:t>10_书籍/企业精益转型的领导之道/01_章节/CH06-S12 第四年.md#^llet-ch06-s12-p001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333617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回看：Danaher的导师安排。第六章的Danaher案例描述，新领导者经历一个十三周的正式学习过程，由熟悉其业务系统的高级经理担任导师，制定具体计划并持续指导。本讲回看这个历史案例，是为了说明学习支持需要落实到安排和持续实践，而不是一次课程后就结束。十三周是该案例的做法，不能由此推导所有组织应采用相同周期，更不能把它与原书四年阶段描述直接换算。可以借鉴的是有计划、有指导地积累经验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10_书籍/企业精益转型的领导之道/01_章节/CH06-S02 浸入式管理.md#^llet-ch06-s02-p004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286601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疑问与持续拒绝参与需要区分。原书用抗体比喻保护旧文化、抵制改变的力量，也提醒读者，面对全新方向，有思想的人首先提出疑问是正常的，不能把所有质疑者都归为抗体。作者区分真诚疑问与不接受回答、不愿参与的持续抵制。本课采用这一辨别提醒，引导学员记录具体担忧和事实，不根据称呼判断某个人。涉及人员安排时，需要由组织依职责处理，本练习只用于沟通和观察，不把书中的强硬措辞当作直接处置指令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10_书籍/企业精益转型的领导之道/01_章节/CH06-S07 “抗体”.md#^llet-ch06-s07-p004</a:t>
            </a:r>
          </a:p>
          <a:p>
            <a:r>
              <a:t>10_书籍/企业精益转型的领导之道/01_章节/CH06-S07 “抗体”.md#^llet-ch06-s07-p008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578607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下一轮学习与推进。现在暂停音频，完成学习单最后一部分。记录一次行动后出现的反复，说明已经观察到什么、哪些原因仍待核实。再写下一位参与者提出的实际担忧，想想需要补充什么事实或安排怎样的共同观察。最后确定一个后续行动、指导支持和回看日期。这是课程设计的练习，目的在于把困难转成可以学习和处理的具体问题，不要求立即为整个组织判定转型阶段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10_书籍/企业精益转型的领导之道/01_章节/CH06-S09 第一年.md#^llet-ch06-s09-p002</a:t>
            </a:r>
          </a:p>
          <a:p>
            <a:r>
              <a:t>10_书籍/企业精益转型的领导之道/01_章节/CH06-S07 “抗体”.md#^llet-ch06-s07-p008</a:t>
            </a:r>
          </a:p>
          <a:p>
            <a:r>
              <a:t>10_书籍/企业精益转型的领导之道/01_章节/CH06-S02 浸入式管理.md#^llet-ch06-s02-p005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527212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单元回顾与下一站。战略与推进单元可以沿一条路线回顾：领导者参与学习，共同说明方向，把目标落实为价值流行动，再通过持续回顾积累经验。自测一下，一次活动有好结果，为什么还不能证明整个组织完成转型？因为还要看结果是否保持、人员是否学会运用，以及新的工作方式是否持续。请保留学习单，选一项后续行动推进。下一单元领导与文化，将进一步讨论日常行为怎样支持这些变化长期保持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10_书籍/企业精益转型的领导之道/01_章节/CH06-S09 第一年.md#^llet-ch06-s09-p001</a:t>
            </a:r>
          </a:p>
          <a:p>
            <a:r>
              <a:t>10_书籍/企业精益转型的领导之道/01_章节/CH06-S09 第一年.md#^llet-ch06-s09-p002</a:t>
            </a:r>
          </a:p>
          <a:p>
            <a:r>
              <a:t>10_书籍/企业精益转型的领导之道/01_章节/CH06-S13 本章总结.md#^llet-ch06-s13-p001</a:t>
            </a:r>
          </a:p>
          <a:p>
            <a:r>
              <a:t>10_书籍/企业精益转型的领导之道/01_章节/CH06-S13 本章总结.md#^llet-ch06-s13-p002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8157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文化体现在每天怎样做事。本单元接着战略与推进，讨论怎样让改善成为日常工作方式。作者认为，企业文化与领导者的行事习惯密切相关，不能只靠口号来理解。三讲依次学习面对客户问题、现场学习与指导，以及行为怎样持续。请沿用前面的一项工作问题，观察自己或团队遇到问题时通常怎样反应。课程练习由整理者设计，帮助你选出一个能够改变的小行为，而不是立即评价整个企业的文化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10_书籍/企业精益转型的领导之道/01_章节/CH07-S01 定义企业文化.md#^llet-ch07-s01-p001</a:t>
            </a:r>
          </a:p>
          <a:p>
            <a:r>
              <a:t>10_书籍/企业精益转型的领导之道/01_章节/CH07-S03 服务客户／客户至上.md#^llet-ch07-s03-p001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80597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客户需要与真实信息。原书把服务客户放在改善的出发点，同时强调信息可信。如果只报告好消息，团队就难以理解真实问题。作者还从谦逊谈到反省、挑战和改进：先承认还有可以做得更好的地方，才有继续学习的空间。联系工作时，可以说明一次交付对接收者产生了什么影响，再列出实际发生的事实。这样的表述是本课的应用安排，避免先把问题归结为某个人的态度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10_书籍/企业精益转型的领导之道/01_章节/CH07-S03 服务客户／客户至上.md#^llet-ch07-s03-p001</a:t>
            </a:r>
          </a:p>
          <a:p>
            <a:r>
              <a:t>10_书籍/企业精益转型的领导之道/01_章节/CH07-S04 无论如何，寻找正确的.md#^llet-ch07-s04-p001</a:t>
            </a:r>
          </a:p>
          <a:p>
            <a:r>
              <a:t>10_书籍/企业精益转型的领导之道/01_章节/CH07-S06 直面不足.md#^llet-ch07-s06-p002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827667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HON/HNI的积极诚实。作者在HON/HNI的经历中，把积极的诚实解释为，不仅不说谎，还要有人讲出事实，即使事实可能带来消极影响。同一段还用坏消息优先来说明如何看待新建议中的问题。本讲借这个历史实例理解诚实报告的价值，不把它解释为先批评每个人。说出问题以后，还需要用尊重的方式讨论不足，并帮助参与者改进。对自己的工作，可以先练习把一个不利事实说清楚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10_书籍/企业精益转型的领导之道/01_章节/CH07-S04 无论如何，寻找正确的.md#^llet-ch07-s04-p001</a:t>
            </a:r>
          </a:p>
          <a:p>
            <a:r>
              <a:t>10_书籍/企业精益转型的领导之道/01_章节/CH07-S07 带着尊重，真诚表达.md#^llet-ch07-s07-p001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752622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尊重地反馈，充分理解问题。原书强调，诚实与尊重同样重要。主管既要了解团队成员的长处和不足，也要以敬意帮助他们面对和改进不足。解决问题时，作者提出先充分理解问题，再寻找有效方案，并介绍五个为什么与A3思维。本讲只说明它们帮助思考的用途，不把问满五次或填满固定格子当作原因已证实。应用时应核对事实，并让参与者说明实际过程；这一步是本课程的练习提醒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10_书籍/企业精益转型的领导之道/01_章节/CH07-S07 带着尊重，真诚表达.md#^llet-ch07-s07-p001</a:t>
            </a:r>
          </a:p>
          <a:p>
            <a:r>
              <a:t>10_书籍/企业精益转型的领导之道/01_章节/CH07-S05 谨慎决策，快速执行.md#^llet-ch07-s05-p001</a:t>
            </a:r>
          </a:p>
          <a:p>
            <a:r>
              <a:t>10_书籍/企业精益转型的领导之道/01_章节/CH07-S05 谨慎决策，快速执行.md#^llet-ch07-s05-p002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89944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一次问题沟通。现在暂停音频，打开共用学习单。记录最近一次让客户或下一岗位受影响的问题，分别写明已知事实和仍待了解之处。然后拟一句准备对同事说的话，例如这次资料少了一项，我想和你一起了解交接时发生了什么。这句话是教学情境，不是原书案例。练习重点是说清现象、保留询问空间，并商量下一步如何了解过程，不要求一次谈话就找出全部原因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10_书籍/企业精益转型的领导之道/01_章节/CH07-S03 服务客户／客户至上.md#^llet-ch07-s03-p001</a:t>
            </a:r>
          </a:p>
          <a:p>
            <a:r>
              <a:t>10_书籍/企业精益转型的领导之道/01_章节/CH07-S07 带着尊重，真诚表达.md#^llet-ch07-s07-p001</a:t>
            </a:r>
          </a:p>
          <a:p>
            <a:r>
              <a:t>10_书籍/企业精益转型的领导之道/01_章节/CH07-S05 谨慎决策，快速执行.md#^llet-ch07-s05-p002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983260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：问题可以被诚实地讨论。本讲记住三个要点：先看客户受到什么影响，如实说明问题，以尊重的方式讨论不足。自测一下，尊重是否意味着不能指出问题？按原书的理解，尊重与真诚表达应同时做到，目的是帮助人认识和改进不足。你的一个行动，是请相关同事核对学习单中的事实，看看是否有误解或遗漏。下一讲继续到实际工作地点观察，并学习如何帮助他人积累解决问题的经验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10_书籍/企业精益转型的领导之道/01_章节/CH07-S03 服务客户／客户至上.md#^llet-ch07-s03-p001</a:t>
            </a:r>
          </a:p>
          <a:p>
            <a:r>
              <a:t>10_书籍/企业精益转型的领导之道/01_章节/CH07-S04 无论如何，寻找正确的.md#^llet-ch07-s04-p001</a:t>
            </a:r>
          </a:p>
          <a:p>
            <a:r>
              <a:t>10_书籍/企业精益转型的领导之道/01_章节/CH07-S07 带着尊重，真诚表达.md#^llet-ch07-s07-p001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47414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现场观察帮助理解真实问题。上一讲已经练习描述问题，这一讲进一步了解它实际怎样发生。原书用现地现物说明，到真实工作地点观察真实事物，避免只根据远离现场的报告和会议作判断。练习时可以看一次完整交接，听参与者说明，并把看到的事实与自己的猜测分开记录。这是本课的简化观察方法。现场也可以是实际处理资料的位置，不要求为了形式安排一次与问题无关的参观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10_书籍/企业精益转型的领导之道/01_章节/CH07-S08 走、看、听和学习（现地现物）.md#^llet-ch07-s08-p001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251937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指导的结果体现在人的成长。作者描述丰田把人才培养放在重要位置，重视指导能力，并以团队成员的成长和发展说明指导的结果。由此理解，指导不是只替别人给答案，也需要让参与者获得实践经验。课程练习可以安排一次共同观察，请对方解释发现的问题，再商量下一步需要核对什么。这个练习形式由整理者设计。学习之后要回看对方能否更清楚地观察和说明问题，而不只是统计参加了几次培训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10_书籍/企业精益转型的领导之道/01_章节/CH07-S10 做一个指导者和榜样.md#^llet-ch07-s10-p001</a:t>
            </a:r>
          </a:p>
          <a:p>
            <a:r>
              <a:t>10_书籍/企业精益转型的领导之道/01_章节/CH07-S10 做一个指导者和榜样.md#^llet-ch07-s10-p002</a:t>
            </a:r>
          </a:p>
          <a:p>
            <a:r>
              <a:t>10_书籍/企业精益转型的领导之道/01_章节/CH07-S12 为团队提供个人经验的指导.md#^llet-ch07-s12-p001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922905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ThedaCare扩大参与。原书叙述，ThedaCare在持续开展改善活动后，已有一些干部获得解决问题的能力，但还需要让更多人参与。其安排包括一天的教育方案、突出问题的可视化管理板、各领域的5S，以及根据看板问题建立制度化的每日改进过程。这个案例的重点是多项安排共同支持参与，不能只摘出一天培训就认为足够。书中的时长和做法是历史案例，本讲不将其规定为所有团队的统一方案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10_书籍/企业精益转型的领导之道/01_章节/CH07-S13 每日改进.md#^llet-ch07-s13-p003</a:t>
            </a:r>
          </a:p>
          <a:p>
            <a:r>
              <a:t>10_书籍/企业精益转型的领导之道/01_章节/CH07-S13 每日改进.md#^llet-ch07-s13-p005-list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759829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每日改进需要能力和持续支持。作者特别提醒，每日改进不是实现精益效果的捷径，不能只做一点培训，再要求大家自己完成。他强调先积累基本学习和实践经验，再逐步扩大参与。课程据此提醒，问题看板需要与处理、指导和回看结合起来。对初学者，可以先选择一个适合自己职责的问题，在有支持的条件下学习处理。书中提及的推广年数是作者经验，本课不把它当作必须等待的期限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10_书籍/企业精益转型的领导之道/01_章节/CH07-S13 每日改进.md#^llet-ch07-s13-p001</a:t>
            </a:r>
          </a:p>
          <a:p>
            <a:r>
              <a:t>10_书籍/企业精益转型的领导之道/01_章节/CH07-S13 每日改进.md#^llet-ch07-s13-p002</a:t>
            </a:r>
          </a:p>
          <a:p>
            <a:r>
              <a:t>10_书籍/企业精益转型的领导之道/01_章节/CH07-S13 每日改进.md#^llet-ch07-s13-p005-list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67889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共同观察与指导。请暂停音频，继续填写学习单。与一位实际参与者共同观察前面的问题，分别写出事实和疑问。再商量下一步由谁核对什么，需要谁指导，以及何时回看。回看时除了询问问题是否改善，也问自己和同事现在能解释什么、还缺什么经验。这是整理者设计的练习，不替代完整问题解决方法。涉及跨岗位改变时，先按组织职责讨论安排，再实施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10_书籍/企业精益转型的领导之道/01_章节/CH07-S08 走、看、听和学习（现地现物）.md#^llet-ch07-s08-p001</a:t>
            </a:r>
          </a:p>
          <a:p>
            <a:r>
              <a:t>10_书籍/企业精益转型的领导之道/01_章节/CH07-S10 做一个指导者和榜样.md#^llet-ch07-s10-p002</a:t>
            </a:r>
          </a:p>
          <a:p>
            <a:r>
              <a:t>10_书籍/企业精益转型的领导之道/01_章节/CH07-S12 为团队提供个人经验的指导.md#^llet-ch07-s12-p001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649129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小结：现场学习与日常改进相连。本讲的三个要点是，到实际工作中了解问题，提供学习与指导支持，用持续回看来推动日常改进。自测一下，已经挂出问题看板，是否就证明每日改进建立了？还要看问题有没有被处理，参与者有没有学会方法，后续结果如何。请安排一次共同观察，并记录下一步。最后一讲将把这些具体行为连接到长期的人员培养和组织习惯，完成领导与文化单元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10_书籍/企业精益转型的领导之道/01_章节/CH07-S08 走、看、听和学习（现地现物）.md#^llet-ch07-s08-p001</a:t>
            </a:r>
          </a:p>
          <a:p>
            <a:r>
              <a:t>10_书籍/企业精益转型的领导之道/01_章节/CH07-S10 做一个指导者和榜样.md#^llet-ch07-s10-p002</a:t>
            </a:r>
          </a:p>
          <a:p>
            <a:r>
              <a:t>10_书籍/企业精益转型的领导之道/01_章节/CH07-S13 每日改进.md#^llet-ch07-s13-p005-list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566378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持续的文化来自反复实践。作者回顾自己的经历后，把研究重点放在怎样维持精益转型的文化。他强调，精益知识需要放在长期实践中，成为组织运行的新方式。本讲把前面的客户关注、真诚沟通、现场观察和指导连起来，思考如何在工作中持续做到。课程建议先选一个具体行为并约定回看，避免写成无法观察的口号。这个简化做法用于学习，不表示一次练习就能完成企业文化转型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10_书籍/企业精益转型的领导之道/01_章节/CH07-S00 章首导语.md#^llet-ch07-s00-p004</a:t>
            </a:r>
          </a:p>
          <a:p>
            <a:r>
              <a:t>10_书籍/企业精益转型的领导之道/01_章节/CH07-S01 定义企业文化.md#^llet-ch07-s01-p001</a:t>
            </a:r>
          </a:p>
          <a:p>
            <a:r>
              <a:t>10_书籍/企业精益转型的领导之道/01_章节/CH07-S15 本章总结.md#^llet-ch07-s15-p001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990319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挑战需要与学习和目标联系。原书讨论有意义的挑战，提出目标既要能够实现，也不能过于容易；没有达成时，需要理解不足并寻找前进的办法。作者还强调，真北指标的挑战要与战略方向保持一致。课程据此安排一个学习练习：在现状基础上写下准备改进的目标，并说明所需支持和回看方法。这里不采用统一增长比例，也不把增加压力本身当作培养人才的充分条件，重点是通过实践学习怎样缩小差距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10_书籍/企业精益转型的领导之道/01_章节/CH07-S09 完成有意义的挑战.md#^llet-ch07-s09-p001</a:t>
            </a:r>
          </a:p>
          <a:p>
            <a:r>
              <a:t>10_书籍/企业精益转型的领导之道/01_章节/CH07-S14 挑战你的团队来扩展知识.md#^llet-ch07-s14-p002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5231382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：Watlow把文化联系到行为。原书描述，Watlow在早期转型经历困难后，与老师一起落实自己的模式，并努力让员工习惯和行为与期望的模式一致。作者还介绍，与成员一起理解未来方向、缩小个人表现和预期之间的差距，并通过选拔制度支持这个方向。案例帮助我们看到，文化需要联系到实际行为与人的发展。本讲依据第七章正文作概述，详细模式可选读附录B，不编造该案例的量化效果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10_书籍/企业精益转型的领导之道/01_章节/CH07-S14 挑战你的团队来扩展知识.md#^llet-ch07-s14-p003</a:t>
            </a:r>
          </a:p>
          <a:p>
            <a:r>
              <a:t>10_书籍/企业精益转型的领导之道/01_章节/CH07-S14 挑战你的团队来扩展知识.md#^llet-ch07-s14-p004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88703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参与、培养与持续指导。原书多次强调个人参与和经验积累，提出领导团队先学习，并帮助更多成员在实践中成长。在回顾丰田模式的讨论中，作者把缺乏个人参与列为重要障碍。这并不意味着参加固定场次数就能证明能力已经形成。课程练习关注一个更具体的问题：人是否参与了实际观察和改善，是否学会新的方法，之后能否继续使用。这样的检查帮助把前面单元的人才培养与文化联系起来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10_书籍/企业精益转型的领导之道/01_章节/CH07-S12 为团队提供个人经验的指导.md#^llet-ch07-s12-p001</a:t>
            </a:r>
          </a:p>
          <a:p>
            <a:r>
              <a:t>10_书籍/企业精益转型的领导之道/01_章节/CH07-S12 为团队提供个人经验的指导.md#^llet-ch07-s12-p005</a:t>
            </a:r>
          </a:p>
          <a:p>
            <a:r>
              <a:t>10_书籍/企业精益转型的领导之道/01_章节/CH07-S14 挑战你的团队来扩展知识.md#^llet-ch07-s14-p007-list</a:t>
            </a:r>
          </a:p>
          <a:p>
            <a:r>
              <a:t>10_书籍/企业精益转型的领导之道/01_章节/CH07-S10 做一个指导者和榜样.md#^llet-ch07-s10-p002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877970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工作练习：一个能持续的行为。现在完成共用学习单。选择一个自己能改变的行为，例如发现问题后先到实际过程核对，再与同事讨论。这个例子是整理者设计的应用情境。写明在哪里实践，需要谁支持，什么时候回看，以及准备保留什么事实记录。回看时既记录进步，也记录没有做到的情况和原因。练习不要求制定一套新制度，先形成一个可以讨论和继续改进的具体行动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10_书籍/企业精益转型的领导之道/01_章节/CH07-S01 定义企业文化.md#^llet-ch07-s01-p001</a:t>
            </a:r>
          </a:p>
          <a:p>
            <a:r>
              <a:t>10_书籍/企业精益转型的领导之道/01_章节/CH07-S08 走、看、听和学习（现地现物）.md#^llet-ch07-s08-p001</a:t>
            </a:r>
          </a:p>
          <a:p>
            <a:r>
              <a:t>10_书籍/企业精益转型的领导之道/01_章节/CH07-S10 做一个指导者和榜样.md#^llet-ch07-s10-p002</a:t>
            </a:r>
          </a:p>
          <a:p>
            <a:r>
              <a:t>10_书籍/企业精益转型的领导之道/01_章节/CH07-S14 挑战你的团队来扩展知识.md#^llet-ch07-s14-p004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6868215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单元回顾与全课程行动。领导与文化单元到这里，回顾几个相互联系的动作：关注客户影响，诚实面对事实，到现场学习，帮助他人成长，并持续实践。自测一下，文化口号怎样变成可观察的行为？可以说明遇到什么情境、准备采取什么做法、由谁支持以及怎样回看。请把这个行动与前面各单元的工作记录放在一起，形成自己的改善草案。全课程最后的总结回顾将进一步把这些记录串起来，帮助你选择下一步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10_书籍/企业精益转型的领导之道/01_章节/CH07-S03 服务客户／客户至上.md#^llet-ch07-s03-p001</a:t>
            </a:r>
          </a:p>
          <a:p>
            <a:r>
              <a:t>10_书籍/企业精益转型的领导之道/01_章节/CH07-S04 无论如何，寻找正确的.md#^llet-ch07-s04-p001</a:t>
            </a:r>
          </a:p>
          <a:p>
            <a:r>
              <a:t>10_书籍/企业精益转型的领导之道/01_章节/CH07-S08 走、看、听和学习（现地现物）.md#^llet-ch07-s08-p001</a:t>
            </a:r>
          </a:p>
          <a:p>
            <a:r>
              <a:t>10_书籍/企业精益转型的领导之道/01_章节/CH07-S10 做一个指导者和榜样.md#^llet-ch07-s10-p002</a:t>
            </a:r>
          </a:p>
          <a:p>
            <a:r>
              <a:t>10_书籍/企业精益转型的领导之道/01_章节/CH07-S15 本章总结.md#^llet-ch07-s15-p001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514068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。全课程回顾。现在回到导学时选定的工作问题。把各单元学习单放在一起，检查自己对问题的理解发生了什么变化。理解精益帮助说明客户需要和浪费，度量帮助说明怎样判断变化，流程帮助找到需要观察的位置。人员、推进和文化三个单元，则提醒我们考虑参与者、支持安排和持续行为。本讲将这些记录整理成一页行动草案，这是课程设计的学习成果，不代表整个企业已经完成精益转型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  <a:p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046302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。概念在工作中的对应位置。请按六个单元逐项回看。问题影响了谁，可以用什么事实说明？准备用什么指标观察变化，起点和口径是否清楚？实际过程怎样发生，哪些参与者能帮助了解情况？接下来需要谁支持，又何时回看？这些问题是本课程的综合练习。暂时缺少资料的项目可以写待核实，并安排下一步观察，不要为了填满表格猜测原因或结果。如果概念记不清，返回对应单元和原文入口即可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1799610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。原书案例回顾：Watlow的行为改变。第七章的Watlow案例把期望的文化联系到员工习惯与行为。作者介绍了传达发展方向、与成员一起认识并缩小差距，以及通过选拔支持方向一致的安排。用它回顾全课程，可以看到方向需要落实到人的日常做法。这里仅回顾第七章的叙述，不把其他章节的Watlow事件拼成一次完整实验。对于自己的问题，可以问：除了写目标，还需要哪些具体行为和学习支持？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10_书籍/企业精益转型的领导之道/01_章节/CH07-S14 挑战你的团队来扩展知识.md#^llet-ch07-s14-p003</a:t>
            </a:r>
          </a:p>
          <a:p>
            <a:r>
              <a:t>10_书籍/企业精益转型的领导之道/01_章节/CH07-S14 挑战你的团队来扩展知识.md#^llet-ch07-s14-p004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418442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。练习示例：资料交接缺项。这是整理者设计的示例。接收者反映资料缺项，当前只知道需要再次询问，尚不清楚缺项怎样发生。可以先邀请实际参与者共同观察一次交接，记录需要哪些资料、实际收到了什么、在哪个环节开始等待。再讨论原因、准备验证的行动及所需支持。示例没有设定减少多少等待时间，也没有写已经取得效果。你的草案同样应把已发生的事实、待验证的判断和计划分开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784283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。我的一页行动草案。请暂停音频，完成工作学习单的回顾部分。先概括一个问题和已知事实，说明准备观察的指标及其口径。再选择一个适合当前条件的行动，写明负责人、需要的支持和回看日期。涉及其他岗位时，先与相关人员讨论。结果栏暂时留空，实施后再填写真实观察。还要记录参与者学会了什么、哪些原因仍然不清楚。这份草案用于启动学习与讨论，可以根据实际情况继续修改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5683634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。课程小结与后续学习。最后请做一次简短自测：你能否用同事听得懂的话说明问题，找到支持自己理解的原文，并说清下一步做什么以及何时回看？如果可以，就邀请相关同事讨论行动草案。仍有疑问时，在课程首页按工作问题找到单元，再进入知识卡和原文。作者第一章强调长期学习，因此课程结束后还需要实践和指导。请保留原始记录和后续结果，用持续回顾了解自己学会了什么。</a:t>
            </a:r>
          </a:p>
          <a:p>
            <a:endParaRPr/>
          </a:p>
          <a:p>
            <a:r>
              <a:t>来源（Obsidian库内路径）：</a:t>
            </a:r>
          </a:p>
          <a:p>
            <a:r>
              <a:t>00_项目规划/精益课程简化实施/课程学习地图.md</a:t>
            </a:r>
          </a:p>
          <a:p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91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98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42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57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99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27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341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8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04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93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47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049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571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036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107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694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14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336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571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831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099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2092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87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404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40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56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422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28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85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512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29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57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8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38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73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14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21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369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0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91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38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06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06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63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86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97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47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98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9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9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9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9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0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0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0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0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3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4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5EF46EF-A95A-4A55-AB4C-10DC027D043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课程目标与学习成果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5E0A74-821D-4B4E-B2F4-64640DCA393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理解全书的主要实践主题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03DA49-8198-46B5-8E10-0FAAB6C0BB76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带着自己的问题学习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CD439D-7B1B-49A3-A75D-887CC82AFF05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最终形成一份改善行动草案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D14CC0-5CA5-4F36-8135-1BB16E30D1DD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1/6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33146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BBAD43F-6857-416A-B5A2-6E4D3F53975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六单元学习地图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CEEABA-C8E4-48D0-A262-BA5D7053C5E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理解精益，目标与度量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E84A33-EB2B-459C-9A7A-7CAC43E78EEA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流程与改善，团队与人才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81F350-48AE-4E15-A441-A2BA25FCCB9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战略与推进，领导与文化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B085E9-1D76-498C-B57F-FC110F59C915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2/6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32534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0C8F23F-7453-4C66-B119-914E60C06B3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原书案例：HON的持续学习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57A199-13F4-42B6-9DD7-EA69390F3E8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老师指导团队运用工具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F0610D-5D3B-4276-AB4D-7441FBFF57AD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领导者管理长期变化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56FD3F-5F87-4608-AA26-0AE713F877FB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目标节奏需要结合自身条件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224981-B6B9-4665-BCDF-E22F94ECF0E4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3/6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25294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1D541B6-8CF0-48AD-8A89-AA19A4D8478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学习入口与知识入口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276567-51A7-4E95-9FA5-E151F1FA11E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课程首页选择单元和讲次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7A65AB-E9F4-444D-B220-153493363F1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每讲入口打开PPT、音频和学习单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28699C-CF9B-4B03-8584-96C8B4968B92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需要查证时进入知识卡和原文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0BD487-1A02-433F-BAD3-ADCF86AA12D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4/6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4173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614C9D0-5C2F-4796-A98A-8F87EB0BC77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工作练习：我的起点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B1D774-233E-47B3-B694-71873CEA6FCC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最近一次具体问题是什么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AA6FA4-E410-4AF1-9512-368FF113B9C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谁受到影响，有哪些已知事实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960477-97BE-4050-8F3B-1E1EB26A94A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我最想学会什么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EEC2E9-0523-4C06-A671-60987F56EEE4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5/6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449596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B0B4BD2-680C-4010-AE3B-8F253AF55AB1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导学小结与第一站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5CEBC2-F10E-4ADD-83FA-F6F3FE645FE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先选问题，再按单元学习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1E526B-D408-4525-9D6F-63F2637E46C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保留学习单，随学习补充事实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636EB5-C586-453C-9F0D-10612E4CE0D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第一站：理解精益 L01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C2F323-739D-45F3-94D8-5ECC6BEBE5F5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6/6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181409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FCDBA9D-AA62-4E4C-90C9-6D404A015F4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从客户遇到的问题开始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C04EBC-CB58-4883-9EC2-D158A16D470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以人的参与推动改进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F6A07D-0EBE-472A-BCDB-E4FFAFBEB68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适用于不同工作流程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BC27BE-7BBF-4C27-847E-691F77E4C51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目标是持续解决客户问题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0EE192-8C54-4AAA-A666-E25E27EC708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1/6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67639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397B516-8412-4F09-A15B-B5B570BD2951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持续改进与尊重人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F278E3-D1CA-49BC-BC31-818FBD0DE3C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持续改进观念和实践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B562E4-C8E7-4AD1-8C6C-BC2224262D3D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创造愿意参与改善的条件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03AE9C-1D08-44F8-8D78-DFB14C6AB26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教会工具，并在日常工作中运用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312AAD-0B29-48A1-AF22-10DE8D2C50E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2/6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376108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038440B-3DE4-4892-90AD-036373322846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从多个角度理解同一件事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2BF1B0-68B5-4016-BA7E-171975BD1A9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看见并减少浪费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0DF648-88BD-4FF3-A865-31DF48B4CF8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发现问题，追查根源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C57CAC-DA9A-4C3E-8AE7-0C3F66B607C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学习质量与流程改善的方法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EC98CC-511A-41AC-83C0-91DACFB7798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3/6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508049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CCE8FF6-F53E-463F-BBEA-3BD642E19F6F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原书案例：杰克制动的改变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EB4683-FE86-46DB-AE3E-2AE93242BDE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问题：交付与客户期望有差距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DC903F-E659-4E5B-AB86-CDACAE0D29C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做法：调整流程，持续学习与解决问题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43F5DE-4A19-4206-AF2B-5EF5B7815641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原书报告：交货时间从超过30天降至1天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6640B3-E489-4FC9-960D-DA0C160FCB22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4/6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3163245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41038A1-6794-46B1-9510-021AD205BA8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把案例联系到自己的工作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954DF3-C113-45E5-972E-0656DFD5911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选一项具体交付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046517-0C15-4435-94EE-1529B6A793A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写清接收者与期望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AC57F9-5885-4C7F-849B-895904A8240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记录实际差距，未知处留待观察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FA60B4-3F61-4A72-B7FF-A84A938CBE49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5/6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80171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3EE51AE-1B34-4F57-A049-340328A8CC87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小结与下一讲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EC3019-1478-42BF-A62E-07EE3378F5FC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三个要点：客户问题、人的参与、持续学习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843A86-2367-4029-B4BA-52C8B3C61DA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自测：一次流程调整为何还不够？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8B3D1D-9864-4FE5-B504-441FC007E92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行动：带着一个具体问题去观察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8CABD2-ED42-4E15-BA75-088BEFD761E3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6/6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675574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F21382-0A2A-4320-A542-E78ED071E5A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从忙碌中看见过程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BC0E72-AAAF-45B2-BAD9-A2C35A0B6B0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七大浪费是观察的起点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02C0D2-2B19-45F8-8B13-B0CD1903D2B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逐步记录实际工作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0C7ECB-0989-4541-97CB-79F9E46652D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到现场了解发生了什么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2466C-4B2A-4A22-8686-CD2104210AED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1/6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66962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80F6C59-F620-4BF8-9777-5FDA04B5A35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七大浪费：帮助自己观察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E697DC-2F7C-41FC-9A8B-F40F2F46A68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生产过剩、产品缺陷、搬运或运输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E9F08-A7A4-4E16-B4E1-7BC5DE7E123F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库存、过度加工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B75A5B-A6E8-4176-9EBF-0529B4880332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等待时间、不必要的动作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43CDC0-6577-41B0-8BF9-12AD99725946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2/6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64722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C22DBCD-44E5-4B78-A39E-5B91E9DF6497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原书案例：诊所流程中的非增值活动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2893C-00E2-4142-8C35-E1A818E4C8A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从客户需要审视每个步骤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7C8312-895E-4585-B750-C856AC9E1D5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ThedaCare用流程图识别改进机会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1273EA-A18F-4A8B-AD2E-AB1D370FBB9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非增值步骤不能一律直接删除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E92DC1-2394-42A2-962C-709E1DA4C1A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3/6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3114302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140542C-0411-4BEF-B55D-418A9BE0E25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暂时控制与根因解决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DCDAAF-298F-4265-892A-9D8DB5AF666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先控制问题造成的影响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F1AF71-7824-4ACA-8BBC-49ECE98BA6C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追问原因，避免预设答案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53944F-C14A-4CF2-9301-E6485DD74231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用事先定义的指标评估结果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F665A-20F3-4E1E-A595-704E8FBBF644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4/6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21488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F26E8E6-A666-4D78-AA84-39C94A5BBCD6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工作练习：把问题说清楚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6DD1C0-7D63-45FC-B9D0-BF9D9996754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问题是什么，当前状态如何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555840-3E37-431E-85FB-E29D098DEB4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怎样度量，怎样算解决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7AD80C-4A8C-42F3-BD3A-34F9CC9287AB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分开记录事实、猜测和待核内容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2B2A40-0523-42FA-878A-5AB5FBA534D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5/6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314001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36F7D30-9AA7-4295-BF04-0C796851776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单元小结与下一步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6AF48E-8871-4838-B2F8-082A4F307F5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三个要点：看过程、问原因、验结果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77FB11-CCA3-4B14-ADEA-E6D1D1C6015D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自测：补发一次资料等于解决根因吗？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FC5155-47E8-4B2F-B9B9-989D5B7B24E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行动：记录一次实际交付与复发情况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91477D-ECF4-4FF8-8FAB-D51135DBD266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6/6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543114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AB24074-FE8C-4616-976F-D53E6241E85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了解财务指标：个人的例子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419895-1383-48D2-A4D0-8081F96FAC0D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C03180-61B0-4519-B30D-2A807FBAC549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00A8BE-B618-4DE4-864D-50506EEA21E2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本章回答：企业到底该度量什么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作者当年：指标虽多，却不知行动会负面影响哪些指标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从一个个人财务模型的例子出发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61B2C4-A68B-44B9-B9F6-8366846A14ED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LLET-CH03-S01-v01</a:t>
            </a:r>
          </a:p>
        </p:txBody>
      </p:sp>
    </p:spTree>
    <p:extLst>
      <p:ext uri="{BB962C8B-B14F-4D97-AF65-F5344CB8AC3E}">
        <p14:creationId xmlns:p14="http://schemas.microsoft.com/office/powerpoint/2010/main" val="3153879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12AA71C-5158-48C5-BAAA-307824B0FA99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一百种指标带来的困境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43B32-5880-4111-B04A-21C83CEB818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追踪至少一百种重点决策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不知采取行动会负面影响哪些指标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既没退步，也没真正提高</a:t>
            </a:r>
          </a:p>
        </p:txBody>
      </p:sp>
    </p:spTree>
    <p:extLst>
      <p:ext uri="{BB962C8B-B14F-4D97-AF65-F5344CB8AC3E}">
        <p14:creationId xmlns:p14="http://schemas.microsoft.com/office/powerpoint/2010/main" val="120217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C400ADF-7F03-40AF-9D43-263A25CF568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迪尔公司的资金流模型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A542F4-8D20-4ADD-9242-D65F9E9E1E4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任务：建立资金流预测模型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丰田式指导：靠追问理解问题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大野耐一的“五个为什么”</a:t>
            </a:r>
          </a:p>
        </p:txBody>
      </p:sp>
    </p:spTree>
    <p:extLst>
      <p:ext uri="{BB962C8B-B14F-4D97-AF65-F5344CB8AC3E}">
        <p14:creationId xmlns:p14="http://schemas.microsoft.com/office/powerpoint/2010/main" val="1008040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76E706A-DE7F-4315-BE35-89ADD45BF3C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五个为什么因素链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0E9195-182C-46DE-BB25-C7F4DC6E0DE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为什么⑤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6B47736-7182-4BD9-98C4-DD2C41F22CD1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8669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4288">
            <a:solidFill>
              <a:srgbClr val="006D7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天气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0EA877-FF17-4169-B47B-6AE8493FBCB8}"/>
              </a:ext>
            </a:extLst>
          </p:cNvPr>
          <p:cNvSpPr>
            <a:spLocks noGrp="1"/>
          </p:cNvSpPr>
          <p:nvPr/>
        </p:nvSpPr>
        <p:spPr>
          <a:xfrm>
            <a:off x="2886075" y="1524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为什么④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6D12DC-25EA-40E5-916D-30CE841A797D}"/>
              </a:ext>
            </a:extLst>
          </p:cNvPr>
          <p:cNvSpPr>
            <a:spLocks noGrp="1"/>
          </p:cNvSpPr>
          <p:nvPr/>
        </p:nvSpPr>
        <p:spPr>
          <a:xfrm>
            <a:off x="2886075" y="1866900"/>
            <a:ext cx="18669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4288">
            <a:solidFill>
              <a:srgbClr val="006D7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农作物产量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F1AC6C-E47F-460C-A3EF-00C852A949E4}"/>
              </a:ext>
            </a:extLst>
          </p:cNvPr>
          <p:cNvSpPr>
            <a:spLocks noGrp="1"/>
          </p:cNvSpPr>
          <p:nvPr/>
        </p:nvSpPr>
        <p:spPr>
          <a:xfrm>
            <a:off x="5162550" y="1524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为什么③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F7FD463-9EAF-4FA6-8A86-DFEE0EC59C42}"/>
              </a:ext>
            </a:extLst>
          </p:cNvPr>
          <p:cNvSpPr>
            <a:spLocks noGrp="1"/>
          </p:cNvSpPr>
          <p:nvPr/>
        </p:nvSpPr>
        <p:spPr>
          <a:xfrm>
            <a:off x="5162550" y="1866900"/>
            <a:ext cx="18669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4288">
            <a:solidFill>
              <a:srgbClr val="006D7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农民净收入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FA0962-DFC6-4734-8677-C3FEEF4ABCDB}"/>
              </a:ext>
            </a:extLst>
          </p:cNvPr>
          <p:cNvSpPr>
            <a:spLocks noGrp="1"/>
          </p:cNvSpPr>
          <p:nvPr/>
        </p:nvSpPr>
        <p:spPr>
          <a:xfrm>
            <a:off x="7439025" y="1524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62807E4-A1D0-4AA8-AA35-9F525D5170AB}"/>
              </a:ext>
            </a:extLst>
          </p:cNvPr>
          <p:cNvSpPr>
            <a:spLocks noGrp="1"/>
          </p:cNvSpPr>
          <p:nvPr/>
        </p:nvSpPr>
        <p:spPr>
          <a:xfrm>
            <a:off x="7439025" y="1866900"/>
            <a:ext cx="18669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4288">
            <a:solidFill>
              <a:srgbClr val="006D7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销售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09B237-DAE1-4EF6-B1B1-191D6B782F5F}"/>
              </a:ext>
            </a:extLst>
          </p:cNvPr>
          <p:cNvSpPr>
            <a:spLocks noGrp="1"/>
          </p:cNvSpPr>
          <p:nvPr/>
        </p:nvSpPr>
        <p:spPr>
          <a:xfrm>
            <a:off x="9715500" y="1524000"/>
            <a:ext cx="1866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为什么①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C3BC67-F304-4EFC-83EA-DE7DF0E20941}"/>
              </a:ext>
            </a:extLst>
          </p:cNvPr>
          <p:cNvSpPr>
            <a:spLocks noGrp="1"/>
          </p:cNvSpPr>
          <p:nvPr/>
        </p:nvSpPr>
        <p:spPr>
          <a:xfrm>
            <a:off x="9715500" y="1866900"/>
            <a:ext cx="18669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4288">
            <a:solidFill>
              <a:srgbClr val="006D77"/>
            </a:solidFill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库存与应收</a:t>
            </a:r>
          </a:p>
        </p:txBody>
      </p:sp>
      <p:cxnSp>
        <p:nvCxnSpPr>
          <p:cNvPr id="28" name="直接箭头连接符 27"/>
          <p:cNvCxnSpPr>
            <a:stCxn id="3" idx="3"/>
            <a:endCxn id="5" idx="1"/>
          </p:cNvCxnSpPr>
          <p:nvPr/>
        </p:nvCxnSpPr>
        <p:spPr>
          <a:xfrm>
            <a:off x="2476500" y="2219325"/>
            <a:ext cx="409575" cy="0"/>
          </a:xfrm>
          <a:prstGeom prst="straightConnector1">
            <a:avLst/>
          </a:prstGeom>
          <a:ln w="19050">
            <a:solidFill>
              <a:srgbClr val="006D77"/>
            </a:solidFill>
            <a:prstDash val="solid"/>
            <a:headEnd type="triangle" w="med" len="med"/>
          </a:ln>
        </p:spPr>
      </p:cxnSp>
      <p:cxnSp>
        <p:nvCxnSpPr>
          <p:cNvPr id="29" name="直接箭头连接符 28"/>
          <p:cNvCxnSpPr>
            <a:stCxn id="5" idx="3"/>
            <a:endCxn id="7" idx="1"/>
          </p:cNvCxnSpPr>
          <p:nvPr/>
        </p:nvCxnSpPr>
        <p:spPr>
          <a:xfrm>
            <a:off x="4752975" y="2219325"/>
            <a:ext cx="409575" cy="0"/>
          </a:xfrm>
          <a:prstGeom prst="straightConnector1">
            <a:avLst/>
          </a:prstGeom>
          <a:ln w="19050">
            <a:solidFill>
              <a:srgbClr val="006D77"/>
            </a:solidFill>
            <a:prstDash val="solid"/>
            <a:headEnd type="triangle" w="med" len="med"/>
          </a:ln>
        </p:spPr>
      </p:cxnSp>
      <p:cxnSp>
        <p:nvCxnSpPr>
          <p:cNvPr id="30" name="直接箭头连接符 29"/>
          <p:cNvCxnSpPr>
            <a:stCxn id="7" idx="3"/>
            <a:endCxn id="9" idx="1"/>
          </p:cNvCxnSpPr>
          <p:nvPr/>
        </p:nvCxnSpPr>
        <p:spPr>
          <a:xfrm>
            <a:off x="7029450" y="2219325"/>
            <a:ext cx="409575" cy="0"/>
          </a:xfrm>
          <a:prstGeom prst="straightConnector1">
            <a:avLst/>
          </a:prstGeom>
          <a:ln w="19050">
            <a:solidFill>
              <a:srgbClr val="006D77"/>
            </a:solidFill>
            <a:prstDash val="solid"/>
            <a:headEnd type="triangle" w="med" len="med"/>
          </a:ln>
        </p:spPr>
      </p:cxnSp>
      <p:cxnSp>
        <p:nvCxnSpPr>
          <p:cNvPr id="31" name="直接箭头连接符 30"/>
          <p:cNvCxnSpPr>
            <a:stCxn id="9" idx="3"/>
            <a:endCxn id="11" idx="1"/>
          </p:cNvCxnSpPr>
          <p:nvPr/>
        </p:nvCxnSpPr>
        <p:spPr>
          <a:xfrm>
            <a:off x="9305925" y="2219325"/>
            <a:ext cx="409575" cy="0"/>
          </a:xfrm>
          <a:prstGeom prst="straightConnector1">
            <a:avLst/>
          </a:prstGeom>
          <a:ln w="19050">
            <a:solidFill>
              <a:srgbClr val="006D77"/>
            </a:solidFill>
            <a:prstDash val="solid"/>
            <a:head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20C2223-9CE5-4961-B526-C37CC2F01227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0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0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第五问之后：无法预测全球气候</a:t>
            </a:r>
          </a:p>
          <a:p>
            <a:pPr marL="279400" indent="-139700">
              <a:spcAft>
                <a:spcPts val="1200"/>
              </a:spcAft>
              <a:buChar char="•"/>
              <a:defRPr sz="20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0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示范：财务数字追溯到经营与外部因素</a:t>
            </a:r>
          </a:p>
        </p:txBody>
      </p:sp>
    </p:spTree>
    <p:extLst>
      <p:ext uri="{BB962C8B-B14F-4D97-AF65-F5344CB8AC3E}">
        <p14:creationId xmlns:p14="http://schemas.microsoft.com/office/powerpoint/2010/main" val="2888973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9D47629-7B91-44A6-BD30-0EAB236C204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CA68A2-8E93-42DD-A28C-255FC3BF75D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选一个财务指标，连续追问五层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标出它落在哪张财务报表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目的：把结果追溯到经营动作</a:t>
            </a:r>
          </a:p>
        </p:txBody>
      </p:sp>
    </p:spTree>
    <p:extLst>
      <p:ext uri="{BB962C8B-B14F-4D97-AF65-F5344CB8AC3E}">
        <p14:creationId xmlns:p14="http://schemas.microsoft.com/office/powerpoint/2010/main" val="4170078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B892A88-F787-4BDB-8449-6D5CEE7DC36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丰田的真北指标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08B90D-1A20-48B4-9F71-952BBE5679A7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49C529-2107-496F-A349-4040BBE54F38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356C1F-9060-4FBB-AA65-23393AD23F85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认识丰田“真北指标”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记住 Q、D、C/P、HD 四个缩写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理解长期目标与年度目标的区别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755394-99BD-4608-A404-E95B853FE11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LLET-CH03-S02-v01</a:t>
            </a:r>
          </a:p>
        </p:txBody>
      </p:sp>
    </p:spTree>
    <p:extLst>
      <p:ext uri="{BB962C8B-B14F-4D97-AF65-F5344CB8AC3E}">
        <p14:creationId xmlns:p14="http://schemas.microsoft.com/office/powerpoint/2010/main" val="2645196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CDD3A91-F4E4-4A8E-A19C-1168D0A0DEF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四个真北指标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544F23-B436-43A0-A86C-56AF3037DA9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质量改进 Q</a:t>
            </a:r>
          </a:p>
          <a:p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运输／交付周期／流程改进 D</a:t>
            </a:r>
          </a:p>
          <a:p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成本／生产率改进 C/P</a:t>
            </a:r>
          </a:p>
          <a:p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人才培育 HD</a:t>
            </a:r>
          </a:p>
        </p:txBody>
      </p:sp>
    </p:spTree>
    <p:extLst>
      <p:ext uri="{BB962C8B-B14F-4D97-AF65-F5344CB8AC3E}">
        <p14:creationId xmlns:p14="http://schemas.microsoft.com/office/powerpoint/2010/main" val="1163091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D4D7C11-84D7-4D04-A4DD-495F722CA3D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零缺陷与两位数改善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946662-6A35-497A-A184-DACCA650F3D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质量真北：零缺陷（每件事、每天、每个国家）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年度目标：每项改善 10%~30%（原书描述）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四个维度必须同时提高</a:t>
            </a:r>
          </a:p>
        </p:txBody>
      </p:sp>
    </p:spTree>
    <p:extLst>
      <p:ext uri="{BB962C8B-B14F-4D97-AF65-F5344CB8AC3E}">
        <p14:creationId xmlns:p14="http://schemas.microsoft.com/office/powerpoint/2010/main" val="3858795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24762BE-48AC-4F5D-A76C-82707E25383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大企业病与百分之百增值时间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6A244B-10F8-4372-BEA8-704B6FFF1AC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大企业病：傲慢 → 自满 → 失败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交付周期真北：100% 增值时间（长期方向）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原书描述典型流程 95%~99% 是非增值</a:t>
            </a:r>
          </a:p>
        </p:txBody>
      </p:sp>
    </p:spTree>
    <p:extLst>
      <p:ext uri="{BB962C8B-B14F-4D97-AF65-F5344CB8AC3E}">
        <p14:creationId xmlns:p14="http://schemas.microsoft.com/office/powerpoint/2010/main" val="1992809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7D4D037-4819-43A7-9DEB-3A3FBB3A8AA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人才培育：先造人后造物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9E784F-0430-492E-B026-970D96DF8C4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人才培育支撑前三项指标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不只提高表现，还要改进工作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在造物之前先造人</a:t>
            </a:r>
          </a:p>
        </p:txBody>
      </p:sp>
    </p:spTree>
    <p:extLst>
      <p:ext uri="{BB962C8B-B14F-4D97-AF65-F5344CB8AC3E}">
        <p14:creationId xmlns:p14="http://schemas.microsoft.com/office/powerpoint/2010/main" val="2005752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EEA9B1F-0E9A-469E-A576-833022125EE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0A7AFD-5C34-4C4E-AB64-5D15F825232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对照四个真北指标，列出你们在度量什么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哪些有年度目标，哪些没有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是否只偏重其中一两项</a:t>
            </a:r>
          </a:p>
        </p:txBody>
      </p:sp>
    </p:spTree>
    <p:extLst>
      <p:ext uri="{BB962C8B-B14F-4D97-AF65-F5344CB8AC3E}">
        <p14:creationId xmlns:p14="http://schemas.microsoft.com/office/powerpoint/2010/main" val="55254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BF432AA-4BF7-4B81-9550-A4E5DFD343C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多高才算高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11BE5A-8436-4556-A6E2-BC86F056F2DF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869E47-0AE0-4C63-88DC-DC67634B9F92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09E361-BD21-4D01-8157-478D38EE3518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真正的标杆有多高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质量、交付、生产率三重冲击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精益是文化转型，不是短期方案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0EE8F6-11B7-478D-A8C0-69BC09A3987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LLET-CH03-S03-v01</a:t>
            </a:r>
          </a:p>
        </p:txBody>
      </p:sp>
    </p:spTree>
    <p:extLst>
      <p:ext uri="{BB962C8B-B14F-4D97-AF65-F5344CB8AC3E}">
        <p14:creationId xmlns:p14="http://schemas.microsoft.com/office/powerpoint/2010/main" val="267154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260C468-82C3-4172-A053-F9CA94050A3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标杆研究：量级差异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51F8FC-F38B-4AE3-AA08-5A4BB9372D4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质量：每百万约一万个次品 vs 约一百个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流程时间：十分之一到二十分之一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生产率：百分之四百（注意“四倍”与“增加400%”口径不同）</a:t>
            </a:r>
          </a:p>
        </p:txBody>
      </p:sp>
    </p:spTree>
    <p:extLst>
      <p:ext uri="{BB962C8B-B14F-4D97-AF65-F5344CB8AC3E}">
        <p14:creationId xmlns:p14="http://schemas.microsoft.com/office/powerpoint/2010/main" val="121611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0A646B3-11D0-461E-B9DD-C1F9003A8A4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图3.1 世界级指标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1123950"/>
          <a:ext cx="6667500" cy="3429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批处理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丰田（精益生产）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存货周转率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30×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客户投诉率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1%（10000ppm）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0.1‰（100ppm）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客户订单交付周期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空间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−90%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生产率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0" y="1311556"/>
            <a:ext cx="3962400" cy="24822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A7A4829-A607-467E-AF7A-1C795A132B19}"/>
              </a:ext>
            </a:extLst>
          </p:cNvPr>
          <p:cNvSpPr>
            <a:spLocks noGrp="1"/>
          </p:cNvSpPr>
          <p:nvPr/>
        </p:nvSpPr>
        <p:spPr>
          <a:xfrm>
            <a:off x="7620000" y="4038600"/>
            <a:ext cx="39624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图3.1 原扫描（PDF第38页）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47C386-2AC1-41E1-B591-11E728F0DE06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65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65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存货周转率：3× vs 30×（时间口径未列）</a:t>
            </a:r>
          </a:p>
          <a:p>
            <a:pPr marL="279400" indent="-139700">
              <a:spcAft>
                <a:spcPts val="1200"/>
              </a:spcAft>
              <a:buChar char="•"/>
              <a:defRPr sz="165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65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客户投诉率：1%（每百万一万） vs 0.1‰（每百万一百）</a:t>
            </a:r>
          </a:p>
          <a:p>
            <a:pPr marL="279400" indent="-139700">
              <a:spcAft>
                <a:spcPts val="1200"/>
              </a:spcAft>
              <a:buChar char="•"/>
              <a:defRPr sz="165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65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生产率：1× vs 4×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2563B9-5760-4085-8E0E-3B5A32EB928C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图内写“每年2%”，正文作“每月2%”，差异按原书保留。</a:t>
            </a:r>
          </a:p>
        </p:txBody>
      </p:sp>
    </p:spTree>
    <p:extLst>
      <p:ext uri="{BB962C8B-B14F-4D97-AF65-F5344CB8AC3E}">
        <p14:creationId xmlns:p14="http://schemas.microsoft.com/office/powerpoint/2010/main" val="64257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A81A780-ADEC-4B16-B946-0D0E02809AC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图3.2 生产率：每月2%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55278"/>
            <a:ext cx="6096000" cy="345219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B85DB22-98E3-4F73-AEAA-ACC38A452C6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图3.2 原扫描（PDF第40页）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3973A4-3009-4347-BEBB-FD8560230298}"/>
              </a:ext>
            </a:extLst>
          </p:cNvPr>
          <p:cNvSpPr>
            <a:spLocks noGrp="1"/>
          </p:cNvSpPr>
          <p:nvPr/>
        </p:nvSpPr>
        <p:spPr>
          <a:xfrm>
            <a:off x="7048500" y="1428750"/>
            <a:ext cx="4667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时间窗：1988年1月–1990年8月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月度涨幅趋向 2%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第三年重型货车衰退，产量下降 30%</a:t>
            </a:r>
          </a:p>
        </p:txBody>
      </p:sp>
    </p:spTree>
    <p:extLst>
      <p:ext uri="{BB962C8B-B14F-4D97-AF65-F5344CB8AC3E}">
        <p14:creationId xmlns:p14="http://schemas.microsoft.com/office/powerpoint/2010/main" val="1734029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C7F8458-D7BC-459E-A219-4F601341546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图3.3 重启后的生产率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949717"/>
            <a:ext cx="6096000" cy="286331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CA7BDB7-8DD8-45E9-AC96-DFA8E2A8724E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图3.3 原扫描（PDF第41页）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1F38C2-5C62-4029-A48C-FDA32324C2A9}"/>
              </a:ext>
            </a:extLst>
          </p:cNvPr>
          <p:cNvSpPr>
            <a:spLocks noGrp="1"/>
          </p:cNvSpPr>
          <p:nvPr/>
        </p:nvSpPr>
        <p:spPr>
          <a:xfrm>
            <a:off x="7048500" y="1428750"/>
            <a:ext cx="4667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离开后近18个月无进展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为期一周改善活动重新启动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图注 271% 是五年转换的结果，不与图中两年半时间窗混算</a:t>
            </a:r>
          </a:p>
        </p:txBody>
      </p:sp>
    </p:spTree>
    <p:extLst>
      <p:ext uri="{BB962C8B-B14F-4D97-AF65-F5344CB8AC3E}">
        <p14:creationId xmlns:p14="http://schemas.microsoft.com/office/powerpoint/2010/main" val="3609270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24E5860-C0DF-4969-9BFC-D5A527E54A3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图3.4 质量：废品减少80%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20436"/>
            <a:ext cx="6096000" cy="352187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5FB8A73-DAEE-4DCE-BF78-9842C4F1D71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图3.4 原扫描（PDF第41页）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00B957-B416-40C8-AFD3-E9E46044E2CA}"/>
              </a:ext>
            </a:extLst>
          </p:cNvPr>
          <p:cNvSpPr>
            <a:spLocks noGrp="1"/>
          </p:cNvSpPr>
          <p:nvPr/>
        </p:nvSpPr>
        <p:spPr>
          <a:xfrm>
            <a:off x="7048500" y="1428750"/>
            <a:ext cx="4667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报废和返工占比持续下降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两年半质量问题减少 80%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早期：消除非增值步骤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后续：持续解决质量问题</a:t>
            </a:r>
          </a:p>
        </p:txBody>
      </p:sp>
    </p:spTree>
    <p:extLst>
      <p:ext uri="{BB962C8B-B14F-4D97-AF65-F5344CB8AC3E}">
        <p14:creationId xmlns:p14="http://schemas.microsoft.com/office/powerpoint/2010/main" val="94125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6759AE2-C188-4C68-A9CA-742D036E6A8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图3.5 交付：从月到日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29461"/>
            <a:ext cx="6096000" cy="370382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D5167D0-3C3D-4917-887C-A8F6D5100753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图3.5 原扫描（PDF第42页）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B07405-EBA6-4AE1-865E-13CD3C8A6DC7}"/>
              </a:ext>
            </a:extLst>
          </p:cNvPr>
          <p:cNvSpPr>
            <a:spLocks noGrp="1"/>
          </p:cNvSpPr>
          <p:nvPr/>
        </p:nvSpPr>
        <p:spPr>
          <a:xfrm>
            <a:off x="7048500" y="1428750"/>
            <a:ext cx="4667250" cy="409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月批次 → 两周 → 一周 → 两天半 → 一天一批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准时率 0% 到 100%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8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客户可提前24小时确定次日需求量</a:t>
            </a:r>
          </a:p>
        </p:txBody>
      </p:sp>
    </p:spTree>
    <p:extLst>
      <p:ext uri="{BB962C8B-B14F-4D97-AF65-F5344CB8AC3E}">
        <p14:creationId xmlns:p14="http://schemas.microsoft.com/office/powerpoint/2010/main" val="2552611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DD3D296-095F-40A5-8F78-E8586B31289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精益是文化转型 + 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E9D271-EC05-4948-AE81-649BD27D259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精益＝持续改进的文化，不是一次性方案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Danaher：新收购带来复合增长（历史语境）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练习：写下质量／交付／生产率的度量口径与基线</a:t>
            </a:r>
          </a:p>
        </p:txBody>
      </p:sp>
    </p:spTree>
    <p:extLst>
      <p:ext uri="{BB962C8B-B14F-4D97-AF65-F5344CB8AC3E}">
        <p14:creationId xmlns:p14="http://schemas.microsoft.com/office/powerpoint/2010/main" val="1775571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89008D2-B5F0-47ED-8C60-9FD33C661EE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质量改进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48A927-E09A-4982-B544-C6BD5A969C48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7FA11A-B289-44A0-9D80-7A3B9B20D95F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53A5A6-7524-413A-A2CF-FEA0FF6343BA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从“过渡”进入真北指标逐一详述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质量如何关联投资回报率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投诉的冰山效应与回头客价值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C4ACAA-565E-4BF4-BA0A-5F41C260A15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LLET-CH03-S05-v01</a:t>
            </a:r>
          </a:p>
        </p:txBody>
      </p:sp>
    </p:spTree>
    <p:extLst>
      <p:ext uri="{BB962C8B-B14F-4D97-AF65-F5344CB8AC3E}">
        <p14:creationId xmlns:p14="http://schemas.microsoft.com/office/powerpoint/2010/main" val="1319502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FAB116A-4BA2-4634-A071-F80BBAB0EDF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质量为什么被忽视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2F606-BC58-498A-A0E4-350F29B63C4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人人说质量好，但很少积极投入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高层更盯着利润表和资产负债表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本讲把质量与财务回报联系起来</a:t>
            </a:r>
          </a:p>
        </p:txBody>
      </p:sp>
    </p:spTree>
    <p:extLst>
      <p:ext uri="{BB962C8B-B14F-4D97-AF65-F5344CB8AC3E}">
        <p14:creationId xmlns:p14="http://schemas.microsoft.com/office/powerpoint/2010/main" val="30356121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D1DD90E-8AC0-4F89-99C2-A31039A823C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图3.6 投资回报率矩阵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181100"/>
          <a:ext cx="7048500" cy="3619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相对质量 ＼ 市场占有率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高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25%～60%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低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劣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中间档</a:t>
                      </a:r>
                    </a:p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（33%～67%）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27%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20%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13%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优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77200" y="1725713"/>
            <a:ext cx="3505200" cy="205402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2BE68AA-0B65-47CF-9D81-EA37817C2DC7}"/>
              </a:ext>
            </a:extLst>
          </p:cNvPr>
          <p:cNvSpPr>
            <a:spLocks noGrp="1"/>
          </p:cNvSpPr>
          <p:nvPr/>
        </p:nvSpPr>
        <p:spPr>
          <a:xfrm>
            <a:off x="8077200" y="4381500"/>
            <a:ext cx="35052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图3.6 原扫描（PDF第44页）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5A8FE6-72D5-48DF-83B1-BA48B3CE6D0A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9728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行＝相对质量（劣／中档／优），列＝市场占有率（高／25%~60%／低）</a:t>
            </a:r>
          </a:p>
          <a:p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中档×高＝27%（不是21%）</a:t>
            </a:r>
          </a:p>
          <a:p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低占有率＋高质量＝20%，高占有率＋高质量＝38%（图中格值，非保证）</a:t>
            </a:r>
          </a:p>
        </p:txBody>
      </p:sp>
    </p:spTree>
    <p:extLst>
      <p:ext uri="{BB962C8B-B14F-4D97-AF65-F5344CB8AC3E}">
        <p14:creationId xmlns:p14="http://schemas.microsoft.com/office/powerpoint/2010/main" val="927790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75F16F2-E7E9-470A-BBA1-AE3CEE2E8AC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投诉的冰山一角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9C14C4-B689-46F1-9247-C2E0908B0B6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90% 失望顾客默默离开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85% 向至少9人抱怨，15% 向至少20人抱怨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原书举例：一个投诉可能已存在10个质量问题、130个潜在客户被警告</a:t>
            </a:r>
          </a:p>
        </p:txBody>
      </p:sp>
    </p:spTree>
    <p:extLst>
      <p:ext uri="{BB962C8B-B14F-4D97-AF65-F5344CB8AC3E}">
        <p14:creationId xmlns:p14="http://schemas.microsoft.com/office/powerpoint/2010/main" val="9143737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825C7EF-E5DB-4F69-97FC-10B19CFD297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回头客成本只有六分之一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DED8C7-BD3A-4FED-9575-6CD3EAFC22C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回头客成本＝新客户成本的 1/6（原书引用）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质量为成本最低的推广（作者观点）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持续质量改进＝增长策略</a:t>
            </a:r>
          </a:p>
        </p:txBody>
      </p:sp>
    </p:spTree>
    <p:extLst>
      <p:ext uri="{BB962C8B-B14F-4D97-AF65-F5344CB8AC3E}">
        <p14:creationId xmlns:p14="http://schemas.microsoft.com/office/powerpoint/2010/main" val="39973168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49FBA7-12F1-42D1-A8D0-3F8688970D5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3F20EA-574F-4330-951C-688B69D7613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列出三个质量指标及口径、数值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收集客户对质量的反馈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记录本企业证据，不套图预测ROI、不猜落点</a:t>
            </a:r>
          </a:p>
        </p:txBody>
      </p:sp>
    </p:spTree>
    <p:extLst>
      <p:ext uri="{BB962C8B-B14F-4D97-AF65-F5344CB8AC3E}">
        <p14:creationId xmlns:p14="http://schemas.microsoft.com/office/powerpoint/2010/main" val="30049313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0B67C9F-71F2-42E4-88E3-4303275A3EF2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6680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9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交付时间与</a:t>
            </a:r>
          </a:p>
          <a:p>
            <a:pPr>
              <a:defRPr sz="49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9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流程改进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B04B07-8FA9-4160-B661-D46987DA5D9C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BB33EA-3B63-4014-8107-5F21E986D664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客户等待、流程设计与案例数字的正确读法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3904E0-F22E-4947-9535-D6046F6AC0C0}"/>
              </a:ext>
            </a:extLst>
          </p:cNvPr>
          <p:cNvSpPr>
            <a:spLocks noGrp="1"/>
          </p:cNvSpPr>
          <p:nvPr/>
        </p:nvSpPr>
        <p:spPr>
          <a:xfrm>
            <a:off x="762000" y="6143625"/>
            <a:ext cx="8572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LLET-CH03-S06-v01</a:t>
            </a:r>
          </a:p>
        </p:txBody>
      </p:sp>
    </p:spTree>
    <p:extLst>
      <p:ext uri="{BB962C8B-B14F-4D97-AF65-F5344CB8AC3E}">
        <p14:creationId xmlns:p14="http://schemas.microsoft.com/office/powerpoint/2010/main" val="2646193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9B60F0D-E5F2-44F4-9BEB-526AFB752B7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客户等待与响应能力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09BF1B-565B-4236-B4F0-76A5A68C44B8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原书第24–25、27页；操作性定义为整理者解释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6A05B6-BCA0-487A-B090-9EB4C4948C16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850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同一笔客户需求，经过一整条业务流程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DA33B0-FFF2-4FBD-B3C1-F4B2607E1C06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交付时间的记录需要明确起点与终点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2F5235-CF0A-49C6-B7D2-D0F3E35E897D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10668000" cy="1219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收到报价请求，直到发出完整报价</a:t>
            </a:r>
          </a:p>
          <a:p>
            <a:pPr>
              <a:defRPr sz="24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收到正式订单，直到客户收到产品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7650C6-8E42-4396-9BD2-B200865774E5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不同起止点形成不同指标，比较前先统一口径</a:t>
            </a:r>
          </a:p>
        </p:txBody>
      </p:sp>
    </p:spTree>
    <p:extLst>
      <p:ext uri="{BB962C8B-B14F-4D97-AF65-F5344CB8AC3E}">
        <p14:creationId xmlns:p14="http://schemas.microsoft.com/office/powerpoint/2010/main" val="14646631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6162C5B-0956-4D63-9BD9-9F892AE58BA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图3.7：交付时间与增长案例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D8F919-2D14-430F-A8B7-CB8C6376269A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原扫描图3.7，PDF第45页；上下文中的历史案例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8207" y="1238250"/>
            <a:ext cx="817558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69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C25F6FA-9247-4D89-93A1-A2D0AC25B04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三个案例的原表数据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FBAB45-6548-4BD7-8977-691B585341B3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原书图3.7；“平均增长”的基期和公式未在表中单列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1571625"/>
          <a:ext cx="10972800" cy="2809875"/>
        </p:xfrm>
        <a:graphic>
          <a:graphicData uri="http://schemas.openxmlformats.org/drawingml/2006/table">
            <a:tbl>
              <a:tblPr/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业务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交付时间减少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平均增长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Atlas门业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工业门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5倍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拉尔夫·威尔逊塑料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装饰层压板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75%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4倍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托马斯维尔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家具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85F1C0A-5D14-499B-A569-102EE8DD969B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图注列出的适用过程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1E60D8-CA9A-44FE-88C1-5E4569415AC2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产品开发、应用工程、订单输入、纠正措施</a:t>
            </a:r>
          </a:p>
        </p:txBody>
      </p:sp>
    </p:spTree>
    <p:extLst>
      <p:ext uri="{BB962C8B-B14F-4D97-AF65-F5344CB8AC3E}">
        <p14:creationId xmlns:p14="http://schemas.microsoft.com/office/powerpoint/2010/main" val="26710316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4EC76BA-378E-4EE9-B679-06F71C2C244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Watlow：报价、图样与样件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83143E-60C2-4965-A240-F4992A345278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原书第25–26页；约一月到约一周为案例粗略表述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1438275"/>
          <a:ext cx="10972800" cy="2714625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过程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改善前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改善后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报价回应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工程图样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约1个月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约1周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样件制造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约1周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E206930-F3CA-4674-B9E1-2CADA27CD4F2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书中报告的业务增长率：3% 提升到超过 15%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89DCD-A583-4EF4-BDA2-41E07F1BA7F8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此前“胜率约15%”是另一个指标，不能混用</a:t>
            </a:r>
          </a:p>
        </p:txBody>
      </p:sp>
    </p:spTree>
    <p:extLst>
      <p:ext uri="{BB962C8B-B14F-4D97-AF65-F5344CB8AC3E}">
        <p14:creationId xmlns:p14="http://schemas.microsoft.com/office/powerpoint/2010/main" val="376061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C18E180-55FF-4E3A-AEDC-F05803C523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流程改变的多个结果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18ADC8-FC96-41B9-8510-D704CE1996A7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原书第25–27页；以下均为作者报告的历史案例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58968D-A908-4052-AB6C-5D0B774D8B13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2095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HON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D8C650-339B-49FF-AD74-1CE22289383F}"/>
              </a:ext>
            </a:extLst>
          </p:cNvPr>
          <p:cNvSpPr>
            <a:spLocks noGrp="1"/>
          </p:cNvSpPr>
          <p:nvPr/>
        </p:nvSpPr>
        <p:spPr>
          <a:xfrm>
            <a:off x="2857500" y="1476375"/>
            <a:ext cx="85725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有机增长率约4%提高到超过12%</a:t>
            </a:r>
          </a:p>
          <a:p>
            <a:pPr>
              <a:defRPr sz="225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行业排名由第五上升到第二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369ADC-517D-4D39-8637-D2A921B73CCC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ThedaCare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8F77A6-E807-4F84-A4F7-EE13B81158E6}"/>
              </a:ext>
            </a:extLst>
          </p:cNvPr>
          <p:cNvSpPr>
            <a:spLocks noGrp="1"/>
          </p:cNvSpPr>
          <p:nvPr/>
        </p:nvSpPr>
        <p:spPr>
          <a:xfrm>
            <a:off x="2857500" y="2914650"/>
            <a:ext cx="85725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错误约减少80%，等待和住宿成本各约减少30%</a:t>
            </a:r>
          </a:p>
          <a:p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处理能力约提高30%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FD9626-C877-4724-BE9B-6C121327083A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皇家海军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91AA3F-0845-4052-ACC6-2B1534759CDE}"/>
              </a:ext>
            </a:extLst>
          </p:cNvPr>
          <p:cNvSpPr>
            <a:spLocks noGrp="1"/>
          </p:cNvSpPr>
          <p:nvPr/>
        </p:nvSpPr>
        <p:spPr>
          <a:xfrm>
            <a:off x="2857500" y="4438650"/>
            <a:ext cx="8572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作者用“免费的航母”类比流程改善的能力价值</a:t>
            </a:r>
          </a:p>
          <a:p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这一说法不代表实际新增了一艘航母</a:t>
            </a:r>
          </a:p>
        </p:txBody>
      </p:sp>
    </p:spTree>
    <p:extLst>
      <p:ext uri="{BB962C8B-B14F-4D97-AF65-F5344CB8AC3E}">
        <p14:creationId xmlns:p14="http://schemas.microsoft.com/office/powerpoint/2010/main" val="34248539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101231B-B01D-4794-85B1-C1527637D15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案例数字的使用边界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A641C7-6C82-478C-B198-E949321D4865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原书第25–26页；疑点按原文保留，不用于企业增长预测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2B09E-9681-4ADC-8259-F67BDC06D2C7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700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倍数、百分比、百分点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4EF70E-F048-4F39-BD4B-68BF8D129CAE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先核对比较对象、基期与单位，再解释数字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2A8033-7204-4295-96C8-AE0D8A49AEFE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10668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原书“增加6%～12%”的措辞存在歧义</a:t>
            </a:r>
          </a:p>
          <a:p>
            <a:pPr>
              <a:defRPr sz="2325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本模块保留说明，不转换为确定的增长公式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DAB7F4-B945-4687-A967-C6AF2062C20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交付时间和增长同时变化，不足以排除其他经营因素</a:t>
            </a:r>
          </a:p>
        </p:txBody>
      </p:sp>
    </p:spTree>
    <p:extLst>
      <p:ext uri="{BB962C8B-B14F-4D97-AF65-F5344CB8AC3E}">
        <p14:creationId xmlns:p14="http://schemas.microsoft.com/office/powerpoint/2010/main" val="22391935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C788149-44AC-4953-AE20-391E4A1FD7C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一条实际流程的观察练习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1A8F9-2C1F-4CF8-8C1E-A38CEE4F19C4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整理者练习；需使用企业真实记录，不预设改善结果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49A23F-4B71-4FC3-AB57-EC6A142DF8BF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006D77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006D77"/>
                </a:solidFill>
                <a:latin typeface="Heiti SC"/>
                <a:ea typeface="Heiti SC"/>
                <a:cs typeface="Heiti SC"/>
              </a:rPr>
              <a:t>示例：客户询价至发出完整报价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CC8EC6-17C6-4B57-995B-489C76503CEA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1095375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01  写清开始与结束的事件</a:t>
            </a:r>
          </a:p>
          <a:p>
            <a:pPr>
              <a:defRPr sz="24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02  记录实际处理、交接和等待</a:t>
            </a:r>
          </a:p>
          <a:p>
            <a:pPr>
              <a:defRPr sz="24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03  改进一个步骤，观察时间、差错与客户反馈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20F0E5-2ED6-4020-90A8-37A38CA10915}"/>
              </a:ext>
            </a:extLst>
          </p:cNvPr>
          <p:cNvSpPr>
            <a:spLocks noGrp="1"/>
          </p:cNvSpPr>
          <p:nvPr/>
        </p:nvSpPr>
        <p:spPr>
          <a:xfrm>
            <a:off x="609600" y="494347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复习：胜率与业务增长率为什么不能混用？</a:t>
            </a:r>
          </a:p>
          <a:p>
            <a:pPr>
              <a:defRPr sz="2100" b="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客户等待为什么不能只用单个岗位的速度衡量？</a:t>
            </a:r>
          </a:p>
        </p:txBody>
      </p:sp>
    </p:spTree>
    <p:extLst>
      <p:ext uri="{BB962C8B-B14F-4D97-AF65-F5344CB8AC3E}">
        <p14:creationId xmlns:p14="http://schemas.microsoft.com/office/powerpoint/2010/main" val="997542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487AD6-64C1-43E1-B02F-A1D9153B48E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成本与生产率改进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34765F-77CB-412A-99AE-1123EF5CCC6A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2283AF-ED73-4737-A1E8-E765B3580E31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E93C84-2E42-46C6-8681-EF5E4EEB3C37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成本的两大类：外部采购与人员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生产率是内部成本主要驱动力（作者说法）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生产率如何度量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3D8DB1-ADCB-40D9-A02F-3FE1CC997E2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LLET-CH03-S07-v01</a:t>
            </a:r>
          </a:p>
        </p:txBody>
      </p:sp>
    </p:spTree>
    <p:extLst>
      <p:ext uri="{BB962C8B-B14F-4D97-AF65-F5344CB8AC3E}">
        <p14:creationId xmlns:p14="http://schemas.microsoft.com/office/powerpoint/2010/main" val="12153169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C3770E-E1A8-44DE-8F0F-CB2E96CCC6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两类成本合计占90%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FDA13B-0D21-469F-A81F-51E85FFF080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外部采购 ＋ 人员成本 = 90%（作者说法）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外部采购是单一最大部分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但很难从这里创造竞争优势</a:t>
            </a:r>
          </a:p>
        </p:txBody>
      </p:sp>
    </p:spTree>
    <p:extLst>
      <p:ext uri="{BB962C8B-B14F-4D97-AF65-F5344CB8AC3E}">
        <p14:creationId xmlns:p14="http://schemas.microsoft.com/office/powerpoint/2010/main" val="3310459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F9D822B-CEE1-42BF-9DA7-CE9D626A020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外部采购难创优势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10DE9D-FF20-4817-B74C-0F3C6879307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大宗采购受全球价格影响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特定组件由同行的行业专家生产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丰田靠持股绑定供应商，海外难复制</a:t>
            </a:r>
          </a:p>
        </p:txBody>
      </p:sp>
    </p:spTree>
    <p:extLst>
      <p:ext uri="{BB962C8B-B14F-4D97-AF65-F5344CB8AC3E}">
        <p14:creationId xmlns:p14="http://schemas.microsoft.com/office/powerpoint/2010/main" val="3501265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00F8463-DD52-402E-A7A5-41CD86E5FB7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人员与生产率驱动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39322E-D6B5-42C6-A711-CBE1CD04125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罗克韦尔汽车崩溃后成本减半的教训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能否增长却不增员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生产率决定内部成本90%以上（作者说法）</a:t>
            </a:r>
          </a:p>
        </p:txBody>
      </p:sp>
    </p:spTree>
    <p:extLst>
      <p:ext uri="{BB962C8B-B14F-4D97-AF65-F5344CB8AC3E}">
        <p14:creationId xmlns:p14="http://schemas.microsoft.com/office/powerpoint/2010/main" val="35817948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1A72846-FD72-47D3-A3FE-3652FCAD3E2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生产率：输出除以输入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830858-9B08-4CE8-816A-FCAEAB2B74A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输出＝价值（制动器／病人／起降频率）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输入＝工时；杰克制动：每个制动器所需时间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霍恩公司：每个成员每小时多少美元</a:t>
            </a:r>
          </a:p>
        </p:txBody>
      </p:sp>
    </p:spTree>
    <p:extLst>
      <p:ext uri="{BB962C8B-B14F-4D97-AF65-F5344CB8AC3E}">
        <p14:creationId xmlns:p14="http://schemas.microsoft.com/office/powerpoint/2010/main" val="16414725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EB22CFE-A378-4E31-89D5-2F1DAAC6BA0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10E7D4-3FDE-4CB3-A09F-4F26A07C605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写下你们的输出单位与输入口径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记录实际精力放在质量／交付／人才／生产率的分配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写清每个指标的口径</a:t>
            </a:r>
          </a:p>
        </p:txBody>
      </p:sp>
    </p:spTree>
    <p:extLst>
      <p:ext uri="{BB962C8B-B14F-4D97-AF65-F5344CB8AC3E}">
        <p14:creationId xmlns:p14="http://schemas.microsoft.com/office/powerpoint/2010/main" val="8682318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8A4FAFE-1ECB-44D6-A984-AB4626A427C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人才培育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626B6D-3E30-46DC-887E-BE20990B1D04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78FCD5-1CBC-4799-8260-AA93F7AACEB1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8A1363-27F9-4B56-AB95-B5096014A78D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先造人后造物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“自主研”一周改善活动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参与度指标：广度与深度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A2188C-E03B-44E7-ACE5-07D45CC97D40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LLET-CH03-S08-v01</a:t>
            </a:r>
          </a:p>
        </p:txBody>
      </p:sp>
    </p:spTree>
    <p:extLst>
      <p:ext uri="{BB962C8B-B14F-4D97-AF65-F5344CB8AC3E}">
        <p14:creationId xmlns:p14="http://schemas.microsoft.com/office/powerpoint/2010/main" val="909543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B85F2A5-7A4A-45E2-8AB9-4704DCA276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先造人后造物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1EF1CC-1FE6-4660-97EF-2A56828AF3C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硬性东西容易建立，软性东西难以培养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持续改善文化是重大工作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生产汽车之前先培养人</a:t>
            </a:r>
          </a:p>
        </p:txBody>
      </p:sp>
    </p:spTree>
    <p:extLst>
      <p:ext uri="{BB962C8B-B14F-4D97-AF65-F5344CB8AC3E}">
        <p14:creationId xmlns:p14="http://schemas.microsoft.com/office/powerpoint/2010/main" val="1902352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84BBE25-BDD6-40AF-AC9F-FE98CD7270B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“自主研”一周改善活动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BC9D69-277D-446A-8B5E-2C3D20D5F6E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6~8 人全职团队，为期一周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集中改善价值流的一个基本部分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期望实现：财务业绩、学习机会、文化转变（原书期望，非每次必有效）</a:t>
            </a:r>
          </a:p>
        </p:txBody>
      </p:sp>
    </p:spTree>
    <p:extLst>
      <p:ext uri="{BB962C8B-B14F-4D97-AF65-F5344CB8AC3E}">
        <p14:creationId xmlns:p14="http://schemas.microsoft.com/office/powerpoint/2010/main" val="2134150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2335C27-9462-4A27-A41B-9DC69FB315F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领导亲眼看到浪费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4F0E5E-C4F2-40B2-BA64-82A6C1EA859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深入过程，识别增值与非增值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原书描述 95% 操作由非增值（浪费）组成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亲身体验是领导推动改进的主要动力</a:t>
            </a:r>
          </a:p>
        </p:txBody>
      </p:sp>
    </p:spTree>
    <p:extLst>
      <p:ext uri="{BB962C8B-B14F-4D97-AF65-F5344CB8AC3E}">
        <p14:creationId xmlns:p14="http://schemas.microsoft.com/office/powerpoint/2010/main" val="11763170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B075367-D8A1-4AF4-9AEA-4B478759538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丰田北美反省与参与指标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0AD23E-8CA0-4384-937B-0799B798632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丰田北美反省后重新聚焦“自主研”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广度：尽快让更多人参与两项活动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深度：参与超过100次（原书经验，不保证能力/认同）</a:t>
            </a:r>
          </a:p>
        </p:txBody>
      </p:sp>
    </p:spTree>
    <p:extLst>
      <p:ext uri="{BB962C8B-B14F-4D97-AF65-F5344CB8AC3E}">
        <p14:creationId xmlns:p14="http://schemas.microsoft.com/office/powerpoint/2010/main" val="51058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1C99EFC-F370-4169-9749-DB5F3A9F4F7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5C8ED1-2028-47B4-8882-BC6C7438808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过去一年多少人参与跨职能改善活动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谁已开始主动带领识别浪费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评估组织的参与广度与深度</a:t>
            </a:r>
          </a:p>
        </p:txBody>
      </p:sp>
    </p:spTree>
    <p:extLst>
      <p:ext uri="{BB962C8B-B14F-4D97-AF65-F5344CB8AC3E}">
        <p14:creationId xmlns:p14="http://schemas.microsoft.com/office/powerpoint/2010/main" val="31546075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104AC61-F2E7-4849-97D0-D402C390C4E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将真北指标与财务指标相关联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10BE6C-C427-4939-AD3F-A46A998357EF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AF628D-E2BC-4864-AC63-051B08058AEA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4803F6-54D7-4DB6-A82B-0C74A90C098C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真北指标 → 财务指标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同步改善的协同效应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腾出能力用于增长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0D7069-0308-4135-AAFC-86C2DFC896D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LLET-CH03-S09-v01</a:t>
            </a:r>
          </a:p>
        </p:txBody>
      </p:sp>
    </p:spTree>
    <p:extLst>
      <p:ext uri="{BB962C8B-B14F-4D97-AF65-F5344CB8AC3E}">
        <p14:creationId xmlns:p14="http://schemas.microsoft.com/office/powerpoint/2010/main" val="11871737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AE3DC1E-AF3C-4BD8-B3E8-7DB57C85F4D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利润表：四个项目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19250"/>
          <a:ext cx="10972800" cy="3429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利润表项目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与真北指标的关联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销售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质量改进、交付时间改进、新产品研发改进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销售成本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主要由生产率决定（原书论述）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SGA 成本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巨大花费是人的成本（原书缩写，不展开全称）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财务成本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债务下降或证券上升，向好的方向发展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3012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5B6D9CD-735C-4CBC-A12D-F2DB909943D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资产负债表：三个影响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19250"/>
          <a:ext cx="10972800" cy="3048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资产负债表项目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与真北指标的关联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营运资金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库存周转率提高 → 所需营运资金降低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固定资本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资本密集度降至行业一半或四分之一（原书论述）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债务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6.9分净边际收益（单位不推断）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2055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3D2C413-E854-4191-9FE7-5C047F56907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15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图3.8 壁炉事务所七年精益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1028700"/>
          <a:ext cx="10972800" cy="47625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5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七年精益后的结果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事故率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保修成本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−69%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交货时间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6周 → 5天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完整性和及时性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84% → 98%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企业生产率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存货周转率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+171%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销售/平方英尺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+131%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营业收入百分比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+221%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资产报酬率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+237%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9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现金流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+519%</a:t>
                      </a:r>
                    </a:p>
                  </a:txBody>
                  <a:tcPr>
                    <a:solidFill>
                      <a:srgbClr val="EA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8CFE5FE-A950-4BD2-8D40-74DD01EA2E9F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HD、Q、D 和 C 驱动所有财务指标</a:t>
            </a:r>
          </a:p>
        </p:txBody>
      </p:sp>
    </p:spTree>
    <p:extLst>
      <p:ext uri="{BB962C8B-B14F-4D97-AF65-F5344CB8AC3E}">
        <p14:creationId xmlns:p14="http://schemas.microsoft.com/office/powerpoint/2010/main" val="42495352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BDC1B53-F0C6-4285-BDFF-7A33691B815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协同效应与增长时机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B829C5-8A6F-4661-A2E5-0E46F167702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四个真北指标要同步推进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成长阶段是精益转型最好时机（原书论述）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真北指标记作 Q、D、C/P、HD、G</a:t>
            </a:r>
          </a:p>
        </p:txBody>
      </p:sp>
    </p:spTree>
    <p:extLst>
      <p:ext uri="{BB962C8B-B14F-4D97-AF65-F5344CB8AC3E}">
        <p14:creationId xmlns:p14="http://schemas.microsoft.com/office/powerpoint/2010/main" val="29492448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ADC8BC2-6B69-4811-91A5-086929606A5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本章总结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1A9134-2D68-403D-9645-A34A753FF0E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生产率提高 4 倍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质量问题减少 99%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交货时间减少 95%；作者提出的转型目标，非普适要求</a:t>
            </a:r>
          </a:p>
        </p:txBody>
      </p:sp>
    </p:spTree>
    <p:extLst>
      <p:ext uri="{BB962C8B-B14F-4D97-AF65-F5344CB8AC3E}">
        <p14:creationId xmlns:p14="http://schemas.microsoft.com/office/powerpoint/2010/main" val="40082379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C27653-9CE7-41BA-A2B6-FE919A6C8C9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F82245-1EF5-481C-A99E-A122B344F5C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真北指标分别影响哪些财务项目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倾向用能力削减成本还是支持增长</a:t>
            </a:r>
          </a:p>
          <a:p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本章参考文献见第3章参考文献小节</a:t>
            </a:r>
          </a:p>
        </p:txBody>
      </p:sp>
    </p:spTree>
    <p:extLst>
      <p:ext uri="{BB962C8B-B14F-4D97-AF65-F5344CB8AC3E}">
        <p14:creationId xmlns:p14="http://schemas.microsoft.com/office/powerpoint/2010/main" val="39096872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34E7328-F057-47EC-9DBF-8477B0FC9E6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价值流与本单元的学习路线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1B4590-A755-4A5A-9509-2454ED873D4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客户需要到得到满足的全过程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AEF811-0B4A-498D-9EC1-35F194D6FFEA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现状观察 → 未来状态 → 改善行动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F9902F-1452-4959-8CA8-59CB005949A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三讲沿用同一个工作问题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B80D73-D80E-4D16-AA0A-7D9B66A58C9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1/6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4734312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2E6C627-BFF2-4A6C-9375-FEA270D96F0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现状图来自实际工作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9E7D9E-9550-47FF-A6D4-7B635EE8440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沿着工作逐步观察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038FD7-3800-4E66-AF71-9A971FC4909C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记录实际步骤与交接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2AB851-7A09-4B58-A6C3-ACA136E1D9D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让参与者共同补齐过程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F4D555-3E8C-4FA7-9D6E-7EDFC31C93E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2/6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39735977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F0EB2C-C23B-43B1-B4E9-0F44113D6DE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现状还需要指标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6C6B55-15ED-46F5-8DB0-9FA202239E9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人员发展与质量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93B51-DE0A-4E7A-A5D3-4605C31A74E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交付延迟与资源消耗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672489-0CF5-4EC7-8B58-E3DFE446E73A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记录现状，保持前后口径一致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FE74E7-6412-4B52-9D8F-9CEFF6E6492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3/6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9723763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CA68750-8992-42E2-9955-7EA9D36010AA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原书案例：ThedaCare的价值流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61BDA0-96E5-450B-944A-C9A1662C70A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医疗服务同样有连续的工作步骤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1B1567-8826-4FB5-BBE9-C9D39D3C766C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现状图帮助团队看见整个过程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758747-6A1C-471A-BF83-D5092B80929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逐步讨论哪些活动创造价值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4CBDDE-8FD1-4C1A-90CF-1BD59DD63FC1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4/6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29130265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9590517-85E9-4DD7-8DE1-F21149775985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工作练习：一项交付的现状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0ACFCA-DEAC-477B-A106-0FF5BA55090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写清开始、结束和接收者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95EDBA-C38C-4213-BD5E-44F537E8C6B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列出实际步骤，圈出一处等待或返工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83408A-19D0-47E6-B981-66402887269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补上一项现状指标和证据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0A3253-5BCE-4788-9CCE-7D6D33A8CBA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5/6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39030576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E68861C-5331-464D-A7EA-318B3E82CE5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小结：现状是后续行动的依据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4CEA2D-4480-42DE-898A-3C6EEE8744A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要点：看实际过程、共同观察、记录指标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4D8C0E-6669-4ABB-AEAC-ABEF6D240DD1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自测：已有流程文件为何还要到现场？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B719C4-F9EF-4C82-9971-4D66C515BF4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行动：与一位参与者核对现状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1AF1ED-D9A4-47FE-A572-8C44651A156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6/6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9845724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E6AF589-1586-48E5-983F-C0440E60A78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理想状态与未来状态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4EC88B-1EB2-486E-B0AD-DFE77310C6E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理想状态帮助打开思路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D0A0B3-8D5B-48C9-BE11-ABF30122F72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未来状态考虑近期可以实施的改变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0A5AE2-BD70-4BFB-B201-50C6D959FBAB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原书提出6—18个月的计划视野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327A32-3958-46A2-96EA-8DF3932300D5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1/6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9787330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A6BB91A-060B-4471-9AB2-C8FA3FF37801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未来状态需要对应的目标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3A66CA-AFC8-46EE-8ECC-3EC9EB5242E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每个真北指标都要考虑未来目标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00F734-EE5A-416A-9D5C-A7790094F9C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目标与具体行动相联系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81B53-8566-4C61-8F16-F98FE8CF0F6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改善幅度须结合实际情况判断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9F8E78-F6AD-4729-AA01-AAA7B0A7DD5D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2/6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8695901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231FE7B-4588-4231-832A-02A26C9DCA85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计划中的三类工作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21B3A8-534E-484C-AFDF-38ECC464D43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可以直接完成的小改进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E96D7D-CC46-4707-A928-BA799A3FDC5C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需要协调推进的项目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8EEAB9-34B2-4BD4-A966-72BC2BF501D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集中开展的改善活动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8BFFE9-9853-4882-A528-5DAFE6E1C70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3/6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140832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C785E22-9C96-47B1-A166-DBBDDB2F3FD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原书案例：ThedaCare重新设计工作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EEFBF3-3893-4DDD-9906-8A8CEC8F8D5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反复回看已有价值流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0A934F-C21F-4F51-A33B-023BCD4CEE8C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医生、药师与护士共同参与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D9EB5C-EE09-43E3-B026-6202A580EDB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工作安排与空间布局一起调整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F2CCE5-D663-419D-BC46-FF3CC18DC0A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4/6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2313992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6BFFA5F-6DDA-4998-AE6E-1BDCBBB34E1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工作练习：一项未来状态方案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A5FA0A-09B9-4EFC-AAAE-5C3D1C1C133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针对一处现状问题提出改变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FB851E-F42F-4FE9-8D28-BBF600B03DC6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选择推进方式，明确负责人和日期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420F14-462B-4AF1-AA88-3FB964C3B42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写清目标与需要验证的条件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47A555-F338-4E76-AB18-EC292E3998A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5/6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2317744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94CF96A-C3DD-4376-B5F2-1DBBCF5A644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小结：图要转化为行动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479B19-0A8D-4A62-98F7-BAA70A778F9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要点：区分两种状态、明确目标、安排任务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690A05-A74F-4B26-B4D4-A4290C407AD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自测：画好未来状态为何还不算完成？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90B3D9-54BD-4BAA-B273-A3F23C65B21B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行动：与相关岗位讨论一项方案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B138BF-24A6-44FC-B57C-2788FAC746B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6/6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32567112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EEE0998-EE9B-43A5-B258-F5EDB3831719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改善活动的作用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AA8F4D-895E-468F-9B55-4B9FEAC052E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围绕具体过程集中开展改进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5004F5-5B5E-4716-B98A-FB70EA18D92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把分析、重新设计和实施接起来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8BC9A8-88AD-4440-A22B-F754B118452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活动之后仍需跟进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22FB4D-369B-498B-A5CB-FC172DC5A42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1/6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34483607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1EADC6-926F-47B8-BC2D-0F6F79663DD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人员、指导与持续跟进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E2D8D6-EF79-495C-9AC4-6705279BC74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参与者需要能够专注于活动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1E54F3-A5A3-41BD-A046-C687A05F062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有经验的指导者帮助现场学习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41CA01-0915-4E6A-B32F-31D54DA5A56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记录后续事项和检查安排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2AA8A-C54F-4C60-A169-218626F091D7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2/6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34131298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011D924-2B7A-4F55-B0E8-CE6FAEECB8A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原书案例：FNOK持续回到同一区域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BBA39F-2C43-4525-8981-DDF8CA8C157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首次改善后继续研究同一过程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447D08-C648-4195-B9FA-68C673A7E8CF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新的变化使后续问题更容易被看见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2CC1CE-2FAC-4B30-8F60-1F7E0C97E3E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重点是反复学习，而非套用增长比例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00CC8E-B139-4FF0-ACFE-3D1F0F7F405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3/6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3851479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7076D5C-620B-46A9-8245-1929222A777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五倍规则与活动的三类收获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78076A-6E4D-485F-BBAB-5DC8C98361F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“五倍”指反复研究过程的经验法则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602C49-03C5-4446-9BE5-612BC87CCC4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运营结果之外，还要看学习与文化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6485E-EECC-4978-B0B8-1580CEA3B8F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日常持续改善是长期方向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3E6E04-A71B-4D23-8B65-0EFA93BA88A9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4/6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7678667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89F5134-94C5-46A5-9D30-A2A535ACCC5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工作练习：行动后的回看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40D5D8-5458-4CFE-8E39-A22F92B3A94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写下参与者与需要的指导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8EEA51-1E10-44CE-A4B8-7C1CEA2850F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保留行动前后的事实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7C1E00-EAD3-4C3F-92D8-9617D78F820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约定回看日期与下一步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92EE96-7FC9-4CA6-B9AC-85539F13FB87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5/6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42839283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073A7BD-6A69-4400-AF7B-E8769776BE5E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单元回顾与下一站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DA65F7-2387-4AF4-806C-D754421D091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路线：现状 → 未来状态 → 行动与回看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A01F64-F85A-46D9-9BF0-1105D3D70D2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自测：活动结束等于流程问题解决吗？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84B034-08C9-42A3-AA34-5EF2245B73C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下一站：团队与人才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1D2207-31B1-4DF0-A2D5-F002A88CA7CA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L13    6/6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00144619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368BD6B-AA68-4717-B185-1D425D1442A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活动结束后，谁继续支持？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8B9583-CE9B-40CD-9FC4-DC0FF3B226A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活动节奏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529A40-5CB7-4E36-B98A-713FECC30886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团队角色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CEFF55-91FA-475B-985D-8C5BF4B8E27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后续支持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CBFC17-B703-47C9-90C0-2EF98A6FDEC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1/6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8931065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8C04808-7209-4445-8848-6DA1A8288A26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n/10：活动节奏的经验参考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281029-8D28-40DA-B0D4-C9E1D4D477E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n是选定范围内的人数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C184D7-219C-47C1-8250-23E56C997DC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n÷10≈年度改善活动数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653852-8037-40D6-8347-E61205F56FBA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不保证固定业绩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AD522D-92F3-473B-9856-22F40AEE23C3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2/6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2394427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2D45C93-554F-4446-A721-EC140EC301C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原书案例：FNOK逐年建立节奏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3E75EB-1608-4B2E-9F6A-D81D4CDB665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1992年：200次，年中启动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1CFA46-E808-4075-B9A3-577E6CA7F0C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1993年：600次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08418A-0E95-43D3-A6C5-B425148F891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1994年：达到1000次目标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B69E0B-5F74-420C-8459-782C30BB7561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3/6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27635312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43D739-A6B3-42C7-8318-019E5485484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活动团队与专职支持，职责不同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94E405-2C16-4E20-BCCE-43FEF8359FD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活动团队：现场人员、经验成员、学习者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30196B-B4AF-45A1-BD4B-3B1D81DD0B1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专职支持：准备、实施、跟进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4ABBB5-093F-48B3-8826-53C25BEA7E3B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约3%是经验参考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B4DABF-1770-4233-AF3E-60DD26CDCC2A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4/6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3679278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4735085-8F60-4070-8385-E1BFB1F47B0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把后续问题放进计划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44A5D8-446C-442F-A6BE-3B7316EE8C9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剩余事项有人负责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A059B6-4466-47CC-8383-96A5FA0E7191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新暴露的问题继续追根因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A5FF8E-CB66-4BCE-B2C5-E7BD6080C227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支持不能随活动周结束撤走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FE6BBC-7597-4131-9F9A-7FC8D5B598B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5/6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5555709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FD10ACB-AF8A-4987-88D8-B8D539E1EE1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工作联系与小结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4433AD-A737-4AFF-98A3-D823EC2768F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3个要点：节奏、角色、跟进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28FF-5B13-4E39-A405-447A5539B77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自测：活动数与专职人数一样吗？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3668AE-6E76-46AF-BE6C-1244092F9DD5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行动：补一处支持缺口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A934AB-8CC5-4C27-870F-E0562D3A5A42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L14    6/6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5066117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D898BBD-7F7A-48D1-A501-EA0E5F59DC51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先分清三种角色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2E088A-D27A-4B98-9A59-7A29B945A966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一次改善活动的团队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846362-696D-4A39-A8BB-574EB4CF4EB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长期专职支持团队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DF2C4-D023-4017-8A22-DB91A13947D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管理流程改善团队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62C4EB-A438-4D75-A179-0CAC7C2F7672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1/6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9415609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872D9C-5C0E-4D3C-B935-EF99CBE2ADD8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让现场经验和改善经验相遇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0502AB-F330-4798-8428-28AB849A2F8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主管和本领域成员了解过程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7175E8-8B48-4F25-9706-4EFB1BFEF37C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经验成员帮助研究和改善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1AB35C-D3A6-4C60-95EF-131FFFC3057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管理者亲身参加学习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5DED3E-762C-4955-B0EA-E195AEA25E7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2/6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9270835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0CE17DA-8A51-4684-A0DB-D28037F9B4F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专职成员：看见问题，也能一起解决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9F8660-C243-4097-90DA-752045DF776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愿意学习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C4DA0F-1E30-4063-A5E1-E7FA11B029F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认识问题与解决问题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3F1345-3CFC-4A8F-8F2C-86FA6CF1E60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合作和沟通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C6BB94-94B5-4669-948D-41C3EBB9C69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3/6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22003248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D1E89B8-5DF4-43C7-8CB3-49E300C656BE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领导者：把精益放进接班与发展安排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06AD08-7F7E-49DC-899B-2A3457926FE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作者建议业务继任者领导专职团队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A52A9D-9AA2-4D8D-A8F2-7374224AB33A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通过实践积累经验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A4AD09-8CAD-4401-8449-A2CB48A22B3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培养内部导师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A95A4-D3A0-4A7C-AD63-EAAD13E0C2F4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4/6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216148391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47F5776-E6F0-4DE7-A15D-E05E92CB485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原书案例：办公室的报告也能改善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4B1381-DB45-423B-B1C9-B4114985F34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逐项查看报告使用情况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30695F-0611-495E-95C5-9DC8AB16D34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年报告数1920→1236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CF63A3-277D-445E-A6FD-622B257093E1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原书约36%，不是全公司效率提升36%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0652CB-5BC0-4F32-A04F-F3823D223AE7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5/6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28824005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F114132-FD4D-4DCF-A202-A8FE7D25784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工作联系与小结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B23E25-8BB5-4D3F-9963-818C2EBA849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3个要点：角色互补、领导实践、办公室也有流程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FAC111-3B8F-4CF9-89BA-02166B9270FF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自测：职位最高者一定做组长吗？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5B52B7-3BA0-461F-AD13-15753981653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行动：列出问题所需能力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2D4A32-8CF7-4292-BAF9-07A2238DEB7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L15    6/6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34341181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8EEB27-778A-426D-927D-43AB67B53E46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让支持、培养与调配连起来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0B16D8-F823-480F-883F-DE83977398C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支持改善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A9290C-A839-4CD2-82A2-12960A5EEA4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培养人才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37CA3C-B9F4-42D8-9DCA-7E50754A509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为释放出的能力安排去向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EFC03A-4D49-4120-B426-7AA26A3116F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1/6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78846244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6432040-2F0F-410C-935C-A23C55D1FBE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Watlow：全职支持比例逐年变化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3984C2-B377-4697-A40D-3EB8DA89637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2005：1.4%；2006：1.7%；2007：2.3%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9FE4F7-0BE5-4B23-ACAA-69185429F8BF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2008：2.7%；2009：3.1%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3500A2-64CE-47FE-A72E-0DD12665973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原书：2009年5月达到3%目标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E0723-8E3F-47FA-9892-476C92E6EF0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2/6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41645841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4375ACB-41CC-4570-8CC4-88028DC1CB97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数量之外，还要看能力能否接续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5A595B-0DD3-41B1-B85B-C4F13285AF5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目标与人才培育相连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33A320-33F0-459B-A4AD-9E84D3DC087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成员晋升后仍需补充支持能力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FF853F-DF00-40B1-A5D4-4C13ED76237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经验关联不是固定因果阈值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61B95B-012B-4584-AB1A-C3CB4507BCB6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3/6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81191168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68000EB-2AA0-479D-947C-5A1C2F2C7FAF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调配：改善之后，能力去哪里？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BE4F01-6032-4C4C-8528-F906D08FD21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原书讨论重新部署与新工作机会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3EF8A6-2D9C-4EC7-AE99-F155919737F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暂时没有岗位时安排学习或改善工作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56946F-E731-41FE-8884-3BAF5319D0F2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不将歧义句变成人事指令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37D77C-E61D-4FBB-B0E6-46E630CA143A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4/6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421051953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5BB3511-A4F4-4B6A-A9C8-8D7253FB255B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培训：三类对象，共同落到实践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EEDFD6-85E2-4BB3-B2DA-AE1944F3DDF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所有员工：原则与基本概念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F325A0-9E00-476C-9490-DCCE215C90E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专职团队：角色与专业能力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962F73-DC67-4634-9406-926BC04315E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高层领导：阅读讨论与亲身实践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8DCC45-3439-4A36-8A35-0E8A1760C196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5/6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16482346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66EACE9-982E-442E-B57D-C3516BFBC8EB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单元收尾：一个人、一个问题、一次复盘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349508-B270-4D27-BDC6-52C8716F6BE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3个要点：支持不断、人才成长、能力有去向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0AABB-101A-4375-B361-D88CF80B07D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自测：听完课就掌握改善了吗？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33FCE7-6CF4-49E8-B9C7-C94FC04E9ED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行动：一次带问题的实践学习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3CA307-BF5E-4871-A238-34953B4D2B1A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团队与人才 · L16    6/6    原书第5章；案例按原书记述</a:t>
            </a:r>
          </a:p>
        </p:txBody>
      </p:sp>
    </p:spTree>
    <p:extLst>
      <p:ext uri="{BB962C8B-B14F-4D97-AF65-F5344CB8AC3E}">
        <p14:creationId xmlns:p14="http://schemas.microsoft.com/office/powerpoint/2010/main" val="417213471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CA30B40-FE99-458B-B3EA-22E578B933C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战略推进与本单元路线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38691A-2795-4837-9A90-38FDC5AEF18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领导者在实践中学习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0891C9-918F-4193-B92E-0E3B53DA9CD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把方向连接到价值流改进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E3705B-D8F5-4902-8F7B-95A1F4F9EEF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通过回顾支持持续推进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70F5FF-2DC9-4FFD-9911-154A989BEAE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1/6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90348681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CEF922B-C4DD-4FBD-8637-1DCC9F03936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领导参与需要实践和指导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660F00-CDDC-4EF7-981F-8DE679D89DE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在实际工作中学习看见浪费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3E22A4-9C0F-4869-BA8B-33565AA5070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通过导师支持积累个人经验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A80535-3BAA-4FA4-B51E-0874837F030B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课堂学习是起点，仍需现场运用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AA9BC1-C27E-4BF5-8571-7C2BBD9FEF22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2/6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0062079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8C90829-7BA0-4237-95C0-9E4332E04D4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原书案例：HON/HNI的浸入式学习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392266-477E-4296-A443-206218A8367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新管理人员首年参加四次一周活动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18F74C-47AD-4BEC-B7ED-DAC298B2DDD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经历生产、价值流、管理及设计学习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F3688F-7F02-45CA-B711-F9253289822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重点是把概念用到不同工作中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122D9A-1573-449E-A7E8-C61F0A1F6D33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3/6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302774661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B8F840C-5798-42B4-B89D-9B184237D2E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指导联盟与共同沟通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80B6CB-BD49-4CB2-BE19-D9958F65EA88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多位高级管理者共同支持转型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AD6342-6956-4D0E-A4A7-6563A96173A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先选重要价值流，并安排资源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E1062D-DFDF-4085-A931-A874C81AFD54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说清原因、方式、预期效果和职责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A687F6-D7F7-4AD9-8614-5D5AC67CE521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4/6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66362905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009F798-0693-41B6-967F-EFBD2207D52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工作练习：一项改善需要谁支持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40A314-6D07-4E6C-9054-6F76C88A68F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写出与客户或组织方向的联系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E19CF8-F573-4C98-AD6C-DBABA1B0E836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列出负责人、参与岗位和指导者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5D58D0-7CD2-4879-BBCC-1A5B4FA1338A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用四个沟通问题解释行动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CD3DA6-CEDA-4C8F-83D5-EF0229E44CB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5/6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99203799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89B1D26-654A-4013-8846-6723A4565F9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小结：方向需要有人共同推进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A12133-7019-44E9-8189-6F9D859585F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要点：亲自学习、共同支持、持续沟通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898521-624F-412F-B5DC-734F5CBF83A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自测：发出通知是否等于形成共识？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42B18-4491-46CB-A3AB-B7ED6F64EC42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行动：核对一位参与者的理解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0596DB-A70A-4A1C-846E-FDE0AD6C6DD5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L17    6/6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52590547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0F98E0B-7C80-460B-84EE-E134A3BB10B1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战略部署的连接关系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546168-F09A-4F93-A531-82483DE2427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组织方向 → 真北目标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9A9608-E0F6-42FB-8B0A-4CA22B67D5B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价值流改进 → 具体行动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EA59FD-4C28-4253-B7F8-6E2031DC8F42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每月回顾 → 调整后续计划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71A133-437D-4326-A2DF-E13F1A00F7FD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1/6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303419580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78E4F52-656E-465B-B38E-09DEFB61F149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目标需要具体的价值流行动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77C665-3D1E-411D-8D50-2A61DF9FB075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为年度目标选择价值流改进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9CDB57-25AD-4E81-B3AD-EEB87F1FCD1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明确活动重点与支持人员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E1A32E-8ACD-4D1F-87DB-55012B7AF21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检查行动是否足以支持目标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C879E2-6E6A-4FA9-B90C-50BE7671B3E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2/6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3284662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B92BFD4-C8D2-4290-9BA6-B3C66102DADB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月度回顾关注原因与下一步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05C072-8E31-4CDD-B8A0-57880ABB75B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先看目标与实际结果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07786A-B3A6-4E8E-BDAE-9B96D7BE7D8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讨论行动、原因和学习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3865A7-B7CE-49CE-BE29-AD86244F68C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安排补救及下个月的工作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B2F9D1-68E2-4A6D-A75C-190A08C2C2E1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3/6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7477314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017E3BD-0614-4578-9A55-C34E6255822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原书实例：Watlow任务控制室入口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8475A5-9AEE-40B8-A566-310560A3F2AC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指导联盟有日常会面与回顾地点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3A20DF-6FF6-47EC-96CF-7DBA00608697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计划、学习安排和指标共同展示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DF6ECF-440B-4A0A-9C5F-6AF9D18FB59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详细案例可从附录C继续阅读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57F81E-B2BA-4B9A-B7CE-E2CF979822C9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4/6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666808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7297E43-21AE-48A9-B4D5-6FD68B955D36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工作练习：一页推进与回顾记录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CE02A-15AF-46F6-8618-BEB3D86B0CE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一项目标、一个指标、一项行动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859582-A1F5-4C53-B5DE-49EE10349B6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负责人、支持需求与回顾日期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91F5D0-0575-4767-8173-9E07CEDF993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实际结果、原因和下一步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433B5A-7C13-48AF-8943-333B3C4E55DB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5/6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10627029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1FD22A6-BB9C-4D39-B9B9-2593BD09852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小结：用回顾支持目标实现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96AA54-9316-4D19-AC94-1551AE1188E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要点：目标连行动、资料共同可见、回顾原因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25FE16-3C04-4D0A-BFA8-1CAF6120848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自测：指标未达成时还应讨论什么？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A7600D-2B95-466A-8C8F-359DACEDC2F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行动：约定一次简短回顾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33E5-8842-4744-AB32-A22A71EB472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L18    6/6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7124172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03F8E86-47A2-4D71-B17A-47D06B705065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持续推进需要时间与经验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8585F4-BCC0-4310-9A24-035B3B57AA0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新方法需要反复运用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6F4389-0A4D-4366-82D5-790EE1CF85A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局部成果不等于整体转型完成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E02B70-484F-49DC-A1A9-A04CD03D415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阶段描述用于理解，不是交付承诺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7BCE26-9E57-4D1D-9806-C8FCA975801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1/6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97385341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B099088-CDD3-496C-9019-B4F0B93C78F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原书的四个阶段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B4AE65-648C-43F4-BDF8-2064AE56A017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第一年学习，第二年面对阻力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71DD29-8243-41F7-9876-3F28109B71E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第三年巩固经验与成果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68949E-535B-4F10-B909-199B87262D75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第四年持续改变逐渐成为常态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63AA25-96C4-4E6E-A0B8-312B0260A81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2/6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42595875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1523D46-8814-421E-943E-3DA78684B4A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原书案例回看：Danaher的导师安排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320E52-6E60-416F-945C-37835B7B51F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新领导者的学习采用正式计划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E46339-45EC-46EF-9885-1DA378C16FB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导师在实践过程中持续指导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BCACBF-0F00-4C24-9D3F-DE29C131B66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学习支持贯穿一段时间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5FBECB-24FB-4306-AD3E-79564D2FE4E9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3/6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5874377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0E5BE28-CBA3-4345-975D-04E6B45A4082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疑问与持续拒绝参与需要区分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CFE2D2-48BB-48B5-9B41-4AE298E2523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有人担心改变会损害已有成果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BB5D4C-72D9-4810-96FB-9806C67D3CA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先理解疑问，再澄清方向与职责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F272CB-4F1A-4C79-A14B-187C302D6347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不因提出问题就给同事贴标签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BD1A43-4F89-4670-8E24-F31CF78359C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4/6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63249800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8DDBC35-9177-4A7C-B0A8-D882862AD11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工作练习：下一轮学习与推进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C24CFF-18D0-4598-9F1A-FFE884981D7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记录一次反复和已知原因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A48402-7CB8-4CC9-A8EB-6A8A72B6179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写下一项需回应的实际担忧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4E275D-3C31-4958-9EED-F5A57B5F332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安排指导、后续行动和回看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77B601-9252-49DC-8CBE-75DC043D16C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5/6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66240828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D2221D0-23CE-44C0-BB8E-8DEC2FC73C0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单元回顾与下一站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E14E77-35B9-4FE1-93EC-0A5C3F7E115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路线：领导学习 → 战略行动 → 持续回顾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CC85E5-DC55-455C-AF5D-21DD245C393B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自测：一次好结果为何不足以证明完成？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A16682-B85D-4CE4-8B65-3CBE59CFA3F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下一站：领导与文化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CDA38F-76B5-4DB5-BC38-D9854DF377D3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战略与推进 · L19    6/6    原书第六章</a:t>
            </a:r>
          </a:p>
        </p:txBody>
      </p:sp>
    </p:spTree>
    <p:extLst>
      <p:ext uri="{BB962C8B-B14F-4D97-AF65-F5344CB8AC3E}">
        <p14:creationId xmlns:p14="http://schemas.microsoft.com/office/powerpoint/2010/main" val="212243758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036421-EB3C-4056-8520-504F12BBBDCE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文化体现在每天怎样做事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B67098-952A-4B0D-9F27-88BA01C8A0E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领导者的行为影响文化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3D797D-37ED-4A91-9EA6-8EF6319FE37D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客户影响是讨论改善的起点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BE4734-CCA6-42E6-BB8A-6283ADB62255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三讲联系自己的日常工作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B9C931-877B-407E-B8D8-1F8BEBED461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1/6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61022973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DC5889F-6063-4768-9434-1947AFB89A23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客户需要与真实信息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2616EC-FF22-44FE-9544-3D602E7E510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讨论改变对客户有什么影响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D57150-A853-4910-ACFB-E2D52119D97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如实说明问题和不利事实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76B8F3-E975-4224-A9B2-C3C65C9C38C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承认还有可以做得更好的地方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607EA8-4825-42FF-98C0-F9D092C2B33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2/6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373616432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ED4396B-F1F4-4684-BF20-9A1F3813EDD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原书案例：HON/HNI的积极诚实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047096-FBD9-4FAF-85AF-2457E152FAC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诚信不仅意味着不说谎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06962B-6BAF-4CE6-BDD5-98729C76C78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即使不利，也需要讲出事实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51C942-E51C-425F-AD33-D1427EDEB8E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问题得到说明，才有机会改进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EB5A8C-8685-443A-AE6A-803962F3FEA8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3/6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15286964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A985F9E-6B28-40C0-ADF9-B5C819F0C21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尊重地反馈，充分理解问题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2D1FE1-7FD4-4759-B3DC-B043931E164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具体说明长处和不足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D62067-02CA-4DFE-81BD-32433BA9E57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理解问题之后再讨论方案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2BBA93-A2FC-41AA-9743-D81FBAB33B8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五个为什么和A3是思考的帮助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4AB7F0-65F0-410B-80D9-F245A2ACF27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4/6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30958482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D0A6146-450D-4C66-AC39-94252B615FE9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工作练习：一次问题沟通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DCF9CA-4F9C-4315-AD12-07E32CCEF33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客户或接收者受到什么影响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F8223E-6751-46F2-8AF4-5D7631E711E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我知道哪些事实，哪些还不知道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2A8A28-0EBB-4231-905D-4DF047B65658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准备怎样尊重地提出问题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9AD151-017E-4FDE-8377-FF92A186479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5/6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361919034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7E77736-CB91-4209-85D7-F178768C084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小结：问题可以被诚实地讨论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9BE816-250C-488B-96F8-0C259884E66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要点：关注客户、如实说明、尊重沟通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A9D3F9-D20F-403A-AFE3-9F3F57352B3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自测：尊重是否意味着回避不足？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63F772-EEE2-4320-BAED-DFA093CA2FE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行动：核对一次问题描述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6F53D1-7F5A-4EEC-BA8A-496B278414A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L20    6/6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370082811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F2D2CD4-DF3D-437B-9AEC-4DBBAE902ED5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现场观察帮助理解真实问题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A316B-52B7-4BBB-B62E-BC7176808E4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到实际工作地点看过程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2F09C6-4D4D-4541-A319-10465215FC26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听取参与者的说明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013459-3FCD-4F8F-9951-895ECA32490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把观察与假设分开记录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EDE27-557F-456B-A916-37BBAB310096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1/6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31620935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C37FEAA-7303-45B6-8A00-E037B6992C77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指导的结果体现在人的成长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2075A2-6CB4-4CFA-89F9-0F3FAA55B78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培养人才是管理者的重要工作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67BC83-E970-43C8-BE19-C13A304E3EC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指导需要实践机会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E6719A-201D-4334-AA7C-613434E752E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关注成员学会了什么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E4AC51-0CA0-4DC4-B20A-1941735478C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2/6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71325314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A13AAB9-902C-4E91-97C7-53AA3F63F835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原书案例：ThedaCare扩大参与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556F98-96C0-49FF-BF4A-AE6012E58C5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已有部分人员积累了改善经验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799E52-CA98-4C3C-B948-AF6FEA8945E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仍需让更多人参与日常问题解决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34B24-94B7-4B81-97A9-33E6EEF3406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培训、看板、5S与制度化过程配合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87CE94-852F-447D-8E50-CDAF28505885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3/6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405907772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C0566A8-DD83-43B5-B9A8-84B33FF16845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每日改进需要能力和持续支持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FA1A9C-ED4E-4ED0-8F5C-1F81A501B7E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围绕日常工作问题追查原因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81B8C0-111E-4DA5-BCC8-ECB814FD652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让问题可见，并安排处理与回看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694482-2B21-4105-B950-0551363AF187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不能只讲解一次就期待人人会做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4BD30B-521F-4223-B209-5DE2389C31AD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4/6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4480759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A0F9A3-B798-472A-8D11-9992A99F78B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工作练习：共同观察与指导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3FFB12-6C64-4EB9-A86D-CFA9AE23E20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与一位参与者观察实际过程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2071D7-C2F7-484C-9F21-95514AD6CC2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写下事实、疑问和需要的支持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4A39FD-648B-4EF6-8ED5-73CB7F53E30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约定一次跟进，看学到了什么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8F8164-9F7D-4E1D-98F5-957C030A887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5/6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95660757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5ABA066-315E-4E36-A97C-B062FA3F0E9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小结：现场学习与日常改进相连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8CB321-FDAE-4E46-AF77-FF7620BD6B3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要点：看实际、给指导、持续回看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5A79E4-A6EA-4C3E-87E6-328A6A31363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自测：有看板是否等于有每日改进？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0A8D0B-B8A5-4E13-A6C9-6073552604A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行动：安排一次共同观察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0CA83E-C56F-43D6-8037-34043295EF3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6/6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50518631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21FB6A1-FCE3-451A-8627-8E32D07C4714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持续的文化来自反复实践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36AEFD-F457-4758-AF39-9A010D39712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期望的文化要落实为日常行为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BAB16A-E5E7-4793-A361-52B6861B845D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领导者需要持续支持学习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8DF868-DAE3-4BC7-BD22-97675F2C784A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不能只用宣讲次数判断改变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1523D3-094B-41E8-A7C7-EA064B592AB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1/6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37284303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D55C509-8F12-4844-955F-55BD89CA9C39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挑战需要与学习和目标联系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D4A5C6-651B-4ECF-BA40-E22F6A01DBB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目标应有挑战，也要可以推进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6551CC-D533-48B7-A60A-E40C1CB97EE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未达成时反思差距与下一步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EC96D2-1CAB-44A0-9167-227A9B866A2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让真北目标与战略方向保持一致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915BE7-C5B3-4F0D-B3ED-E0DCF9B080D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2/6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81606585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311F400-FFD9-476E-AE60-52E33245923C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原书案例：Watlow把文化联系到行为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0A78FE-B9AB-4C56-B964-B35CF50E2121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形成自己期望的文化模式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A64BE6-DB7B-4523-A2DB-8B41948E9D2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与成员一起认识并缩小差距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512190-D72B-472E-97E4-71AB858EBAF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通过培养与选拔支持方向一致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3B8DC-A067-437B-A9A9-C272C4D8E82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3/6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99685506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150F128-7F67-425A-A391-B80F678AB98A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参与、培养与持续指导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396493-2EC5-45B5-857A-2EAA80E9000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领导团队先积累实际经验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1CA324-6AAA-442E-96EF-6BA29A38327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让更多成员有机会学习和参与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EDF2DE-745C-4F1B-A92E-5950A3A171BD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回看人的成长与行为是否保持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910BC8-8AEB-473F-AF07-29AF0EB97FD7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4/6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204147393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6E4812B-3A25-4F1C-8CCF-5CA0C7D64A16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工作练习：一个能持续的行为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1E0B9E-C6B3-4871-BCE3-75CC41C83C8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选一项自己可以改变的日常做法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4EAF09-9137-4732-902F-F54D66E3878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说明实践机会、指导和回看日期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9B2632-3B97-4299-AEF7-E4EBF1107107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用事实记录变化与仍需改进的地方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153F47-833F-45CC-85E3-761835E45691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5/6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59349062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1BAEA82-4CB5-4E6E-BE55-F68884530BA1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单元回顾与全课程行动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403419-E715-446D-9A98-878CF43874B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回顾：客户、事实、现场、指导与持续实践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FFB16C-9593-467D-AE4D-8C3E318C71A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自测：文化口号怎样变成可观察的行为？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A18132-4D08-4036-A84D-E1D049C736B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行动：保留学习单，形成自己的改善草案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09D2CE-FAA5-45D8-9869-A67BAA12C91C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L22    6/6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6488086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7AAE147-54C1-47D7-BF41-E1FCFE84BFF7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全课程回顾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6A0B7F-416E-4B4B-BD4D-2FD2CB76B3B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用六个单元重新看自己的问题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6AB231-896F-47F8-A91B-4D27590567A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把概念联系到事实和行动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72A36E-4D93-40E0-B4CE-51A54E7103F1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保留尚未弄清楚的问题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7D096E-46CF-49A6-9B4F-C960C938CC12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1/6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38395543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3FA5162-4041-49A5-AFC9-DC786D7AB9DF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概念在工作中的对应位置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462659-935D-410C-AF4C-1ECF5D47D19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客户影响与观察指标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55BAF9-A273-4FA1-B28D-1D2DC0CDCEC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实际过程与参与人员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8C2B13-5A8D-41C9-90E6-9C8942544BB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支持安排与持续回顾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8CEF3B-5887-41DD-B790-C6CB1C405D32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2/6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24479296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DBDD542-8C57-4CD0-A214-897255BAE840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原书案例回顾：Watlow的行为改变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75C13D-EDBC-40E4-82D2-E1CE7FEFC04E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说明期望的文化与方向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F0A6AF-C6B1-4D02-B14C-9DBCDA0ECF5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和成员一起认识实际差距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9AF291-D1E9-4236-BA9C-2310BA029C4F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通过培养与选拔支持方向一致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10E5DD-FE36-42AE-ADCE-0AB460369FE1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3/6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27366530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F8AF424-C554-4F39-B2C1-4C8F59F1DC77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练习示例：资料交接缺项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A09FA0-51C8-4EDC-9930-AAEB1110D544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现状：接收者发现缺项，需要再询问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A2B6EF-3B8F-4C9C-AC65-103C435A5B5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下一步：共同观察一次实际交接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51D71-5969-4ABE-B649-589800690596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回看：记录事实，再讨论原因和行动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04A212-6019-4FA9-8907-E32D082F3B50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4/6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97092620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7B9F89E-8084-4BE1-A2B4-58419ACE3F9D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我的一页行动草案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F87555-FBDC-49AD-94A8-E1DF206402B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问题、事实、指标和现状口径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C3DBAA-5ABF-42EA-95D1-083EA5CFA743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下一步行动、负责人及需要的支持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C7E595-423B-4E98-A8A2-626826117AB9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回看日期、实际结果和后续学习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BA3B57-D7CD-4CE6-B6FE-5330B3D13D93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5/6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55938043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58E1699-7231-4F94-BE0B-F6DB9D2190DF}"/>
              </a:ext>
            </a:extLst>
          </p:cNvPr>
          <p:cNvSpPr>
            <a:spLocks noGrp="1"/>
          </p:cNvSpPr>
          <p:nvPr/>
        </p:nvSpPr>
        <p:spPr>
          <a:xfrm>
            <a:off x="619125" y="66675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课程小结与后续学习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87C471-4D78-4230-A38E-2A525EA8A7CF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能够说明问题并查找对应知识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913827-0CF0-4DF0-BC84-E696D9E44A1B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用事实回看行动与人的成长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3DDDEE-ABB6-42CA-A164-797E2D830BEA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按需要返回课程、知识卡和原文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B206B1-C0D0-4FF0-8230-041CCBAF0946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L23    6/6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3008897969"/>
      </p:ext>
    </p:extLst>
  </p:cSld>
  <p:clrMapOvr>
    <a:masterClrMapping/>
  </p:clrMapOvr>
</p:sld>
</file>

<file path=ppt/theme/theme1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0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2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3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4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5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6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7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8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9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20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2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22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23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13285</Words>
  <Application>Microsoft Office PowerPoint</Application>
  <DocSecurity>0</DocSecurity>
  <PresentationFormat>宽屏</PresentationFormat>
  <Paragraphs>1606</Paragraphs>
  <Slides>148</Slides>
  <Notes>148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24</vt:i4>
      </vt:variant>
      <vt:variant>
        <vt:lpstr>幻灯片标题</vt:lpstr>
      </vt:variant>
      <vt:variant>
        <vt:i4>148</vt:i4>
      </vt:variant>
    </vt:vector>
  </HeadingPairs>
  <TitlesOfParts>
    <vt:vector size="175" baseType="lpstr">
      <vt:lpstr>Heiti SC</vt:lpstr>
      <vt:lpstr>Microsoft YaHei</vt:lpstr>
      <vt:lpstr>Calibri</vt:lpstr>
      <vt:lpstr>1_ChatGPT</vt:lpstr>
      <vt:lpstr>ChatGPT</vt:lpstr>
      <vt:lpstr>2_ChatGPT</vt:lpstr>
      <vt:lpstr>3_ChatGPT</vt:lpstr>
      <vt:lpstr>4_ChatGPT</vt:lpstr>
      <vt:lpstr>5_ChatGPT</vt:lpstr>
      <vt:lpstr>6_ChatGPT</vt:lpstr>
      <vt:lpstr>7_ChatGPT</vt:lpstr>
      <vt:lpstr>8_ChatGPT</vt:lpstr>
      <vt:lpstr>9_ChatGPT</vt:lpstr>
      <vt:lpstr>10_ChatGPT</vt:lpstr>
      <vt:lpstr>11_ChatGPT</vt:lpstr>
      <vt:lpstr>12_ChatGPT</vt:lpstr>
      <vt:lpstr>13_ChatGPT</vt:lpstr>
      <vt:lpstr>14_ChatGPT</vt:lpstr>
      <vt:lpstr>15_ChatGPT</vt:lpstr>
      <vt:lpstr>16_ChatGPT</vt:lpstr>
      <vt:lpstr>17_ChatGPT</vt:lpstr>
      <vt:lpstr>18_ChatGPT</vt:lpstr>
      <vt:lpstr>19_ChatGPT</vt:lpstr>
      <vt:lpstr>20_ChatGPT</vt:lpstr>
      <vt:lpstr>21_ChatGPT</vt:lpstr>
      <vt:lpstr>22_ChatGPT</vt:lpstr>
      <vt:lpstr>23_ChatGPT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 zhang</cp:lastModifiedBy>
  <cp:revision>2</cp:revision>
  <dcterms:created xsi:type="dcterms:W3CDTF">2026-09-20T11:45:57Z</dcterms:created>
  <dcterms:modified xsi:type="dcterms:W3CDTF">2026-09-25T02:09:38Z</dcterms:modified>
</cp:coreProperties>
</file>