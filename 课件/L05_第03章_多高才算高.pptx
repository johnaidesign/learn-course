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ed70a755214c4c" /><Relationship Type="http://schemas.openxmlformats.org/officeDocument/2006/relationships/extended-properties" Target="/docProps/app.xml" Id="Rd1c650b43c084b2c" /><Relationship Type="http://schemas.openxmlformats.org/officeDocument/2006/relationships/officeDocument" Target="/ppt/presentation.xml" Id="R4e3da8b801174c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0213071c064955"/>
  </p:sldMasterIdLst>
  <p:notesMasterIdLst>
    <p:notesMasterId xmlns:r="http://schemas.openxmlformats.org/officeDocument/2006/relationships" r:id="Rf0406434007e4947"/>
  </p:notesMasterIdLst>
  <p:sldIdLst>
    <p:sldId xmlns:r="http://schemas.openxmlformats.org/officeDocument/2006/relationships" id="256" r:id="R7584d4aa33c349d1"/>
    <p:sldId xmlns:r="http://schemas.openxmlformats.org/officeDocument/2006/relationships" id="257" r:id="Ra7313fb6d9684182"/>
    <p:sldId xmlns:r="http://schemas.openxmlformats.org/officeDocument/2006/relationships" id="258" r:id="Rfaed4029b27743cb"/>
    <p:sldId xmlns:r="http://schemas.openxmlformats.org/officeDocument/2006/relationships" id="259" r:id="R27c34e987d06408e"/>
    <p:sldId xmlns:r="http://schemas.openxmlformats.org/officeDocument/2006/relationships" id="260" r:id="R67adb5b74db94300"/>
    <p:sldId xmlns:r="http://schemas.openxmlformats.org/officeDocument/2006/relationships" id="261" r:id="R22c0d258b02b4d1b"/>
    <p:sldId xmlns:r="http://schemas.openxmlformats.org/officeDocument/2006/relationships" id="262" r:id="Rc1a73ebc0fae429b"/>
    <p:sldId xmlns:r="http://schemas.openxmlformats.org/officeDocument/2006/relationships" id="263" r:id="R75815787230644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5fdd4022ff4f25" /><Relationship Type="http://schemas.openxmlformats.org/officeDocument/2006/relationships/slideMaster" Target="/ppt/slideMasters/slideMaster1.xml" Id="Rd10213071c064955" /><Relationship Type="http://schemas.openxmlformats.org/officeDocument/2006/relationships/notesMaster" Target="/ppt/notesMasters/notesMaster1.xml" Id="Rf0406434007e4947" /><Relationship Type="http://schemas.openxmlformats.org/officeDocument/2006/relationships/presProps" Target="/ppt/presProps.xml" Id="Rbbdd133fb1dc4d7f" /><Relationship Type="http://schemas.openxmlformats.org/officeDocument/2006/relationships/tableStyles" Target="/ppt/tableStyles.xml" Id="R90aee4624b3c4bb2" /><Relationship Type="http://schemas.openxmlformats.org/officeDocument/2006/relationships/slide" Target="/ppt/slides/slide1.xml" Id="R7584d4aa33c349d1" /><Relationship Type="http://schemas.openxmlformats.org/officeDocument/2006/relationships/slide" Target="/ppt/slides/slide2.xml" Id="Ra7313fb6d9684182" /><Relationship Type="http://schemas.openxmlformats.org/officeDocument/2006/relationships/slide" Target="/ppt/slides/slide3.xml" Id="Rfaed4029b27743cb" /><Relationship Type="http://schemas.openxmlformats.org/officeDocument/2006/relationships/slide" Target="/ppt/slides/slide4.xml" Id="R27c34e987d06408e" /><Relationship Type="http://schemas.openxmlformats.org/officeDocument/2006/relationships/slide" Target="/ppt/slides/slide5.xml" Id="R67adb5b74db94300" /><Relationship Type="http://schemas.openxmlformats.org/officeDocument/2006/relationships/slide" Target="/ppt/slides/slide6.xml" Id="R22c0d258b02b4d1b" /><Relationship Type="http://schemas.openxmlformats.org/officeDocument/2006/relationships/slide" Target="/ppt/slides/slide7.xml" Id="Rc1a73ebc0fae429b" /><Relationship Type="http://schemas.openxmlformats.org/officeDocument/2006/relationships/slide" Target="/ppt/slides/slide8.xml" Id="R75815787230644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de054506d243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eee3ea09194e98" /><Relationship Type="http://schemas.openxmlformats.org/officeDocument/2006/relationships/notesMaster" Target="/ppt/notesMasters/notesMaster1.xml" Id="R364aacc0066543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dc9c0c0f8c43fd" /><Relationship Type="http://schemas.openxmlformats.org/officeDocument/2006/relationships/notesMaster" Target="/ppt/notesMasters/notesMaster1.xml" Id="Rc7c1c10aed4b44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004a444e3048b4" /><Relationship Type="http://schemas.openxmlformats.org/officeDocument/2006/relationships/notesMaster" Target="/ppt/notesMasters/notesMaster1.xml" Id="R6c096b6f745644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9d68bef7c547c8" /><Relationship Type="http://schemas.openxmlformats.org/officeDocument/2006/relationships/notesMaster" Target="/ppt/notesMasters/notesMaster1.xml" Id="Rfee003b590d148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00eb9565a846e5" /><Relationship Type="http://schemas.openxmlformats.org/officeDocument/2006/relationships/notesMaster" Target="/ppt/notesMasters/notesMaster1.xml" Id="R5f1dc2a6808543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4ca5f4dee146ca" /><Relationship Type="http://schemas.openxmlformats.org/officeDocument/2006/relationships/notesMaster" Target="/ppt/notesMasters/notesMaster1.xml" Id="Re47061f1c2c64f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e790321b4543a6" /><Relationship Type="http://schemas.openxmlformats.org/officeDocument/2006/relationships/notesMaster" Target="/ppt/notesMasters/notesMaster1.xml" Id="R7fbca4c6fa0345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c930e0154c4b3a" /><Relationship Type="http://schemas.openxmlformats.org/officeDocument/2006/relationships/notesMaster" Target="/ppt/notesMasters/notesMaster1.xml" Id="R25cfdfe09c6b4e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开场概括本讲是第三章的核心证据小节。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证据：10_书籍/企业精益转型的领导之道/01_章节/CH03-S03 多高才算高.md#^llet-ch03-s03-p001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读出“每百万约一万个次品”“每百万约一百个次品”；强调“百分之四十”预期与实际“百分之四百”的差距；提示“是四倍”与“增加400%”是原书不同表述，不作同义。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证据：10_书籍/企业精益转型的领导之道/01_章节/CH03-S03 多高才算高.md#^llet-ch03-s03-p002</a:t>
            </a:r>
          </a:p>
          <a:p xmlns:a="http://schemas.openxmlformats.org/drawingml/2006/main">
            <a:r>
              <a:t>证据：10_书籍/企业精益转型的领导之道/01_章节/CH03-S03 多高才算高.md#^llet-ch03-s03-p004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读“千分之零点一，也就是百万分之一百”；“百分之一，也就是百万分之一万”。存货周转率读“三倍与三十倍，具体时间口径未列”。图内“每年2%”与正文“每月2%”差异按原书保留。</a:t>
            </a:r>
          </a:p>
          <a:p xmlns:a="http://schemas.openxmlformats.org/drawingml/2006/main">
            <a:r>
              <a:t>对应片段：02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证据：10_书籍/企业精益转型的领导之道/01_章节/CH03-S03 多高才算高.md#^llet-ch03-s03-p001</a:t>
            </a:r>
          </a:p>
          <a:p xmlns:a="http://schemas.openxmlformats.org/drawingml/2006/main">
            <a:r>
              <a:t>证据：10_书籍/企业精益转型的领导之道/01_章节/CH03-S03 多高才算高.md#^llet-ch03-s03-p002</a:t>
            </a:r>
          </a:p>
          <a:p xmlns:a="http://schemas.openxmlformats.org/drawingml/2006/main">
            <a:r>
              <a:t>图表出处：10_书籍/企业精益转型的领导之道/03_图表/图3.1.md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读出“每月百分之二”“百分之三十”。说明六年目标四倍拆成每月2%是作者近似安排，非精确换算。</a:t>
            </a:r>
          </a:p>
          <a:p xmlns:a="http://schemas.openxmlformats.org/drawingml/2006/main">
            <a:r>
              <a:t>对应片段：03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证据：10_书籍/企业精益转型的领导之道/01_章节/CH03-S03 多高才算高.md#^llet-ch03-s03-p007</a:t>
            </a:r>
          </a:p>
          <a:p xmlns:a="http://schemas.openxmlformats.org/drawingml/2006/main">
            <a:r>
              <a:t>图表出处：10_书籍/企业精益转型的领导之道/03_图表/图3.2.md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271% 的基期口径，读出“百分之二百七十一”；1998年精益十周年超起始点 470%。</a:t>
            </a:r>
          </a:p>
          <a:p xmlns:a="http://schemas.openxmlformats.org/drawingml/2006/main">
            <a:r>
              <a:t>对应片段：03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证据：10_书籍/企业精益转型的领导之道/01_章节/CH03-S03 多高才算高.md#^llet-ch03-s03-p008</a:t>
            </a:r>
          </a:p>
          <a:p xmlns:a="http://schemas.openxmlformats.org/drawingml/2006/main">
            <a:r>
              <a:t>证据：10_书籍/企业精益转型的领导之道/01_章节/CH03-S03 多高才算高.md#^llet-ch03-s03-p009</a:t>
            </a:r>
          </a:p>
          <a:p xmlns:a="http://schemas.openxmlformats.org/drawingml/2006/main">
            <a:r>
              <a:t>图表出处：10_书籍/企业精益转型的领导之道/03_图表/图3.3.md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读出“百分之八十”。说明早期收益来自消除非增值步骤，维持增长需真正改善质量。</a:t>
            </a:r>
          </a:p>
          <a:p xmlns:a="http://schemas.openxmlformats.org/drawingml/2006/main">
            <a:r>
              <a:t>对应片段：04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证据：10_书籍/企业精益转型的领导之道/01_章节/CH03-S03 多高才算高.md#^llet-ch03-s03-p010</a:t>
            </a:r>
          </a:p>
          <a:p xmlns:a="http://schemas.openxmlformats.org/drawingml/2006/main">
            <a:r>
              <a:t>图表出处：10_书籍/企业精益转型的领导之道/03_图表/图3.4.md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读出“百分之百每天准时交货”。强调月批次逐步到日批次的多轮压缩，不给精确轮次公式。</a:t>
            </a:r>
          </a:p>
          <a:p xmlns:a="http://schemas.openxmlformats.org/drawingml/2006/main">
            <a:r>
              <a:t>对应片段：04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证据：10_书籍/企业精益转型的领导之道/01_章节/CH03-S03 多高才算高.md#^llet-ch03-s03-p011</a:t>
            </a:r>
          </a:p>
          <a:p xmlns:a="http://schemas.openxmlformats.org/drawingml/2006/main">
            <a:r>
              <a:t>证据：10_书籍/企业精益转型的领导之道/01_章节/CH03-S03 多高才算高.md#^llet-ch03-s03-p012</a:t>
            </a:r>
          </a:p>
          <a:p xmlns:a="http://schemas.openxmlformats.org/drawingml/2006/main">
            <a:r>
              <a:t>证据：10_书籍/企业精益转型的领导之道/01_章节/CH03-S03 多高才算高.md#^llet-ch03-s03-p013</a:t>
            </a:r>
          </a:p>
          <a:p xmlns:a="http://schemas.openxmlformats.org/drawingml/2006/main">
            <a:r>
              <a:t>图表出处：10_书籍/企业精益转型的领导之道/03_图表/图3.5.md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说明拉里·卡尔普是原书写作时的情况；练习由整理者设计，请学员填写，不预设答案。</a:t>
            </a:r>
          </a:p>
          <a:p xmlns:a="http://schemas.openxmlformats.org/drawingml/2006/main">
            <a:r>
              <a:t>对应片段：05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证据：10_书籍/企业精益转型的领导之道/01_章节/CH03-S03 多高才算高.md#^llet-ch03-s03-p006</a:t>
            </a:r>
          </a:p>
          <a:p xmlns:a="http://schemas.openxmlformats.org/drawingml/2006/main">
            <a:r>
              <a:t>证据：10_书籍/企业精益转型的领导之道/01_章节/CH03-S03 多高才算高.md#^llet-ch03-s03-p014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b6b61e2914c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b981f8db664f86" /><Relationship Type="http://schemas.openxmlformats.org/officeDocument/2006/relationships/slideLayout" Target="/ppt/slideLayouts/slideLayout1.xml" Id="R6e372cb9a8644b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372cb9a8644b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2cda4b9374834" /><Relationship Type="http://schemas.openxmlformats.org/officeDocument/2006/relationships/notesSlide" Target="/ppt/notesSlides/notesSlide1.xml" Id="R275c7a771e8248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37e9ea67643d0" /><Relationship Type="http://schemas.openxmlformats.org/officeDocument/2006/relationships/notesSlide" Target="/ppt/notesSlides/notesSlide2.xml" Id="R7f89321abbb14d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f7aeab9d84cbe" /><Relationship Type="http://schemas.openxmlformats.org/officeDocument/2006/relationships/image" Target="/ppt/media/image.png" Id="Rd502bb1f23f44676" /><Relationship Type="http://schemas.openxmlformats.org/officeDocument/2006/relationships/notesSlide" Target="/ppt/notesSlides/notesSlide3.xml" Id="R694c811baa7d41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588ff0a714cd1" /><Relationship Type="http://schemas.openxmlformats.org/officeDocument/2006/relationships/image" Target="/ppt/media/image2.png" Id="R3df0a199e1ca4c0a" /><Relationship Type="http://schemas.openxmlformats.org/officeDocument/2006/relationships/notesSlide" Target="/ppt/notesSlides/notesSlide4.xml" Id="Rbae3ef95ab8142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ad029dec24e2c" /><Relationship Type="http://schemas.openxmlformats.org/officeDocument/2006/relationships/image" Target="/ppt/media/image3.png" Id="R793d2a3c8dfe469b" /><Relationship Type="http://schemas.openxmlformats.org/officeDocument/2006/relationships/notesSlide" Target="/ppt/notesSlides/notesSlide5.xml" Id="R83b79dee08ce4d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9e67a3a204ed1" /><Relationship Type="http://schemas.openxmlformats.org/officeDocument/2006/relationships/image" Target="/ppt/media/image4.png" Id="Rfbf79c7724a243c6" /><Relationship Type="http://schemas.openxmlformats.org/officeDocument/2006/relationships/notesSlide" Target="/ppt/notesSlides/notesSlide6.xml" Id="R28de4a9deca34d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4ed3c09da495a" /><Relationship Type="http://schemas.openxmlformats.org/officeDocument/2006/relationships/image" Target="/ppt/media/image5.png" Id="R03a47c4419444e72" /><Relationship Type="http://schemas.openxmlformats.org/officeDocument/2006/relationships/notesSlide" Target="/ppt/notesSlides/notesSlide7.xml" Id="R43458a77fc9144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61b088bbf4ae3" /><Relationship Type="http://schemas.openxmlformats.org/officeDocument/2006/relationships/notesSlide" Target="/ppt/notesSlides/notesSlide8.xml" Id="R824cdbee4afe48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432AA-4BF7-4B81-9550-A4E5DFD3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多高才算高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1BE5A-8436-4556-A6E2-BC86F056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69E47-0AE0-4C63-88DC-DC67634B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9E361-BD21-4D01-8157-478D38EE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真正的标杆有多高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质量、交付、生产率三重冲击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精益是文化转型，不是短期方案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EE8F6-11B7-478D-A8C0-69BC09A3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LLET-CH03-S03-v01</a:t>
            </a:r>
          </a:p>
        </p:txBody>
      </p:sp>
    </p:spTree>
    <p:extLst>
      <p:ext uri="{BB962C8B-B14F-4D97-AF65-F5344CB8AC3E}">
        <p14:creationId xmlns:p14="http://schemas.microsoft.com/office/powerpoint/2010/main" val="1458474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0C468-82C3-4172-A053-F9CA9405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标杆研究：量级差异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1F8FC-F38B-4AE3-AA08-5A4BB937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质量：每百万约一万个次品 vs 约一百个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流程时间：十分之一到二十分之一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生产率：百分之四百（注意“四倍”与“增加400%”口径不同）</a:t>
            </a:r>
          </a:p>
        </p:txBody>
      </p:sp>
    </p:spTree>
    <p:extLst>
      <p:ext uri="{BB962C8B-B14F-4D97-AF65-F5344CB8AC3E}">
        <p14:creationId xmlns:p14="http://schemas.microsoft.com/office/powerpoint/2010/main" val="2006425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646B3-11D0-461E-B9DD-C1F9003A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图3.1 世界级指标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123950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000250"/>
                <a:gridCol w="200025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批处理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丰田（精益生产）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存货周转率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3×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30×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客户投诉率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1%（10000ppm）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0.1‰（100ppm）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客户订单交付周期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−95%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空间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−90%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生产率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1×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4×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2bb1f23f44676"/>
          <a:stretch xmlns:a="http://schemas.openxmlformats.org/drawingml/2006/main"/>
        </p:blipFill>
        <p:spPr>
          <a:xfrm xmlns:a="http://schemas.openxmlformats.org/drawingml/2006/main">
            <a:off x="7620000" y="1311556"/>
            <a:ext cx="3962400" cy="248228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A4829-A607-467E-AF7A-1C795A13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图3.1 原扫描（PDF第38页）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7C386-2AC1-41E1-B591-11E728F0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65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存货周转率：3× vs 30×（时间口径未列）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65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客户投诉率：1%（每百万一万） vs 0.1‰（每百万一百）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65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生产率：1× vs 4×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563B9-5760-4085-8E0E-3B5A32EB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图内写“每年2%”，正文作“每月2%”，差异按原书保留。</a:t>
            </a:r>
          </a:p>
        </p:txBody>
      </p:sp>
    </p:spTree>
    <p:extLst>
      <p:ext uri="{BB962C8B-B14F-4D97-AF65-F5344CB8AC3E}">
        <p14:creationId xmlns:p14="http://schemas.microsoft.com/office/powerpoint/2010/main" val="1723137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1A780-ADEC-4B16-B946-0D0E0280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图3.2 生产率：每月2%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0a199e1ca4c0a"/>
          <a:stretch xmlns:a="http://schemas.openxmlformats.org/drawingml/2006/main"/>
        </p:blipFill>
        <p:spPr>
          <a:xfrm xmlns:a="http://schemas.openxmlformats.org/drawingml/2006/main">
            <a:off x="609600" y="1655278"/>
            <a:ext cx="6096000" cy="345219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5DB22-98E3-4F73-AEAA-ACC38A45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图3.2 原扫描（PDF第40页）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973A4-3009-4347-BEBB-FD856023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4667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时间窗：1988年1月–1990年8月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月度涨幅趋向 2%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第三年重型货车衰退，产量下降 30%</a:t>
            </a:r>
          </a:p>
        </p:txBody>
      </p:sp>
    </p:spTree>
    <p:extLst>
      <p:ext uri="{BB962C8B-B14F-4D97-AF65-F5344CB8AC3E}">
        <p14:creationId xmlns:p14="http://schemas.microsoft.com/office/powerpoint/2010/main" val="1391810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F8458-D7BC-459E-A219-4F601341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图3.3 重启后的生产率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d2a3c8dfe469b"/>
          <a:stretch xmlns:a="http://schemas.openxmlformats.org/drawingml/2006/main"/>
        </p:blipFill>
        <p:spPr>
          <a:xfrm xmlns:a="http://schemas.openxmlformats.org/drawingml/2006/main">
            <a:off x="609600" y="1949717"/>
            <a:ext cx="6096000" cy="286331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7BDB7-8DD8-45E9-AC96-DFA8E2A8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图3.3 原扫描（PDF第41页）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F38C2-5C62-4029-A48C-FDA3232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4667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离开后近18个月无进展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为期一周改善活动重新启动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图注 271% 是五年转换的结果，不与图中两年半时间窗混算</a:t>
            </a:r>
          </a:p>
        </p:txBody>
      </p:sp>
    </p:spTree>
    <p:extLst>
      <p:ext uri="{BB962C8B-B14F-4D97-AF65-F5344CB8AC3E}">
        <p14:creationId xmlns:p14="http://schemas.microsoft.com/office/powerpoint/2010/main" val="861992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E5860-C0DF-4969-9BFC-D5A527E5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图3.4 质量：废品减少80%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79c7724a243c6"/>
          <a:stretch xmlns:a="http://schemas.openxmlformats.org/drawingml/2006/main"/>
        </p:blipFill>
        <p:spPr>
          <a:xfrm xmlns:a="http://schemas.openxmlformats.org/drawingml/2006/main">
            <a:off x="609600" y="1620436"/>
            <a:ext cx="6096000" cy="352187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B8A73-DAEE-4DCE-BF78-9842C4F1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图3.4 原扫描（PDF第41页）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0B957-B416-40C8-AFD3-E9E46044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4667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报废和返工占比持续下降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两年半质量问题减少 80%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早期：消除非增值步骤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后续：持续解决质量问题</a:t>
            </a:r>
          </a:p>
        </p:txBody>
      </p:sp>
    </p:spTree>
    <p:extLst>
      <p:ext uri="{BB962C8B-B14F-4D97-AF65-F5344CB8AC3E}">
        <p14:creationId xmlns:p14="http://schemas.microsoft.com/office/powerpoint/2010/main" val="1256519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59AE2-C188-4C68-A9CA-742D036E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图3.5 交付：从月到日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47c4419444e72"/>
          <a:stretch xmlns:a="http://schemas.openxmlformats.org/drawingml/2006/main"/>
        </p:blipFill>
        <p:spPr>
          <a:xfrm xmlns:a="http://schemas.openxmlformats.org/drawingml/2006/main">
            <a:off x="609600" y="1529461"/>
            <a:ext cx="6096000" cy="370382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167D0-3C3D-4917-887C-A8F6D510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图3.5 原扫描（PDF第42页）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07405-EBA6-4AE1-865E-13CD3C8A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4667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月批次 → 两周 → 一周 → 两天半 → 一天一批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准时率 0% 到 100%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客户可提前24小时确定次日需求量</a:t>
            </a:r>
          </a:p>
        </p:txBody>
      </p:sp>
    </p:spTree>
    <p:extLst>
      <p:ext uri="{BB962C8B-B14F-4D97-AF65-F5344CB8AC3E}">
        <p14:creationId xmlns:p14="http://schemas.microsoft.com/office/powerpoint/2010/main" val="13018489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3D296-095F-40A5-8F78-E8586B31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精益是文化转型 + 应用练习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9D271-EC05-4948-AE81-649BD27D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精益＝持续改进的文化，不是一次性方案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Danaher：新收购带来复合增长（历史语境）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练习：写下质量／交付／生产率的度量口径与基线</a:t>
            </a:r>
          </a:p>
        </p:txBody>
      </p:sp>
    </p:spTree>
    <p:extLst>
      <p:ext uri="{BB962C8B-B14F-4D97-AF65-F5344CB8AC3E}">
        <p14:creationId xmlns:p14="http://schemas.microsoft.com/office/powerpoint/2010/main" val="1987571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2026-09-19T05:49:12.4390000Z</dcterms:created>
  <dcterms:modified xsi:type="dcterms:W3CDTF">2026-09-19T05:49:12.4390000Z</dcterms:modified>
</coreProperties>
</file>