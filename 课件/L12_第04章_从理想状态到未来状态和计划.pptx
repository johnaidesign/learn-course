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447cbca2cc34fcd" /><Relationship Type="http://schemas.openxmlformats.org/officeDocument/2006/relationships/extended-properties" Target="/docProps/app.xml" Id="R038cabe40c5a4594" /><Relationship Type="http://schemas.openxmlformats.org/officeDocument/2006/relationships/officeDocument" Target="/ppt/presentation.xml" Id="R1908a66ca7504d2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29c79a2c4ad4bd0"/>
  </p:sldMasterIdLst>
  <p:notesMasterIdLst>
    <p:notesMasterId xmlns:r="http://schemas.openxmlformats.org/officeDocument/2006/relationships" r:id="R04427bdf35cd4ec7"/>
  </p:notesMasterIdLst>
  <p:sldIdLst>
    <p:sldId xmlns:r="http://schemas.openxmlformats.org/officeDocument/2006/relationships" id="256" r:id="R4f8f0809cf064008"/>
    <p:sldId xmlns:r="http://schemas.openxmlformats.org/officeDocument/2006/relationships" id="257" r:id="R0756c32406cc43ca"/>
    <p:sldId xmlns:r="http://schemas.openxmlformats.org/officeDocument/2006/relationships" id="258" r:id="Re3b60c6977004544"/>
    <p:sldId xmlns:r="http://schemas.openxmlformats.org/officeDocument/2006/relationships" id="259" r:id="Rf8f8fefbc8a546ed"/>
    <p:sldId xmlns:r="http://schemas.openxmlformats.org/officeDocument/2006/relationships" id="260" r:id="R48735f12e0714a26"/>
    <p:sldId xmlns:r="http://schemas.openxmlformats.org/officeDocument/2006/relationships" id="261" r:id="R0fa91733a6244c4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f381f87cf0b41bd" /><Relationship Type="http://schemas.openxmlformats.org/officeDocument/2006/relationships/slideMaster" Target="/ppt/slideMasters/slideMaster1.xml" Id="Rb29c79a2c4ad4bd0" /><Relationship Type="http://schemas.openxmlformats.org/officeDocument/2006/relationships/notesMaster" Target="/ppt/notesMasters/notesMaster1.xml" Id="R04427bdf35cd4ec7" /><Relationship Type="http://schemas.openxmlformats.org/officeDocument/2006/relationships/presProps" Target="/ppt/presProps.xml" Id="Re948271391c34e57" /><Relationship Type="http://schemas.openxmlformats.org/officeDocument/2006/relationships/tableStyles" Target="/ppt/tableStyles.xml" Id="R208301b8ea1c43bb" /><Relationship Type="http://schemas.openxmlformats.org/officeDocument/2006/relationships/slide" Target="/ppt/slides/slide1.xml" Id="R4f8f0809cf064008" /><Relationship Type="http://schemas.openxmlformats.org/officeDocument/2006/relationships/slide" Target="/ppt/slides/slide2.xml" Id="R0756c32406cc43ca" /><Relationship Type="http://schemas.openxmlformats.org/officeDocument/2006/relationships/slide" Target="/ppt/slides/slide3.xml" Id="Re3b60c6977004544" /><Relationship Type="http://schemas.openxmlformats.org/officeDocument/2006/relationships/slide" Target="/ppt/slides/slide4.xml" Id="Rf8f8fefbc8a546ed" /><Relationship Type="http://schemas.openxmlformats.org/officeDocument/2006/relationships/slide" Target="/ppt/slides/slide5.xml" Id="R48735f12e0714a26" /><Relationship Type="http://schemas.openxmlformats.org/officeDocument/2006/relationships/slide" Target="/ppt/slides/slide6.xml" Id="R0fa91733a6244c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a098046136949f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260db0ae5cc4b19" /><Relationship Type="http://schemas.openxmlformats.org/officeDocument/2006/relationships/notesMaster" Target="/ppt/notesMasters/notesMaster1.xml" Id="R6ffc8f7b275e4c0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d6d6a8aa2744bc8" /><Relationship Type="http://schemas.openxmlformats.org/officeDocument/2006/relationships/notesMaster" Target="/ppt/notesMasters/notesMaster1.xml" Id="R2b119039c46749f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adb0aa59f01410f" /><Relationship Type="http://schemas.openxmlformats.org/officeDocument/2006/relationships/notesMaster" Target="/ppt/notesMasters/notesMaster1.xml" Id="Rb3b7b464b84a4ac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97258e8eb7f4297" /><Relationship Type="http://schemas.openxmlformats.org/officeDocument/2006/relationships/notesMaster" Target="/ppt/notesMasters/notesMaster1.xml" Id="R130c240c72c6480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547113893e04970" /><Relationship Type="http://schemas.openxmlformats.org/officeDocument/2006/relationships/notesMaster" Target="/ppt/notesMasters/notesMaster1.xml" Id="Rc4b01bf824fc4aa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57348bbaf0a4d32" /><Relationship Type="http://schemas.openxmlformats.org/officeDocument/2006/relationships/notesMaster" Target="/ppt/notesMasters/notesMaster1.xml" Id="R3fce670e447744f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页。理想状态与未来状态。有了现状记录，下一步是思考工作怎样变得更好。原书先通过头脑风暴想象没有非增值活动的理想状态，再建立未来状态。两者用途不同：理想状态打开思路，未来状态要形成可以执行的改进计划。作者提出六到十八个月的计划视野，这是书中的安排，不是所有组织必须采用的期限。本课程练习先选一项能够核实和实施的改变，不要求一次重做整个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来源（Obsidian库内路径）：</a:t>
            </a:r>
          </a:p>
          <a:p xmlns:a="http://schemas.openxmlformats.org/drawingml/2006/main">
            <a:r>
              <a:t>10_书籍/企业精益转型的领导之道/01_章节/CH04-S04 用头脑风暴法来建立理想状态价值流.md#^llet-ch04-s04-p001</a:t>
            </a:r>
          </a:p>
          <a:p xmlns:a="http://schemas.openxmlformats.org/drawingml/2006/main">
            <a:r>
              <a:t>10_书籍/企业精益转型的领导之道/01_章节/CH04-S05 创建一个未来状态的价值流.md#^llet-ch04-s05-p001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页。未来状态需要对应的目标。作者要求为未来状态中的真北指标设置改进目标，并确保行动计划可以实现。他用坏的减半、好的双倍表达挑战性目标。学习时要把这个表达与具体现场区分开：它不是无需测量就能成立的结果，也不是统一的人员削减要求。本课程建议先说明准备改变哪个步骤、怎样判断有效，同时查看质量、交付和人员方面是否出现不希望的变化。这是便于初学者应用的练习安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来源（Obsidian库内路径）：</a:t>
            </a:r>
          </a:p>
          <a:p xmlns:a="http://schemas.openxmlformats.org/drawingml/2006/main">
            <a:r>
              <a:t>10_书籍/企业精益转型的领导之道/01_章节/CH04-S06 改进目标.md#^llet-ch04-s06-p001</a:t>
            </a:r>
          </a:p>
          <a:p xmlns:a="http://schemas.openxmlformats.org/drawingml/2006/main">
            <a:r>
              <a:t>10_书籍/企业精益转型的领导之道/01_章节/CH04-S06 改进目标.md#^llet-ch04-s06-p002</a:t>
            </a:r>
          </a:p>
          <a:p xmlns:a="http://schemas.openxmlformats.org/drawingml/2006/main">
            <a:r>
              <a:t>10_书籍/企业精益转型的领导之道/01_章节/CH04-S02 初始状态的 VSA 和真北指标.md#^llet-ch04-s02-p002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3页。计划中的三类工作。原书把未来状态中的工作分为三类：可以由个人直接处理的快速改进，少数需要按项目推进的工作，以及集中开展的一周改善活动。分类有助于给行动安排合适的推进方式，不意味着所有事情都要开一次活动。落实到计划，还需要写明任务和日期。练习中再补上负责人和回看依据，让团队知道下一步由谁推进，以及用什么事实检查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来源（Obsidian库内路径）：</a:t>
            </a:r>
          </a:p>
          <a:p xmlns:a="http://schemas.openxmlformats.org/drawingml/2006/main">
            <a:r>
              <a:t>10_书籍/企业精益转型的领导之道/01_章节/CH04-S05 创建一个未来状态的价值流.md#^llet-ch04-s05-p002</a:t>
            </a:r>
          </a:p>
          <a:p xmlns:a="http://schemas.openxmlformats.org/drawingml/2006/main">
            <a:r>
              <a:t>10_书籍/企业精益转型的领导之道/01_章节/CH04-S07 工作计划和职责.md#^llet-ch04-s07-p001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第4页。原书案例：ThedaCare重新设计工作。原书叙述，ThedaCare 在开展精益数年后重新研究已有价值流，发展模型线。在这一过程中，医生、药师和护士等共同参与工作方式的设计，工作安排与楼层布局也一起调整。这个案例说明，未来状态涉及多个岗位之间如何协同，不能只由画图者独自决定。本讲只采用原书对参与和设计过程的描述，不把案例报告的改善比例作为其他团队的承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来源（Obsidian库内路径）：</a:t>
            </a:r>
          </a:p>
          <a:p xmlns:a="http://schemas.openxmlformats.org/drawingml/2006/main">
            <a:r>
              <a:t>10_书籍/企业精益转型的领导之道/01_章节/CH04-S09 典型价值流.md#^llet-ch04-s09-p009</a:t>
            </a:r>
          </a:p>
          <a:p xmlns:a="http://schemas.openxmlformats.org/drawingml/2006/main">
            <a:r>
              <a:t>10_书籍/企业精益转型的领导之道/01_章节/CH04-S09 典型价值流.md#^llet-ch04-s09-p011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5页。工作练习：一项未来状态方案。请继续使用上一讲的学习单。针对圈出的等待或返工，提出一项改变，说明为什么它可能改善现状。判断这是可以直接处理的事项，还是需要跨岗位协调的项目或改善活动。写下拟定负责人、日期和判断结果的指标，并把尚未确认的条件列出来。这个方案是供实际参与者讨论的草案，不代表你已经获得了实施权限。先完成讨论，再按所在组织的职责安排推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来源（Obsidian库内路径）：</a:t>
            </a:r>
          </a:p>
          <a:p xmlns:a="http://schemas.openxmlformats.org/drawingml/2006/main">
            <a:r>
              <a:t>10_书籍/企业精益转型的领导之道/01_章节/CH04-S05 创建一个未来状态的价值流.md#^llet-ch04-s05-p002</a:t>
            </a:r>
          </a:p>
          <a:p xmlns:a="http://schemas.openxmlformats.org/drawingml/2006/main">
            <a:r>
              <a:t>10_书籍/企业精益转型的领导之道/01_章节/CH04-S06 改进目标.md#^llet-ch04-s06-p001</a:t>
            </a:r>
          </a:p>
          <a:p xmlns:a="http://schemas.openxmlformats.org/drawingml/2006/main">
            <a:r>
              <a:t>10_书籍/企业精益转型的领导之道/01_章节/CH04-S07 工作计划和职责.md#^llet-ch04-s07-p001</a:t>
            </a:r>
          </a:p>
          <a:p xmlns:a="http://schemas.openxmlformats.org/drawingml/2006/main">
            <a:r>
              <a:t>10_书籍/企业精益转型的领导之道/01_章节/CH04-S07 工作计划和职责.md#^llet-ch04-s07-p003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6页。小结：图要转化为行动。本讲的三个要点是：用理想状态打开思路，用未来状态明确可执行的目标，把改变落实到任务和日期。自测一下，画好未来状态为什么还不算完成？因为如果没有真正实施和检查，图只是记录，不能证明工作已经改善。你的下一步是请相关岗位讨论学习单上的一项方案，核实它的条件和责任安排。下一讲学习改善活动怎样推进实施，以及为什么一次活动后仍需继续回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来源（Obsidian库内路径）：</a:t>
            </a:r>
          </a:p>
          <a:p xmlns:a="http://schemas.openxmlformats.org/drawingml/2006/main">
            <a:r>
              <a:t>10_书籍/企业精益转型的领导之道/01_章节/CH04-S04 用头脑风暴法来建立理想状态价值流.md#^llet-ch04-s04-p001</a:t>
            </a:r>
          </a:p>
          <a:p xmlns:a="http://schemas.openxmlformats.org/drawingml/2006/main">
            <a:r>
              <a:t>10_书籍/企业精益转型的领导之道/01_章节/CH04-S05 创建一个未来状态的价值流.md#^llet-ch04-s05-p001</a:t>
            </a:r>
          </a:p>
          <a:p xmlns:a="http://schemas.openxmlformats.org/drawingml/2006/main">
            <a:r>
              <a:t>10_书籍/企业精益转型的领导之道/01_章节/CH04-S07 工作计划和职责.md#^llet-ch04-s07-p001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c0f34c885c41f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5bac2f286d74eea" /><Relationship Type="http://schemas.openxmlformats.org/officeDocument/2006/relationships/slideLayout" Target="/ppt/slideLayouts/slideLayout1.xml" Id="R30d43e1b0f704af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0d43e1b0f704af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ede310a2af4120" /><Relationship Type="http://schemas.openxmlformats.org/officeDocument/2006/relationships/notesSlide" Target="/ppt/notesSlides/notesSlide1.xml" Id="R42a955c9979e442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f44e9323e24598" /><Relationship Type="http://schemas.openxmlformats.org/officeDocument/2006/relationships/notesSlide" Target="/ppt/notesSlides/notesSlide2.xml" Id="Rb79f4226feff45e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3c053d2ff64fc9" /><Relationship Type="http://schemas.openxmlformats.org/officeDocument/2006/relationships/notesSlide" Target="/ppt/notesSlides/notesSlide3.xml" Id="R1bf672b9f8bd442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2bbfc1131b4b87" /><Relationship Type="http://schemas.openxmlformats.org/officeDocument/2006/relationships/notesSlide" Target="/ppt/notesSlides/notesSlide4.xml" Id="R551fdb03d7cb45d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21c9af809448e5" /><Relationship Type="http://schemas.openxmlformats.org/officeDocument/2006/relationships/notesSlide" Target="/ppt/notesSlides/notesSlide5.xml" Id="Rc94ae70f77494dd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e788f6035b4aba" /><Relationship Type="http://schemas.openxmlformats.org/officeDocument/2006/relationships/notesSlide" Target="/ppt/notesSlides/notesSlide6.xml" Id="R3006bf4e253a463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6AF589-1586-48E5-983F-C0440E60A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667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理想状态与未来状态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4EC88B-1EB2-486E-B0AD-DFE77310C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理想状态帮助打开思路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D0A0B3-8D5B-48C9-BE11-ABF30122F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未来状态考虑近期可以实施的改变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0A5AE2-BD70-4BFB-B201-50C6D959F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原书提出6—18个月的计划视野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327A32-3958-46A2-96EA-8DF393230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流程与改善 · L12    1/6    原书第四章</a:t>
            </a:r>
          </a:p>
        </p:txBody>
      </p:sp>
    </p:spTree>
    <p:extLst>
      <p:ext uri="{BB962C8B-B14F-4D97-AF65-F5344CB8AC3E}">
        <p14:creationId xmlns:p14="http://schemas.microsoft.com/office/powerpoint/2010/main" val="18585059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6BB91A-060B-4471-9AB2-C8FA3FF3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667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未来状态需要对应的目标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3A66CA-AFC8-46EE-8ECC-3EC9EB524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每个真北指标都要考虑未来目标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00F734-EE5A-416A-9D5C-A7790094F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目标与具体行动相联系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D81B53-8566-4C61-8F16-F98FE8CF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改善幅度须结合实际情况判断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9F8E78-F6AD-4729-AA01-AAA7B0A7D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流程与改善 · L12    2/6    原书第四章</a:t>
            </a:r>
          </a:p>
        </p:txBody>
      </p:sp>
    </p:spTree>
    <p:extLst>
      <p:ext uri="{BB962C8B-B14F-4D97-AF65-F5344CB8AC3E}">
        <p14:creationId xmlns:p14="http://schemas.microsoft.com/office/powerpoint/2010/main" val="20181184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31FE7B-4588-4231-832A-02A26C9DC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667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计划中的三类工作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21B3A8-534E-484C-AFDF-38ECC464D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可以直接完成的小改进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E96D7D-CC46-4707-A928-BA799A3FD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需要协调推进的项目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8EEAB9-34B2-4BD4-A966-72BC2BF50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集中开展的改善活动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8BFFE9-9853-4882-A528-5DAFE6E1C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流程与改善 · L12    3/6    原书第四章</a:t>
            </a:r>
          </a:p>
        </p:txBody>
      </p:sp>
    </p:spTree>
    <p:extLst>
      <p:ext uri="{BB962C8B-B14F-4D97-AF65-F5344CB8AC3E}">
        <p14:creationId xmlns:p14="http://schemas.microsoft.com/office/powerpoint/2010/main" val="10640364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785E22-9C96-47B1-A166-DBBDDB2F3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667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原书案例：ThedaCare重新设计工作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EEFBF3-3893-4DDD-9906-8A8CEC8F8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反复回看已有价值流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0A934F-C21F-4F51-A33B-023BCD4CE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医生、药师与护士共同参与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D9EB5C-EE09-43E3-B026-6202A580E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工作安排与空间布局一起调整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F2CCE5-D663-419D-BC46-FF3CC18DC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流程与改善 · L12    4/6    原书第四章</a:t>
            </a:r>
          </a:p>
        </p:txBody>
      </p:sp>
    </p:spTree>
    <p:extLst>
      <p:ext uri="{BB962C8B-B14F-4D97-AF65-F5344CB8AC3E}">
        <p14:creationId xmlns:p14="http://schemas.microsoft.com/office/powerpoint/2010/main" val="7640319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BFFA5F-6DDA-4998-AE6E-1BDCBBB34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667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工作练习：一项未来状态方案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A5FA0A-09B9-4EFC-AAAE-5C3D1C1C1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针对一处现状问题提出改变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FB851E-F42F-4FE9-8D28-BBF600B03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选择推进方式，明确负责人和日期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420F14-462B-4AF1-AA88-3FB964C3B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写清目标与需要验证的条件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47A555-F338-4E76-AB18-EC292E399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流程与改善 · L12    5/6    原书第四章</a:t>
            </a:r>
          </a:p>
        </p:txBody>
      </p:sp>
    </p:spTree>
    <p:extLst>
      <p:ext uri="{BB962C8B-B14F-4D97-AF65-F5344CB8AC3E}">
        <p14:creationId xmlns:p14="http://schemas.microsoft.com/office/powerpoint/2010/main" val="2921502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4CF96A-C3DD-4376-B5F2-1DBBCF5A6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667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小结：图要转化为行动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479B19-0A8D-4A62-98F7-BAA70A778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要点：区分两种状态、明确目标、安排任务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690A05-A74F-4B26-B4D4-A4290C407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自测：画好未来状态为何还不算完成？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90B3D9-54BD-4BAA-B273-A3F23C65B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行动：与相关岗位讨论一项方案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B138BF-24A6-44FC-B57C-2788FAC74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流程与改善 · L12    6/6    原书第四章</a:t>
            </a:r>
          </a:p>
        </p:txBody>
      </p:sp>
    </p:spTree>
    <p:extLst>
      <p:ext uri="{BB962C8B-B14F-4D97-AF65-F5344CB8AC3E}">
        <p14:creationId xmlns:p14="http://schemas.microsoft.com/office/powerpoint/2010/main" val="10132188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2026-09-20T10:07:58.6440000Z</dcterms:created>
  <dcterms:modified xsi:type="dcterms:W3CDTF">2026-09-20T10:07:58.6440000Z</dcterms:modified>
</coreProperties>
</file>