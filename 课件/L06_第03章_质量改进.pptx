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1ed0b9be34ddc" /><Relationship Type="http://schemas.openxmlformats.org/officeDocument/2006/relationships/extended-properties" Target="/docProps/app.xml" Id="R6fcc70458f6648ee" /><Relationship Type="http://schemas.openxmlformats.org/officeDocument/2006/relationships/officeDocument" Target="/ppt/presentation.xml" Id="Rd1830536847648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5a13f17314a55"/>
  </p:sldMasterIdLst>
  <p:notesMasterIdLst>
    <p:notesMasterId xmlns:r="http://schemas.openxmlformats.org/officeDocument/2006/relationships" r:id="R1df1b09d8bb34105"/>
  </p:notesMasterIdLst>
  <p:sldIdLst>
    <p:sldId xmlns:r="http://schemas.openxmlformats.org/officeDocument/2006/relationships" id="256" r:id="Ra4489754c14a4714"/>
    <p:sldId xmlns:r="http://schemas.openxmlformats.org/officeDocument/2006/relationships" id="257" r:id="R08d8a86d867e485a"/>
    <p:sldId xmlns:r="http://schemas.openxmlformats.org/officeDocument/2006/relationships" id="258" r:id="Rd878b828d21e4c1e"/>
    <p:sldId xmlns:r="http://schemas.openxmlformats.org/officeDocument/2006/relationships" id="259" r:id="Rd410b8efe6214113"/>
    <p:sldId xmlns:r="http://schemas.openxmlformats.org/officeDocument/2006/relationships" id="260" r:id="R7ed3eac70f494df1"/>
    <p:sldId xmlns:r="http://schemas.openxmlformats.org/officeDocument/2006/relationships" id="261" r:id="Rd76b24fc51264d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6738b7ed4467a" /><Relationship Type="http://schemas.openxmlformats.org/officeDocument/2006/relationships/slideMaster" Target="/ppt/slideMasters/slideMaster1.xml" Id="Rc4f5a13f17314a55" /><Relationship Type="http://schemas.openxmlformats.org/officeDocument/2006/relationships/notesMaster" Target="/ppt/notesMasters/notesMaster1.xml" Id="R1df1b09d8bb34105" /><Relationship Type="http://schemas.openxmlformats.org/officeDocument/2006/relationships/presProps" Target="/ppt/presProps.xml" Id="Rb210540a18974355" /><Relationship Type="http://schemas.openxmlformats.org/officeDocument/2006/relationships/tableStyles" Target="/ppt/tableStyles.xml" Id="Re1ad1162f16d4c5a" /><Relationship Type="http://schemas.openxmlformats.org/officeDocument/2006/relationships/slide" Target="/ppt/slides/slide1.xml" Id="Ra4489754c14a4714" /><Relationship Type="http://schemas.openxmlformats.org/officeDocument/2006/relationships/slide" Target="/ppt/slides/slide2.xml" Id="R08d8a86d867e485a" /><Relationship Type="http://schemas.openxmlformats.org/officeDocument/2006/relationships/slide" Target="/ppt/slides/slide3.xml" Id="Rd878b828d21e4c1e" /><Relationship Type="http://schemas.openxmlformats.org/officeDocument/2006/relationships/slide" Target="/ppt/slides/slide4.xml" Id="Rd410b8efe6214113" /><Relationship Type="http://schemas.openxmlformats.org/officeDocument/2006/relationships/slide" Target="/ppt/slides/slide5.xml" Id="R7ed3eac70f494df1" /><Relationship Type="http://schemas.openxmlformats.org/officeDocument/2006/relationships/slide" Target="/ppt/slides/slide6.xml" Id="Rd76b24fc51264d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b1cd7cdc55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245e91b6d46f8" /><Relationship Type="http://schemas.openxmlformats.org/officeDocument/2006/relationships/notesMaster" Target="/ppt/notesMasters/notesMaster1.xml" Id="Rd9137c1ef62c45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cf177a7c94bb5" /><Relationship Type="http://schemas.openxmlformats.org/officeDocument/2006/relationships/notesMaster" Target="/ppt/notesMasters/notesMaster1.xml" Id="R379728dd641d42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4b852b66b74f75" /><Relationship Type="http://schemas.openxmlformats.org/officeDocument/2006/relationships/notesMaster" Target="/ppt/notesMasters/notesMaster1.xml" Id="Rb754082881b94c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b15eceb57a4204" /><Relationship Type="http://schemas.openxmlformats.org/officeDocument/2006/relationships/notesMaster" Target="/ppt/notesMasters/notesMaster1.xml" Id="R0127fb7cda1342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dc7a8c765d438b" /><Relationship Type="http://schemas.openxmlformats.org/officeDocument/2006/relationships/notesMaster" Target="/ppt/notesMasters/notesMaster1.xml" Id="Rbdd2ef87a84f47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ffa1209e6d4a01" /><Relationship Type="http://schemas.openxmlformats.org/officeDocument/2006/relationships/notesMaster" Target="/ppt/notesMasters/notesMaster1.xml" Id="R14d96af462324b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开场点明本讲承接“详述真北指标”过渡句，先讲质量。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证据：10_书籍/企业精益转型的领导之道/01_章节/CH03-S04 详述真北指标.md#^llet-ch03-s04-p001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点出“妈妈做的苹果派”比喻。</a:t>
            </a:r>
          </a:p>
          <a:p xmlns:a="http://schemas.openxmlformats.org/drawingml/2006/main">
            <a:r>
              <a:t>对应片段：01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证据：10_书籍/企业精益转型的领导之道/01_章节/CH03-S05 质量改进.md#^llet-ch03-s05-p001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读出“百分之二十七”“百分之二十”“百分之三十八”。强调这些是图中对应格值，显示关联而非保证回报。</a:t>
            </a:r>
          </a:p>
          <a:p xmlns:a="http://schemas.openxmlformats.org/drawingml/2006/main">
            <a:r>
              <a:t>对应片段：02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证据：10_书籍/企业精益转型的领导之道/01_章节/CH03-S05 质量改进.md#^llet-ch03-s05-p002</a:t>
            </a:r>
          </a:p>
          <a:p xmlns:a="http://schemas.openxmlformats.org/drawingml/2006/main">
            <a:r>
              <a:t>图表出处：10_书籍/企业精益转型的领导之道/03_图表/图3.6.md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读出“百分之九十”“百分之八十五”“百分之十五”。点出“金块”比喻；说明这条引用对应参考文献[2]，原书标注为来源不详（Source unknown）。</a:t>
            </a:r>
          </a:p>
          <a:p xmlns:a="http://schemas.openxmlformats.org/drawingml/2006/main">
            <a:r>
              <a:t>对应片段：03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证据：10_书籍/企业精益转型的领导之道/01_章节/CH03-S05 质量改进.md#^llet-ch03-s05-p003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读出“六分之一”。强调这些是原书引用和作者观点，非已验证普适规律；谈增长策略先考虑精益。</a:t>
            </a:r>
          </a:p>
          <a:p xmlns:a="http://schemas.openxmlformats.org/drawingml/2006/main">
            <a:r>
              <a:t>对应片段：04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证据：10_书籍/企业精益转型的领导之道/01_章节/CH03-S05 质量改进.md#^llet-ch03-s05-p004</a:t>
            </a:r>
          </a:p>
          <a:p xmlns:a="http://schemas.openxmlformats.org/drawingml/2006/main">
            <a:r>
              <a:t>证据：10_书籍/企业精益转型的领导之道/01_章节/CH03-S05 质量改进.md#^llet-ch03-s05-p005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说明这是整理者设计的练习，请学员填写；明确图3.6分档与样本限制，勿推测本企业落点。</a:t>
            </a:r>
          </a:p>
          <a:p xmlns:a="http://schemas.openxmlformats.org/drawingml/2006/main">
            <a:r>
              <a:t>对应片段：05</a:t>
            </a:r>
          </a:p>
          <a:p xmlns:a="http://schemas.openxmlformats.org/drawingml/2006/main">
            <a:r>
              <a:t>source_revision：LLET-TEXT-v04</a:t>
            </a:r>
          </a:p>
          <a:p xmlns:a="http://schemas.openxmlformats.org/drawingml/2006/main">
            <a:r>
              <a:t>证据：10_书籍/企业精益转型的领导之道/01_章节/CH03-S05 质量改进.md#^llet-ch03-s05-p002</a:t>
            </a:r>
          </a:p>
          <a:p xmlns:a="http://schemas.openxmlformats.org/drawingml/2006/main">
            <a:r>
              <a:t>图表出处：10_书籍/企业精益转型的领导之道/03_图表/图3.6.md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cf5f1e066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ba38416d54447c" /><Relationship Type="http://schemas.openxmlformats.org/officeDocument/2006/relationships/slideLayout" Target="/ppt/slideLayouts/slideLayout1.xml" Id="R47466057bc4846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466057bc4846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26577f5484a13" /><Relationship Type="http://schemas.openxmlformats.org/officeDocument/2006/relationships/notesSlide" Target="/ppt/notesSlides/notesSlide1.xml" Id="Rd5c57a7ff849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0708eb1914aed" /><Relationship Type="http://schemas.openxmlformats.org/officeDocument/2006/relationships/notesSlide" Target="/ppt/notesSlides/notesSlide2.xml" Id="Rc9482779ab2344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8ed5d4e924584" /><Relationship Type="http://schemas.openxmlformats.org/officeDocument/2006/relationships/image" Target="/ppt/media/image.png" Id="R33029d14872f4175" /><Relationship Type="http://schemas.openxmlformats.org/officeDocument/2006/relationships/notesSlide" Target="/ppt/notesSlides/notesSlide3.xml" Id="R681338457b2841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f4c5abf584377" /><Relationship Type="http://schemas.openxmlformats.org/officeDocument/2006/relationships/notesSlide" Target="/ppt/notesSlides/notesSlide4.xml" Id="Rfdfd0e6c111d4a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723534a5f45d3" /><Relationship Type="http://schemas.openxmlformats.org/officeDocument/2006/relationships/notesSlide" Target="/ppt/notesSlides/notesSlide5.xml" Id="R27e74e0eb58d46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872beee584dfe" /><Relationship Type="http://schemas.openxmlformats.org/officeDocument/2006/relationships/notesSlide" Target="/ppt/notesSlides/notesSlide6.xml" Id="Rbca0e243883941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008D2-B5F0-47ED-8C60-9FD33C6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5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质量改进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A927-E09A-4982-B544-C6BD5A96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210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《企业精益转型的领导之道》第3章学习讲解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FA11A-B289-44A0-9D80-7A3B9B20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575" b="1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本讲要点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3A5A6-7524-413A-A2CF-FEA0FF63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从“过渡”进入真北指标逐一详述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质量如何关联投资回报率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95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95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投诉的冰山效应与回头客价值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4ACAA-565E-4BF4-BA0A-5F41C260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4E8E7"/>
                </a:solidFill>
                <a:latin typeface="Heiti SC"/>
                <a:ea typeface="Heiti SC"/>
                <a:cs typeface="Heiti SC"/>
              </a:defRPr>
            </a:pPr>
            <a:r>
              <a:rPr sz="1350" b="0">
                <a:solidFill>
                  <a:srgbClr val="D4E8E7"/>
                </a:solidFill>
                <a:latin typeface="Heiti SC"/>
                <a:ea typeface="Heiti SC"/>
                <a:cs typeface="Heiti SC"/>
              </a:rPr>
              <a:t>LLET-CH03-S05-v01</a:t>
            </a:r>
          </a:p>
        </p:txBody>
      </p:sp>
    </p:spTree>
    <p:extLst>
      <p:ext uri="{BB962C8B-B14F-4D97-AF65-F5344CB8AC3E}">
        <p14:creationId xmlns:p14="http://schemas.microsoft.com/office/powerpoint/2010/main" val="1494133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B116A-4BA2-4634-A071-F80BBAB0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质量为什么被忽视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2F606-BC58-498A-A0E4-350F29B6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人人说质量好，但很少积极投入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高层更盯着利润表和资产负债表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本讲把质量与财务回报联系起来</a:t>
            </a:r>
          </a:p>
        </p:txBody>
      </p:sp>
    </p:spTree>
    <p:extLst>
      <p:ext uri="{BB962C8B-B14F-4D97-AF65-F5344CB8AC3E}">
        <p14:creationId xmlns:p14="http://schemas.microsoft.com/office/powerpoint/2010/main" val="871281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DD90E-8AC0-4F89-99C2-A31039A8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图3.6 投资回报率矩阵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181100"/>
          <a:ext xmlns:a="http://schemas.openxmlformats.org/drawingml/2006/main" cx="7048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52575"/>
                <a:gridCol w="1552575"/>
                <a:gridCol w="1562100"/>
              </a:tblGrid>
              <a:tr h="9048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相对质量 ＼ 市场占有率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25%～60%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006D77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劣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中间档</a:t>
                      </a:r>
                    </a:p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（33%～67%）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27%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13%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优</a:t>
                      </a:r>
                    </a:p>
                  </a:txBody>
                  <a:tcPr marL="91440" marR="91440" marT="45720" marB="45720">
                    <a:solidFill>
                      <a:srgbClr val="EAF1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38%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>
                          <a:solidFill>
                            <a:srgbClr val="173342"/>
                          </a:solidFill>
                          <a:latin typeface="Heiti SC"/>
                          <a:ea typeface="Heiti SC"/>
                          <a:cs typeface="Heiti SC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29d14872f4175"/>
          <a:stretch xmlns:a="http://schemas.openxmlformats.org/drawingml/2006/main"/>
        </p:blipFill>
        <p:spPr>
          <a:xfrm xmlns:a="http://schemas.openxmlformats.org/drawingml/2006/main">
            <a:off x="8077200" y="1725713"/>
            <a:ext cx="3505200" cy="205402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E68AA-0B65-47CF-9D81-EA37817C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350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9636C"/>
                </a:solidFill>
                <a:latin typeface="Heiti SC"/>
                <a:ea typeface="Heiti SC"/>
                <a:cs typeface="Heiti SC"/>
              </a:defRPr>
            </a:pPr>
            <a:r>
              <a:rPr sz="1425" b="0">
                <a:solidFill>
                  <a:srgbClr val="49636C"/>
                </a:solidFill>
                <a:latin typeface="Heiti SC"/>
                <a:ea typeface="Heiti SC"/>
                <a:cs typeface="Heiti SC"/>
              </a:rPr>
              <a:t>图3.6 原扫描（PDF第44页）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A8FE6-72D5-48DF-83B1-BA48B3CE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7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行＝相对质量（劣／中档／优），列＝市场占有率（高／25%~60%／低）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7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中档×高＝27%（不是21%）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172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172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低占有率＋高质量＝20%，高占有率＋高质量＝38%（图中格值，非保证）</a:t>
            </a:r>
          </a:p>
        </p:txBody>
      </p:sp>
    </p:spTree>
    <p:extLst>
      <p:ext uri="{BB962C8B-B14F-4D97-AF65-F5344CB8AC3E}">
        <p14:creationId xmlns:p14="http://schemas.microsoft.com/office/powerpoint/2010/main" val="592648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F16F2-E7E9-470A-BBA1-AE3CEE2E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投诉的冰山一角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C14C4-B689-46F1-9247-C2E0908B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90% 失望顾客默默离开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85% 向至少9人抱怨，15% 向至少20人抱怨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原书举例：一个投诉可能已存在10个质量问题、130个潜在客户被警告</a:t>
            </a:r>
          </a:p>
        </p:txBody>
      </p:sp>
    </p:spTree>
    <p:extLst>
      <p:ext uri="{BB962C8B-B14F-4D97-AF65-F5344CB8AC3E}">
        <p14:creationId xmlns:p14="http://schemas.microsoft.com/office/powerpoint/2010/main" val="1350424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5C7EF-E5DB-4F69-97FC-10B19CF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回头客成本只有六分之一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ED8C7-BD3A-4FED-9575-6CD3EAF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回头客成本＝新客户成本的 1/6（原书引用）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质量为成本最低的推广（作者观点）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持续质量改进＝增长策略</a:t>
            </a:r>
          </a:p>
        </p:txBody>
      </p:sp>
    </p:spTree>
    <p:extLst>
      <p:ext uri="{BB962C8B-B14F-4D97-AF65-F5344CB8AC3E}">
        <p14:creationId xmlns:p14="http://schemas.microsoft.com/office/powerpoint/2010/main" val="1214242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9FBA7-12F1-42D1-A8D0-3F868897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应用练习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F20EA-574F-4330-951C-688B69D7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列出三个质量指标及口径、数值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收集客户对质量的反馈</a:t>
            </a:r>
          </a:p>
          <a:p xmlns:a="http://schemas.openxmlformats.org/drawingml/2006/main">
            <a:pPr marL="279400" indent="-139700">
              <a:spcAft>
                <a:spcPts val="1200"/>
              </a:spcAft>
              <a:buChar char="•"/>
              <a:defRPr sz="2175">
                <a:solidFill>
                  <a:srgbClr val="173342"/>
                </a:solidFill>
                <a:latin typeface="Heiti SC"/>
                <a:ea typeface="Heiti SC"/>
                <a:cs typeface="Heiti SC"/>
              </a:defRPr>
            </a:pPr>
            <a:r>
              <a:rPr sz="2175">
                <a:solidFill>
                  <a:srgbClr val="173342"/>
                </a:solidFill>
                <a:latin typeface="Heiti SC"/>
                <a:ea typeface="Heiti SC"/>
                <a:cs typeface="Heiti SC"/>
              </a:rPr>
              <a:t>记录本企业证据，不套图预测ROI、不猜落点</a:t>
            </a:r>
          </a:p>
        </p:txBody>
      </p:sp>
    </p:spTree>
    <p:extLst>
      <p:ext uri="{BB962C8B-B14F-4D97-AF65-F5344CB8AC3E}">
        <p14:creationId xmlns:p14="http://schemas.microsoft.com/office/powerpoint/2010/main" val="1116714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2026-09-19T05:22:08.0390000Z</dcterms:created>
  <dcterms:modified xsi:type="dcterms:W3CDTF">2026-09-19T05:22:08.0390000Z</dcterms:modified>
</coreProperties>
</file>