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f9c0fe60cb4fce" /><Relationship Type="http://schemas.openxmlformats.org/officeDocument/2006/relationships/extended-properties" Target="/docProps/app.xml" Id="Rd6ddb39b95a84d5f" /><Relationship Type="http://schemas.openxmlformats.org/officeDocument/2006/relationships/officeDocument" Target="/ppt/presentation.xml" Id="R7385f0c10cbc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8aafba86e44ae"/>
  </p:sldMasterIdLst>
  <p:notesMasterIdLst>
    <p:notesMasterId xmlns:r="http://schemas.openxmlformats.org/officeDocument/2006/relationships" r:id="R5d9e74f45ef447b7"/>
  </p:notesMasterIdLst>
  <p:sldIdLst>
    <p:sldId xmlns:r="http://schemas.openxmlformats.org/officeDocument/2006/relationships" id="256" r:id="Rd8e82ae454c84328"/>
    <p:sldId xmlns:r="http://schemas.openxmlformats.org/officeDocument/2006/relationships" id="257" r:id="Rca07801dad734367"/>
    <p:sldId xmlns:r="http://schemas.openxmlformats.org/officeDocument/2006/relationships" id="258" r:id="R8a92b66afbc64e4d"/>
    <p:sldId xmlns:r="http://schemas.openxmlformats.org/officeDocument/2006/relationships" id="259" r:id="Ra588cd62e43a48a0"/>
    <p:sldId xmlns:r="http://schemas.openxmlformats.org/officeDocument/2006/relationships" id="260" r:id="Rd01e439997b14c45"/>
    <p:sldId xmlns:r="http://schemas.openxmlformats.org/officeDocument/2006/relationships" id="261" r:id="R7da817616fa74e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0439bfe0b4729" /><Relationship Type="http://schemas.openxmlformats.org/officeDocument/2006/relationships/slideMaster" Target="/ppt/slideMasters/slideMaster1.xml" Id="R5058aafba86e44ae" /><Relationship Type="http://schemas.openxmlformats.org/officeDocument/2006/relationships/notesMaster" Target="/ppt/notesMasters/notesMaster1.xml" Id="R5d9e74f45ef447b7" /><Relationship Type="http://schemas.openxmlformats.org/officeDocument/2006/relationships/presProps" Target="/ppt/presProps.xml" Id="R3e6736f9646b4bcb" /><Relationship Type="http://schemas.openxmlformats.org/officeDocument/2006/relationships/tableStyles" Target="/ppt/tableStyles.xml" Id="Rb5c51468bbf44d7a" /><Relationship Type="http://schemas.openxmlformats.org/officeDocument/2006/relationships/slide" Target="/ppt/slides/slide1.xml" Id="Rd8e82ae454c84328" /><Relationship Type="http://schemas.openxmlformats.org/officeDocument/2006/relationships/slide" Target="/ppt/slides/slide2.xml" Id="Rca07801dad734367" /><Relationship Type="http://schemas.openxmlformats.org/officeDocument/2006/relationships/slide" Target="/ppt/slides/slide3.xml" Id="R8a92b66afbc64e4d" /><Relationship Type="http://schemas.openxmlformats.org/officeDocument/2006/relationships/slide" Target="/ppt/slides/slide4.xml" Id="Ra588cd62e43a48a0" /><Relationship Type="http://schemas.openxmlformats.org/officeDocument/2006/relationships/slide" Target="/ppt/slides/slide5.xml" Id="Rd01e439997b14c45" /><Relationship Type="http://schemas.openxmlformats.org/officeDocument/2006/relationships/slide" Target="/ppt/slides/slide6.xml" Id="R7da817616fa74e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0931765ee2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5712b94124e3e" /><Relationship Type="http://schemas.openxmlformats.org/officeDocument/2006/relationships/notesMaster" Target="/ppt/notesMasters/notesMaster1.xml" Id="R4d54d5e96627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e8aaed5df045a8" /><Relationship Type="http://schemas.openxmlformats.org/officeDocument/2006/relationships/notesMaster" Target="/ppt/notesMasters/notesMaster1.xml" Id="R2aa2e2ed419b43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498338ddf46b2" /><Relationship Type="http://schemas.openxmlformats.org/officeDocument/2006/relationships/notesMaster" Target="/ppt/notesMasters/notesMaster1.xml" Id="R214a4d8fd9e943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127dd422e43aa" /><Relationship Type="http://schemas.openxmlformats.org/officeDocument/2006/relationships/notesMaster" Target="/ppt/notesMasters/notesMaster1.xml" Id="R90b025a145b24d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6171f6c2344ad" /><Relationship Type="http://schemas.openxmlformats.org/officeDocument/2006/relationships/notesMaster" Target="/ppt/notesMasters/notesMaster1.xml" Id="Rac51b70ffe7246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cbf9a7b3ee439e" /><Relationship Type="http://schemas.openxmlformats.org/officeDocument/2006/relationships/notesMaster" Target="/ppt/notesMasters/notesMaster1.xml" Id="R59bdfeefd036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开场点明人才培育是四个真北指标中“人”的一项。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证据：10_书籍/企业精益转型的领导之道/01_章节/CH03-S08 人才培育.md#^llet-ch03-s08-p001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强调人才培育是所有真北指标背后的支撑。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证据：10_书籍/企业精益转型的领导之道/01_章节/CH03-S08 人才培育.md#^llet-ch03-s08-p001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说明“自主研”是作者认为最有效、甚至唯一的办法；三件事是原书期望目标，非每次必有效。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证据：10_书籍/企业精益转型的领导之道/01_章节/CH03-S08 人才培育.md#^llet-ch03-s08-p003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读出“百分之九十五”。强调这是原书描述，不是你企业的测量结果；“讨论精益”与“亲眼看浪费”是两回事。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证据：10_书籍/企业精益转型的领导之道/01_章节/CH03-S08 人才培育.md#^llet-ch03-s08-p004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说明参与度是转型期人才发展的重要指标；参与次数与学习效果需区分，这是原书报告的经验。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证据：10_书籍/企业精益转型的领导之道/01_章节/CH03-S08 人才培育.md#^llet-ch03-s08-p005</a:t>
            </a:r>
          </a:p>
          <a:p xmlns:a="http://schemas.openxmlformats.org/drawingml/2006/main">
            <a:r>
              <a:t>证据：10_书籍/企业精益转型的领导之道/01_章节/CH03-S08 人才培育.md#^llet-ch03-s08-p006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说明这是整理者设计的练习，请学员填写，不预设答案。</a:t>
            </a:r>
          </a:p>
          <a:p xmlns:a="http://schemas.openxmlformats.org/drawingml/2006/main">
            <a:r>
              <a:t>对应片段：05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证据：10_书籍/企业精益转型的领导之道/01_章节/CH03-S08 人才培育.md#^llet-ch03-s08-p006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8439f1548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9d28e00d0403c" /><Relationship Type="http://schemas.openxmlformats.org/officeDocument/2006/relationships/slideLayout" Target="/ppt/slideLayouts/slideLayout1.xml" Id="Re18d16aee688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d16aee688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6c565a03d4d5f" /><Relationship Type="http://schemas.openxmlformats.org/officeDocument/2006/relationships/notesSlide" Target="/ppt/notesSlides/notesSlide1.xml" Id="R7fcf2e466a3b40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7d6c2ed104831" /><Relationship Type="http://schemas.openxmlformats.org/officeDocument/2006/relationships/notesSlide" Target="/ppt/notesSlides/notesSlide2.xml" Id="R13e48b1552fd41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80db028054e8b" /><Relationship Type="http://schemas.openxmlformats.org/officeDocument/2006/relationships/notesSlide" Target="/ppt/notesSlides/notesSlide3.xml" Id="R69ed4cb00a27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f7fdaeb444c8c" /><Relationship Type="http://schemas.openxmlformats.org/officeDocument/2006/relationships/notesSlide" Target="/ppt/notesSlides/notesSlide4.xml" Id="Rdd692c959b9545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fef0717df405f" /><Relationship Type="http://schemas.openxmlformats.org/officeDocument/2006/relationships/notesSlide" Target="/ppt/notesSlides/notesSlide5.xml" Id="Rf30c15273c0b4a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75be4ada4112" /><Relationship Type="http://schemas.openxmlformats.org/officeDocument/2006/relationships/notesSlide" Target="/ppt/notesSlides/notesSlide6.xml" Id="Rafafea1f803846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4FAFE-1ECB-44D6-A984-AB4626A4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人才培育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26B6D-3E30-46DC-887E-BE20990B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8FCD5-1CBC-4799-8260-AA93F7AA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A1363-27F9-4B56-AB95-B5096014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先造人后造物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“自主研”一周改善活动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参与度指标：广度与深度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2188C-E03B-44E7-ACE5-07D45CC9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LLET-CH03-S08-v01</a:t>
            </a:r>
          </a:p>
        </p:txBody>
      </p:sp>
    </p:spTree>
    <p:extLst>
      <p:ext uri="{BB962C8B-B14F-4D97-AF65-F5344CB8AC3E}">
        <p14:creationId xmlns:p14="http://schemas.microsoft.com/office/powerpoint/2010/main" val="894274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5F2A5-7A4A-45E2-8AB9-4704DCA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先造人后造物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EF1CC-1FE6-4660-97EF-2A56828A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硬性东西容易建立，软性东西难以培养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持续改善文化是重大工作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生产汽车之前先培养人</a:t>
            </a:r>
          </a:p>
        </p:txBody>
      </p:sp>
    </p:spTree>
    <p:extLst>
      <p:ext uri="{BB962C8B-B14F-4D97-AF65-F5344CB8AC3E}">
        <p14:creationId xmlns:p14="http://schemas.microsoft.com/office/powerpoint/2010/main" val="1859114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BBE25-BDD6-40AF-AC9F-FE98CD72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“自主研”一周改善活动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C9D69-277D-446A-8B5E-2C3D20D5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6~8 人全职团队，为期一周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集中改善价值流的一个基本部分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期望实现：财务业绩、学习机会、文化转变（原书期望，非每次必有效）</a:t>
            </a:r>
          </a:p>
        </p:txBody>
      </p:sp>
    </p:spTree>
    <p:extLst>
      <p:ext uri="{BB962C8B-B14F-4D97-AF65-F5344CB8AC3E}">
        <p14:creationId xmlns:p14="http://schemas.microsoft.com/office/powerpoint/2010/main" val="442880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35C27-9462-4A27-A41B-9DC69FB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领导亲眼看到浪费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F0E5E-C4F2-40B2-BA64-82A6C1E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深入过程，识别增值与非增值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原书描述 95% 操作由非增值（浪费）组成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亲身体验是领导推动改进的主要动力</a:t>
            </a:r>
          </a:p>
        </p:txBody>
      </p:sp>
    </p:spTree>
    <p:extLst>
      <p:ext uri="{BB962C8B-B14F-4D97-AF65-F5344CB8AC3E}">
        <p14:creationId xmlns:p14="http://schemas.microsoft.com/office/powerpoint/2010/main" val="578992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75367-D8A1-4AF4-9AEA-4B47875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丰田北美反省与参与指标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AD23E-8CA0-4384-937B-0799B798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丰田北美反省后重新聚焦“自主研”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广度：尽快让更多人参与两项活动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深度：参与超过100次（原书经验，不保证能力/认同）</a:t>
            </a:r>
          </a:p>
        </p:txBody>
      </p:sp>
    </p:spTree>
    <p:extLst>
      <p:ext uri="{BB962C8B-B14F-4D97-AF65-F5344CB8AC3E}">
        <p14:creationId xmlns:p14="http://schemas.microsoft.com/office/powerpoint/2010/main" val="1042978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99EFC-F370-4169-9749-DB5F3A9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C8ED1-2028-47B4-8882-BC6C743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过去一年多少人参与跨职能改善活动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谁已开始主动带领识别浪费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评估组织的参与广度与深度</a:t>
            </a:r>
          </a:p>
        </p:txBody>
      </p:sp>
    </p:spTree>
    <p:extLst>
      <p:ext uri="{BB962C8B-B14F-4D97-AF65-F5344CB8AC3E}">
        <p14:creationId xmlns:p14="http://schemas.microsoft.com/office/powerpoint/2010/main" val="1692568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2026-09-19T05:25:00.1700000Z</dcterms:created>
  <dcterms:modified xsi:type="dcterms:W3CDTF">2026-09-19T05:25:00.1700000Z</dcterms:modified>
</coreProperties>
</file>